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32"/>
  </p:notesMasterIdLst>
  <p:sldIdLst>
    <p:sldId id="2147374298" r:id="rId5"/>
    <p:sldId id="2147469480" r:id="rId6"/>
    <p:sldId id="2147472688" r:id="rId7"/>
    <p:sldId id="2147472657" r:id="rId8"/>
    <p:sldId id="2147472654" r:id="rId9"/>
    <p:sldId id="2147472662" r:id="rId10"/>
    <p:sldId id="2147472667" r:id="rId11"/>
    <p:sldId id="2147472668" r:id="rId12"/>
    <p:sldId id="2147472669" r:id="rId13"/>
    <p:sldId id="2147472670" r:id="rId14"/>
    <p:sldId id="2147472660" r:id="rId15"/>
    <p:sldId id="2147472671" r:id="rId16"/>
    <p:sldId id="2147472672" r:id="rId17"/>
    <p:sldId id="2147472673" r:id="rId18"/>
    <p:sldId id="2147472674" r:id="rId19"/>
    <p:sldId id="2147472675" r:id="rId20"/>
    <p:sldId id="2147472678" r:id="rId21"/>
    <p:sldId id="2147472677" r:id="rId22"/>
    <p:sldId id="2147472679" r:id="rId23"/>
    <p:sldId id="2147472687" r:id="rId24"/>
    <p:sldId id="2147472689" r:id="rId25"/>
    <p:sldId id="2147472681" r:id="rId26"/>
    <p:sldId id="2147472683" r:id="rId27"/>
    <p:sldId id="2147472682" r:id="rId28"/>
    <p:sldId id="2147472685" r:id="rId29"/>
    <p:sldId id="2147472686" r:id="rId30"/>
    <p:sldId id="2147472680"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5" d="100"/>
          <a:sy n="115" d="100"/>
        </p:scale>
        <p:origin x="70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theme" Target="theme/theme1.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8F07E87-7948-421D-AC6B-920420922C27}" type="datetimeFigureOut">
              <a:rPr lang="en-US" smtClean="0"/>
              <a:t>12/16/2025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0B9DEC4-3747-429D-AC0C-5AEF9692C4FE}" type="slidenum">
              <a:rPr lang="en-US" smtClean="0"/>
              <a:t>‹#›</a:t>
            </a:fld>
            <a:endParaRPr lang="en-US"/>
          </a:p>
        </p:txBody>
      </p:sp>
    </p:spTree>
    <p:extLst>
      <p:ext uri="{BB962C8B-B14F-4D97-AF65-F5344CB8AC3E}">
        <p14:creationId xmlns:p14="http://schemas.microsoft.com/office/powerpoint/2010/main" val="37356438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a:solidFill>
                  <a:schemeClr val="tx1"/>
                </a:solidFill>
                <a:effectLst/>
                <a:latin typeface="+mn-lt"/>
                <a:ea typeface="+mn-ea"/>
                <a:cs typeface="+mn-cs"/>
              </a:rPr>
              <a:t>I'm Ellis, a technology expert at CBRE and I’m here to share how our data and technology strategy and capabilities help clients realize maximum potential in their business.</a:t>
            </a:r>
          </a:p>
          <a:p>
            <a:endParaRPr lang="en-US"/>
          </a:p>
        </p:txBody>
      </p:sp>
      <p:sp>
        <p:nvSpPr>
          <p:cNvPr id="4" name="Slide Number Placeholder 3"/>
          <p:cNvSpPr>
            <a:spLocks noGrp="1"/>
          </p:cNvSpPr>
          <p:nvPr>
            <p:ph type="sldNum" sz="quarter" idx="5"/>
          </p:nvPr>
        </p:nvSpPr>
        <p:spPr/>
        <p:txBody>
          <a:bodyPr/>
          <a:lstStyle/>
          <a:p>
            <a:pPr marL="0" marR="0" lvl="0" indent="0" algn="r" defTabSz="914400" eaLnBrk="1" fontAlgn="auto" latinLnBrk="0" hangingPunct="1">
              <a:lnSpc>
                <a:spcPct val="100000"/>
              </a:lnSpc>
              <a:spcBef>
                <a:spcPts val="1200"/>
              </a:spcBef>
              <a:spcAft>
                <a:spcPts val="1200"/>
              </a:spcAft>
              <a:buClrTx/>
              <a:buSzTx/>
              <a:buFontTx/>
              <a:buNone/>
              <a:tabLst/>
              <a:defRPr/>
            </a:pPr>
            <a:fld id="{5A27CBEC-3BA9-408E-897B-DC62741FD035}" type="slidenum">
              <a:rPr kumimoji="0" lang="en-GB" sz="1200" b="0" i="0" u="none" strike="noStrike" kern="0" cap="none" spc="0" normalizeH="0" baseline="0" noProof="0" smtClean="0">
                <a:ln>
                  <a:noFill/>
                </a:ln>
                <a:solidFill>
                  <a:prstClr val="black"/>
                </a:solidFill>
                <a:effectLst/>
                <a:uLnTx/>
                <a:uFillTx/>
                <a:latin typeface="Calibre Light" panose="020B0303030202060203" pitchFamily="34" charset="0"/>
                <a:ea typeface="+mn-ea"/>
                <a:cs typeface="+mn-cs"/>
              </a:rPr>
              <a:pPr marL="0" marR="0" lvl="0" indent="0" algn="r" defTabSz="914400" eaLnBrk="1" fontAlgn="auto" latinLnBrk="0" hangingPunct="1">
                <a:lnSpc>
                  <a:spcPct val="100000"/>
                </a:lnSpc>
                <a:spcBef>
                  <a:spcPts val="1200"/>
                </a:spcBef>
                <a:spcAft>
                  <a:spcPts val="1200"/>
                </a:spcAft>
                <a:buClrTx/>
                <a:buSzTx/>
                <a:buFontTx/>
                <a:buNone/>
                <a:tabLst/>
                <a:defRPr/>
              </a:pPr>
              <a:t>1</a:t>
            </a:fld>
            <a:endParaRPr kumimoji="0" lang="en-GB" sz="1200" b="0" i="0" u="none" strike="noStrike" kern="0" cap="none" spc="0" normalizeH="0" baseline="0" noProof="0">
              <a:ln>
                <a:noFill/>
              </a:ln>
              <a:solidFill>
                <a:prstClr val="black"/>
              </a:solidFill>
              <a:effectLst/>
              <a:uLnTx/>
              <a:uFillTx/>
              <a:latin typeface="Calibre Light" panose="020B0303030202060203" pitchFamily="34" charset="0"/>
              <a:ea typeface="+mn-ea"/>
              <a:cs typeface="+mn-cs"/>
            </a:endParaRPr>
          </a:p>
        </p:txBody>
      </p:sp>
    </p:spTree>
    <p:extLst>
      <p:ext uri="{BB962C8B-B14F-4D97-AF65-F5344CB8AC3E}">
        <p14:creationId xmlns:p14="http://schemas.microsoft.com/office/powerpoint/2010/main" val="2954714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DFECE3-ABB9-F6D8-5162-B0005F41EF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6E51F2-5220-93D6-E4E5-6E1472CC68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FA47399-351E-2832-044A-7C13DACF783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a:solidFill>
                  <a:schemeClr val="tx1"/>
                </a:solidFill>
                <a:effectLst/>
                <a:latin typeface="+mn-lt"/>
                <a:ea typeface="+mn-ea"/>
                <a:cs typeface="+mn-cs"/>
              </a:rPr>
              <a:t>I'm Ellis, a technology expert at CBRE and I’m here to share how our data and technology strategy and capabilities help clients realize maximum potential in their business.</a:t>
            </a:r>
          </a:p>
          <a:p>
            <a:endParaRPr lang="en-US"/>
          </a:p>
        </p:txBody>
      </p:sp>
      <p:sp>
        <p:nvSpPr>
          <p:cNvPr id="4" name="Slide Number Placeholder 3">
            <a:extLst>
              <a:ext uri="{FF2B5EF4-FFF2-40B4-BE49-F238E27FC236}">
                <a16:creationId xmlns:a16="http://schemas.microsoft.com/office/drawing/2014/main" id="{C846343B-37B5-9BE2-B6CA-0A7A301D9C2A}"/>
              </a:ext>
            </a:extLst>
          </p:cNvPr>
          <p:cNvSpPr>
            <a:spLocks noGrp="1"/>
          </p:cNvSpPr>
          <p:nvPr>
            <p:ph type="sldNum" sz="quarter" idx="5"/>
          </p:nvPr>
        </p:nvSpPr>
        <p:spPr/>
        <p:txBody>
          <a:bodyPr/>
          <a:lstStyle/>
          <a:p>
            <a:pPr marL="0" marR="0" lvl="0" indent="0" algn="r" defTabSz="914400" eaLnBrk="1" fontAlgn="auto" latinLnBrk="0" hangingPunct="1">
              <a:lnSpc>
                <a:spcPct val="100000"/>
              </a:lnSpc>
              <a:spcBef>
                <a:spcPts val="1200"/>
              </a:spcBef>
              <a:spcAft>
                <a:spcPts val="1200"/>
              </a:spcAft>
              <a:buClrTx/>
              <a:buSzTx/>
              <a:buFontTx/>
              <a:buNone/>
              <a:tabLst/>
              <a:defRPr/>
            </a:pPr>
            <a:fld id="{5A27CBEC-3BA9-408E-897B-DC62741FD035}" type="slidenum">
              <a:rPr kumimoji="0" lang="en-GB" sz="1200" b="0" i="0" u="none" strike="noStrike" kern="0" cap="none" spc="0" normalizeH="0" baseline="0" noProof="0" smtClean="0">
                <a:ln>
                  <a:noFill/>
                </a:ln>
                <a:solidFill>
                  <a:prstClr val="black"/>
                </a:solidFill>
                <a:effectLst/>
                <a:uLnTx/>
                <a:uFillTx/>
                <a:latin typeface="Calibre Light" panose="020B0303030202060203" pitchFamily="34" charset="0"/>
                <a:ea typeface="+mn-ea"/>
                <a:cs typeface="+mn-cs"/>
              </a:rPr>
              <a:pPr marL="0" marR="0" lvl="0" indent="0" algn="r" defTabSz="914400" eaLnBrk="1" fontAlgn="auto" latinLnBrk="0" hangingPunct="1">
                <a:lnSpc>
                  <a:spcPct val="100000"/>
                </a:lnSpc>
                <a:spcBef>
                  <a:spcPts val="1200"/>
                </a:spcBef>
                <a:spcAft>
                  <a:spcPts val="1200"/>
                </a:spcAft>
                <a:buClrTx/>
                <a:buSzTx/>
                <a:buFontTx/>
                <a:buNone/>
                <a:tabLst/>
                <a:defRPr/>
              </a:pPr>
              <a:t>2</a:t>
            </a:fld>
            <a:endParaRPr kumimoji="0" lang="en-GB" sz="1200" b="0" i="0" u="none" strike="noStrike" kern="0" cap="none" spc="0" normalizeH="0" baseline="0" noProof="0">
              <a:ln>
                <a:noFill/>
              </a:ln>
              <a:solidFill>
                <a:prstClr val="black"/>
              </a:solidFill>
              <a:effectLst/>
              <a:uLnTx/>
              <a:uFillTx/>
              <a:latin typeface="Calibre Light" panose="020B0303030202060203" pitchFamily="34" charset="0"/>
              <a:ea typeface="+mn-ea"/>
              <a:cs typeface="+mn-cs"/>
            </a:endParaRPr>
          </a:p>
        </p:txBody>
      </p:sp>
    </p:spTree>
    <p:extLst>
      <p:ext uri="{BB962C8B-B14F-4D97-AF65-F5344CB8AC3E}">
        <p14:creationId xmlns:p14="http://schemas.microsoft.com/office/powerpoint/2010/main" val="21828776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C58338-E30F-E198-9247-3D29F68CC1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C25D5B-E05C-E601-2CA0-9DB6481F5A9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10F4662-A937-49B2-C01B-59D4D8B9839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a:solidFill>
                  <a:schemeClr val="tx1"/>
                </a:solidFill>
                <a:effectLst/>
                <a:latin typeface="+mn-lt"/>
                <a:ea typeface="+mn-ea"/>
                <a:cs typeface="+mn-cs"/>
              </a:rPr>
              <a:t>I'm Ellis, a technology expert at CBRE and I’m here to share how our data and technology strategy and capabilities help clients realize maximum potential in their business.</a:t>
            </a:r>
          </a:p>
          <a:p>
            <a:endParaRPr lang="en-US"/>
          </a:p>
        </p:txBody>
      </p:sp>
      <p:sp>
        <p:nvSpPr>
          <p:cNvPr id="4" name="Slide Number Placeholder 3">
            <a:extLst>
              <a:ext uri="{FF2B5EF4-FFF2-40B4-BE49-F238E27FC236}">
                <a16:creationId xmlns:a16="http://schemas.microsoft.com/office/drawing/2014/main" id="{712DE27F-E7A5-3E0A-6BF9-91645A367AB3}"/>
              </a:ext>
            </a:extLst>
          </p:cNvPr>
          <p:cNvSpPr>
            <a:spLocks noGrp="1"/>
          </p:cNvSpPr>
          <p:nvPr>
            <p:ph type="sldNum" sz="quarter" idx="5"/>
          </p:nvPr>
        </p:nvSpPr>
        <p:spPr/>
        <p:txBody>
          <a:bodyPr/>
          <a:lstStyle/>
          <a:p>
            <a:pPr marL="0" marR="0" lvl="0" indent="0" algn="r" defTabSz="914400" eaLnBrk="1" fontAlgn="auto" latinLnBrk="0" hangingPunct="1">
              <a:lnSpc>
                <a:spcPct val="100000"/>
              </a:lnSpc>
              <a:spcBef>
                <a:spcPts val="1200"/>
              </a:spcBef>
              <a:spcAft>
                <a:spcPts val="1200"/>
              </a:spcAft>
              <a:buClrTx/>
              <a:buSzTx/>
              <a:buFontTx/>
              <a:buNone/>
              <a:tabLst/>
              <a:defRPr/>
            </a:pPr>
            <a:fld id="{5A27CBEC-3BA9-408E-897B-DC62741FD035}" type="slidenum">
              <a:rPr kumimoji="0" lang="en-GB" sz="1200" b="0" i="0" u="none" strike="noStrike" kern="0" cap="none" spc="0" normalizeH="0" baseline="0" noProof="0" smtClean="0">
                <a:ln>
                  <a:noFill/>
                </a:ln>
                <a:solidFill>
                  <a:prstClr val="black"/>
                </a:solidFill>
                <a:effectLst/>
                <a:uLnTx/>
                <a:uFillTx/>
                <a:latin typeface="Calibre Light" panose="020B0303030202060203" pitchFamily="34" charset="0"/>
                <a:ea typeface="+mn-ea"/>
                <a:cs typeface="+mn-cs"/>
              </a:rPr>
              <a:pPr marL="0" marR="0" lvl="0" indent="0" algn="r" defTabSz="914400" eaLnBrk="1" fontAlgn="auto" latinLnBrk="0" hangingPunct="1">
                <a:lnSpc>
                  <a:spcPct val="100000"/>
                </a:lnSpc>
                <a:spcBef>
                  <a:spcPts val="1200"/>
                </a:spcBef>
                <a:spcAft>
                  <a:spcPts val="1200"/>
                </a:spcAft>
                <a:buClrTx/>
                <a:buSzTx/>
                <a:buFontTx/>
                <a:buNone/>
                <a:tabLst/>
                <a:defRPr/>
              </a:pPr>
              <a:t>3</a:t>
            </a:fld>
            <a:endParaRPr kumimoji="0" lang="en-GB" sz="1200" b="0" i="0" u="none" strike="noStrike" kern="0" cap="none" spc="0" normalizeH="0" baseline="0" noProof="0">
              <a:ln>
                <a:noFill/>
              </a:ln>
              <a:solidFill>
                <a:prstClr val="black"/>
              </a:solidFill>
              <a:effectLst/>
              <a:uLnTx/>
              <a:uFillTx/>
              <a:latin typeface="Calibre Light" panose="020B0303030202060203" pitchFamily="34" charset="0"/>
              <a:ea typeface="+mn-ea"/>
              <a:cs typeface="+mn-cs"/>
            </a:endParaRPr>
          </a:p>
        </p:txBody>
      </p:sp>
    </p:spTree>
    <p:extLst>
      <p:ext uri="{BB962C8B-B14F-4D97-AF65-F5344CB8AC3E}">
        <p14:creationId xmlns:p14="http://schemas.microsoft.com/office/powerpoint/2010/main" val="28664374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5330A2-DFF9-D3F3-2150-A2B3F5F01B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5A6D9C-179C-C8B0-1C57-2C346806829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9E022F-D522-6F2D-0BE9-F5DE7CBDDCF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412B1C7-0B3E-712B-54BB-A46556E89191}"/>
              </a:ext>
            </a:extLst>
          </p:cNvPr>
          <p:cNvSpPr>
            <a:spLocks noGrp="1"/>
          </p:cNvSpPr>
          <p:nvPr>
            <p:ph type="sldNum" sz="quarter" idx="5"/>
          </p:nvPr>
        </p:nvSpPr>
        <p:spPr/>
        <p:txBody>
          <a:bodyPr/>
          <a:lstStyle/>
          <a:p>
            <a:fld id="{5A27CBEC-3BA9-408E-897B-DC62741FD035}" type="slidenum">
              <a:rPr lang="en-GB" smtClean="0"/>
              <a:t>4</a:t>
            </a:fld>
            <a:endParaRPr lang="en-GB"/>
          </a:p>
        </p:txBody>
      </p:sp>
    </p:spTree>
    <p:extLst>
      <p:ext uri="{BB962C8B-B14F-4D97-AF65-F5344CB8AC3E}">
        <p14:creationId xmlns:p14="http://schemas.microsoft.com/office/powerpoint/2010/main" val="27568602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2B4EE1-C979-B4E1-F28B-114818D7A6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05377C-BB64-81E2-962B-227191B3231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9F6F4F-385E-E4AC-87B3-DBD757CAA4C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7BC1B31-A5BC-60C6-A0CF-B14D22805797}"/>
              </a:ext>
            </a:extLst>
          </p:cNvPr>
          <p:cNvSpPr>
            <a:spLocks noGrp="1"/>
          </p:cNvSpPr>
          <p:nvPr>
            <p:ph type="sldNum" sz="quarter" idx="5"/>
          </p:nvPr>
        </p:nvSpPr>
        <p:spPr/>
        <p:txBody>
          <a:bodyPr/>
          <a:lstStyle/>
          <a:p>
            <a:fld id="{5A27CBEC-3BA9-408E-897B-DC62741FD035}" type="slidenum">
              <a:rPr lang="en-GB" smtClean="0"/>
              <a:t>5</a:t>
            </a:fld>
            <a:endParaRPr lang="en-GB"/>
          </a:p>
        </p:txBody>
      </p:sp>
    </p:spTree>
    <p:extLst>
      <p:ext uri="{BB962C8B-B14F-4D97-AF65-F5344CB8AC3E}">
        <p14:creationId xmlns:p14="http://schemas.microsoft.com/office/powerpoint/2010/main" val="193986747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F09CF2-958F-E93D-C60B-109F62179FC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53EF4C-B7D0-8805-E826-93DDAB8CAF1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D4FE9C4-5EFF-BFA3-C08D-BF79B3D6282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1B3C825-D0BC-B8E6-13C4-759199A28134}"/>
              </a:ext>
            </a:extLst>
          </p:cNvPr>
          <p:cNvSpPr>
            <a:spLocks noGrp="1"/>
          </p:cNvSpPr>
          <p:nvPr>
            <p:ph type="sldNum" sz="quarter" idx="5"/>
          </p:nvPr>
        </p:nvSpPr>
        <p:spPr/>
        <p:txBody>
          <a:bodyPr/>
          <a:lstStyle/>
          <a:p>
            <a:fld id="{5A27CBEC-3BA9-408E-897B-DC62741FD035}" type="slidenum">
              <a:rPr lang="en-GB" smtClean="0"/>
              <a:t>6</a:t>
            </a:fld>
            <a:endParaRPr lang="en-GB"/>
          </a:p>
        </p:txBody>
      </p:sp>
    </p:spTree>
    <p:extLst>
      <p:ext uri="{BB962C8B-B14F-4D97-AF65-F5344CB8AC3E}">
        <p14:creationId xmlns:p14="http://schemas.microsoft.com/office/powerpoint/2010/main" val="252193008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CD8F52-0C13-C218-5B1A-29A4948482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596001B-46C6-62F3-C072-4324DC6F1FF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349FE7C-01BC-B337-1D6D-6A2D5D963F3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C4DE1F6-46C1-FAFD-89A7-F2BC638C1B9E}"/>
              </a:ext>
            </a:extLst>
          </p:cNvPr>
          <p:cNvSpPr>
            <a:spLocks noGrp="1"/>
          </p:cNvSpPr>
          <p:nvPr>
            <p:ph type="sldNum" sz="quarter" idx="5"/>
          </p:nvPr>
        </p:nvSpPr>
        <p:spPr/>
        <p:txBody>
          <a:bodyPr/>
          <a:lstStyle/>
          <a:p>
            <a:fld id="{5A27CBEC-3BA9-408E-897B-DC62741FD035}" type="slidenum">
              <a:rPr lang="en-GB" smtClean="0"/>
              <a:t>7</a:t>
            </a:fld>
            <a:endParaRPr lang="en-GB"/>
          </a:p>
        </p:txBody>
      </p:sp>
    </p:spTree>
    <p:extLst>
      <p:ext uri="{BB962C8B-B14F-4D97-AF65-F5344CB8AC3E}">
        <p14:creationId xmlns:p14="http://schemas.microsoft.com/office/powerpoint/2010/main" val="194532122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A4A36D-0BC8-8504-FC1A-B709D6EBF9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A5BF5D5-729C-7D73-4391-21C2D64062E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3FFA45-9C4E-226D-37EA-8EF9EF3E6A9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E09E219-1F40-14F7-06EC-36F12C3B8DCF}"/>
              </a:ext>
            </a:extLst>
          </p:cNvPr>
          <p:cNvSpPr>
            <a:spLocks noGrp="1"/>
          </p:cNvSpPr>
          <p:nvPr>
            <p:ph type="sldNum" sz="quarter" idx="5"/>
          </p:nvPr>
        </p:nvSpPr>
        <p:spPr/>
        <p:txBody>
          <a:bodyPr/>
          <a:lstStyle/>
          <a:p>
            <a:fld id="{5A27CBEC-3BA9-408E-897B-DC62741FD035}" type="slidenum">
              <a:rPr lang="en-GB" smtClean="0"/>
              <a:t>8</a:t>
            </a:fld>
            <a:endParaRPr lang="en-GB"/>
          </a:p>
        </p:txBody>
      </p:sp>
    </p:spTree>
    <p:extLst>
      <p:ext uri="{BB962C8B-B14F-4D97-AF65-F5344CB8AC3E}">
        <p14:creationId xmlns:p14="http://schemas.microsoft.com/office/powerpoint/2010/main" val="30792177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C5B58C-4C47-66D9-5C3E-538B4670B9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C9E7F6-15FE-D8AF-1D98-224AADBF4BC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01616D-69D9-17E5-9293-E41D7489CAD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BBD1A4B-3809-39DC-862D-7A09D1D042E2}"/>
              </a:ext>
            </a:extLst>
          </p:cNvPr>
          <p:cNvSpPr>
            <a:spLocks noGrp="1"/>
          </p:cNvSpPr>
          <p:nvPr>
            <p:ph type="sldNum" sz="quarter" idx="5"/>
          </p:nvPr>
        </p:nvSpPr>
        <p:spPr/>
        <p:txBody>
          <a:bodyPr/>
          <a:lstStyle/>
          <a:p>
            <a:fld id="{5A27CBEC-3BA9-408E-897B-DC62741FD035}" type="slidenum">
              <a:rPr lang="en-GB" smtClean="0"/>
              <a:t>9</a:t>
            </a:fld>
            <a:endParaRPr lang="en-GB"/>
          </a:p>
        </p:txBody>
      </p:sp>
    </p:spTree>
    <p:extLst>
      <p:ext uri="{BB962C8B-B14F-4D97-AF65-F5344CB8AC3E}">
        <p14:creationId xmlns:p14="http://schemas.microsoft.com/office/powerpoint/2010/main" val="40508700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8473C5-BC14-C9AD-15C7-943A52768D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AF0349-4A06-9112-F177-1ED8A681C7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6A6A0C-6E7A-4492-B5C9-E4044F4A289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B82146B-1AD3-F793-9ABD-12B7D8EC4D4B}"/>
              </a:ext>
            </a:extLst>
          </p:cNvPr>
          <p:cNvSpPr>
            <a:spLocks noGrp="1"/>
          </p:cNvSpPr>
          <p:nvPr>
            <p:ph type="sldNum" sz="quarter" idx="5"/>
          </p:nvPr>
        </p:nvSpPr>
        <p:spPr/>
        <p:txBody>
          <a:bodyPr/>
          <a:lstStyle/>
          <a:p>
            <a:fld id="{5A27CBEC-3BA9-408E-897B-DC62741FD035}" type="slidenum">
              <a:rPr lang="en-GB" smtClean="0"/>
              <a:t>10</a:t>
            </a:fld>
            <a:endParaRPr lang="en-GB"/>
          </a:p>
        </p:txBody>
      </p:sp>
    </p:spTree>
    <p:extLst>
      <p:ext uri="{BB962C8B-B14F-4D97-AF65-F5344CB8AC3E}">
        <p14:creationId xmlns:p14="http://schemas.microsoft.com/office/powerpoint/2010/main" val="135391055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4A1338-36C3-82D1-2F14-522120099A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E7A86B-FCD6-D343-A651-47DFDBC15A8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FBC4AF2-8EA7-F33B-D4D8-21C91FC4587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AA81D6D-8C6C-D2AC-5B07-A43A7A86DC61}"/>
              </a:ext>
            </a:extLst>
          </p:cNvPr>
          <p:cNvSpPr>
            <a:spLocks noGrp="1"/>
          </p:cNvSpPr>
          <p:nvPr>
            <p:ph type="sldNum" sz="quarter" idx="5"/>
          </p:nvPr>
        </p:nvSpPr>
        <p:spPr/>
        <p:txBody>
          <a:bodyPr/>
          <a:lstStyle/>
          <a:p>
            <a:fld id="{5A27CBEC-3BA9-408E-897B-DC62741FD035}" type="slidenum">
              <a:rPr lang="en-GB" smtClean="0"/>
              <a:t>11</a:t>
            </a:fld>
            <a:endParaRPr lang="en-GB"/>
          </a:p>
        </p:txBody>
      </p:sp>
    </p:spTree>
    <p:extLst>
      <p:ext uri="{BB962C8B-B14F-4D97-AF65-F5344CB8AC3E}">
        <p14:creationId xmlns:p14="http://schemas.microsoft.com/office/powerpoint/2010/main" val="94175470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52286C-1627-099F-4A74-1BE6ACDDB3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E2AFCF-774A-39ED-05E1-E8C39C52EF7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848600-DDF9-3777-E439-5EF8CD86DCF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B2C54A0-97BD-43DF-DF64-18CA557DC6A8}"/>
              </a:ext>
            </a:extLst>
          </p:cNvPr>
          <p:cNvSpPr>
            <a:spLocks noGrp="1"/>
          </p:cNvSpPr>
          <p:nvPr>
            <p:ph type="sldNum" sz="quarter" idx="5"/>
          </p:nvPr>
        </p:nvSpPr>
        <p:spPr/>
        <p:txBody>
          <a:bodyPr/>
          <a:lstStyle/>
          <a:p>
            <a:fld id="{5A27CBEC-3BA9-408E-897B-DC62741FD035}" type="slidenum">
              <a:rPr lang="en-GB" smtClean="0"/>
              <a:t>12</a:t>
            </a:fld>
            <a:endParaRPr lang="en-GB"/>
          </a:p>
        </p:txBody>
      </p:sp>
    </p:spTree>
    <p:extLst>
      <p:ext uri="{BB962C8B-B14F-4D97-AF65-F5344CB8AC3E}">
        <p14:creationId xmlns:p14="http://schemas.microsoft.com/office/powerpoint/2010/main" val="227441843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A71017-5CA0-5FE8-3B4B-721DE04854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B11A93-D1B1-2B5D-C82F-4517E2AE5F7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FA09E3E-4A0A-02E0-4AC9-7867C57AA8A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C7AACAC-D942-8654-C4EA-993B79B1DCE8}"/>
              </a:ext>
            </a:extLst>
          </p:cNvPr>
          <p:cNvSpPr>
            <a:spLocks noGrp="1"/>
          </p:cNvSpPr>
          <p:nvPr>
            <p:ph type="sldNum" sz="quarter" idx="5"/>
          </p:nvPr>
        </p:nvSpPr>
        <p:spPr/>
        <p:txBody>
          <a:bodyPr/>
          <a:lstStyle/>
          <a:p>
            <a:fld id="{5A27CBEC-3BA9-408E-897B-DC62741FD035}" type="slidenum">
              <a:rPr lang="en-GB" smtClean="0"/>
              <a:t>13</a:t>
            </a:fld>
            <a:endParaRPr lang="en-GB"/>
          </a:p>
        </p:txBody>
      </p:sp>
    </p:spTree>
    <p:extLst>
      <p:ext uri="{BB962C8B-B14F-4D97-AF65-F5344CB8AC3E}">
        <p14:creationId xmlns:p14="http://schemas.microsoft.com/office/powerpoint/2010/main" val="185711692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E069A9-B081-2F8B-C61A-E3437C245C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0AAC0EA-4741-5A1B-4257-D3DB8BF12E8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FEA1F9-B61A-26CC-CFDC-EAE9EE73D02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5456EC1-4197-DEC7-F931-9F2CE2EEBCFD}"/>
              </a:ext>
            </a:extLst>
          </p:cNvPr>
          <p:cNvSpPr>
            <a:spLocks noGrp="1"/>
          </p:cNvSpPr>
          <p:nvPr>
            <p:ph type="sldNum" sz="quarter" idx="5"/>
          </p:nvPr>
        </p:nvSpPr>
        <p:spPr/>
        <p:txBody>
          <a:bodyPr/>
          <a:lstStyle/>
          <a:p>
            <a:fld id="{5A27CBEC-3BA9-408E-897B-DC62741FD035}" type="slidenum">
              <a:rPr lang="en-GB" smtClean="0"/>
              <a:t>14</a:t>
            </a:fld>
            <a:endParaRPr lang="en-GB"/>
          </a:p>
        </p:txBody>
      </p:sp>
    </p:spTree>
    <p:extLst>
      <p:ext uri="{BB962C8B-B14F-4D97-AF65-F5344CB8AC3E}">
        <p14:creationId xmlns:p14="http://schemas.microsoft.com/office/powerpoint/2010/main" val="218743554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BD2C5F-62BC-4FC3-1934-250D166D8AD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9D2E6F-ACAD-6655-3A6F-0F13EE741D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118A5B6-EC26-6CA3-FE26-00A9AD8BCB4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AE09B3B-D488-F11A-EE67-622688E09F5C}"/>
              </a:ext>
            </a:extLst>
          </p:cNvPr>
          <p:cNvSpPr>
            <a:spLocks noGrp="1"/>
          </p:cNvSpPr>
          <p:nvPr>
            <p:ph type="sldNum" sz="quarter" idx="5"/>
          </p:nvPr>
        </p:nvSpPr>
        <p:spPr/>
        <p:txBody>
          <a:bodyPr/>
          <a:lstStyle/>
          <a:p>
            <a:fld id="{5A27CBEC-3BA9-408E-897B-DC62741FD035}" type="slidenum">
              <a:rPr lang="en-GB" smtClean="0"/>
              <a:t>15</a:t>
            </a:fld>
            <a:endParaRPr lang="en-GB"/>
          </a:p>
        </p:txBody>
      </p:sp>
    </p:spTree>
    <p:extLst>
      <p:ext uri="{BB962C8B-B14F-4D97-AF65-F5344CB8AC3E}">
        <p14:creationId xmlns:p14="http://schemas.microsoft.com/office/powerpoint/2010/main" val="50859847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354ECB-5D96-8B28-6949-C6F5894E2D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EF556E-6665-EE74-5E4E-D226AE10D1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D5FEB7F-1612-0437-192B-D46F2435DA8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7E05B2C-53EF-7998-269C-22645F419900}"/>
              </a:ext>
            </a:extLst>
          </p:cNvPr>
          <p:cNvSpPr>
            <a:spLocks noGrp="1"/>
          </p:cNvSpPr>
          <p:nvPr>
            <p:ph type="sldNum" sz="quarter" idx="5"/>
          </p:nvPr>
        </p:nvSpPr>
        <p:spPr/>
        <p:txBody>
          <a:bodyPr/>
          <a:lstStyle/>
          <a:p>
            <a:fld id="{5A27CBEC-3BA9-408E-897B-DC62741FD035}" type="slidenum">
              <a:rPr lang="en-GB" smtClean="0"/>
              <a:t>16</a:t>
            </a:fld>
            <a:endParaRPr lang="en-GB"/>
          </a:p>
        </p:txBody>
      </p:sp>
    </p:spTree>
    <p:extLst>
      <p:ext uri="{BB962C8B-B14F-4D97-AF65-F5344CB8AC3E}">
        <p14:creationId xmlns:p14="http://schemas.microsoft.com/office/powerpoint/2010/main" val="378082350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193149-7C4C-83DC-06B2-42E79BA390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B2B1A2-1408-33CB-F3DA-E6F0EFABD0F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A09828A-F217-DC55-8B82-5A679336FEA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8A7B652-0021-D1E7-9847-A5FF6AE0040B}"/>
              </a:ext>
            </a:extLst>
          </p:cNvPr>
          <p:cNvSpPr>
            <a:spLocks noGrp="1"/>
          </p:cNvSpPr>
          <p:nvPr>
            <p:ph type="sldNum" sz="quarter" idx="5"/>
          </p:nvPr>
        </p:nvSpPr>
        <p:spPr/>
        <p:txBody>
          <a:bodyPr/>
          <a:lstStyle/>
          <a:p>
            <a:fld id="{5A27CBEC-3BA9-408E-897B-DC62741FD035}" type="slidenum">
              <a:rPr lang="en-GB" smtClean="0"/>
              <a:t>17</a:t>
            </a:fld>
            <a:endParaRPr lang="en-GB"/>
          </a:p>
        </p:txBody>
      </p:sp>
    </p:spTree>
    <p:extLst>
      <p:ext uri="{BB962C8B-B14F-4D97-AF65-F5344CB8AC3E}">
        <p14:creationId xmlns:p14="http://schemas.microsoft.com/office/powerpoint/2010/main" val="132256155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3CAA61-2C1C-5E3E-6063-84F2C20664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1E65BB-E3C6-25DE-74FB-E7EBE886CA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EBE41AB-5DAB-B8CE-DBEB-D9802B97235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88120D9-CC5F-529C-F6D6-6D443258B5D3}"/>
              </a:ext>
            </a:extLst>
          </p:cNvPr>
          <p:cNvSpPr>
            <a:spLocks noGrp="1"/>
          </p:cNvSpPr>
          <p:nvPr>
            <p:ph type="sldNum" sz="quarter" idx="5"/>
          </p:nvPr>
        </p:nvSpPr>
        <p:spPr/>
        <p:txBody>
          <a:bodyPr/>
          <a:lstStyle/>
          <a:p>
            <a:fld id="{5A27CBEC-3BA9-408E-897B-DC62741FD035}" type="slidenum">
              <a:rPr lang="en-GB" smtClean="0"/>
              <a:t>18</a:t>
            </a:fld>
            <a:endParaRPr lang="en-GB"/>
          </a:p>
        </p:txBody>
      </p:sp>
    </p:spTree>
    <p:extLst>
      <p:ext uri="{BB962C8B-B14F-4D97-AF65-F5344CB8AC3E}">
        <p14:creationId xmlns:p14="http://schemas.microsoft.com/office/powerpoint/2010/main" val="44645354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09F206-B468-C044-9B61-9ADC67A81E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39CDA2-74B3-D077-F787-86102061ED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9F0AB91-64DD-ED01-C523-928063BB657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40527E0-C898-CAFC-7FF2-621408D47BBB}"/>
              </a:ext>
            </a:extLst>
          </p:cNvPr>
          <p:cNvSpPr>
            <a:spLocks noGrp="1"/>
          </p:cNvSpPr>
          <p:nvPr>
            <p:ph type="sldNum" sz="quarter" idx="5"/>
          </p:nvPr>
        </p:nvSpPr>
        <p:spPr/>
        <p:txBody>
          <a:bodyPr/>
          <a:lstStyle/>
          <a:p>
            <a:fld id="{5A27CBEC-3BA9-408E-897B-DC62741FD035}" type="slidenum">
              <a:rPr lang="en-GB" smtClean="0"/>
              <a:t>19</a:t>
            </a:fld>
            <a:endParaRPr lang="en-GB"/>
          </a:p>
        </p:txBody>
      </p:sp>
    </p:spTree>
    <p:extLst>
      <p:ext uri="{BB962C8B-B14F-4D97-AF65-F5344CB8AC3E}">
        <p14:creationId xmlns:p14="http://schemas.microsoft.com/office/powerpoint/2010/main" val="112971374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25D7BE-036D-6741-DC2A-60109CD32F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A15E9A-9E80-ADFD-805E-CAFB8A9C8E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6FE1AC8-7661-C0E4-7213-6ECF941ADA1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AFAE4E3-3625-0556-4D0D-21ACD8013810}"/>
              </a:ext>
            </a:extLst>
          </p:cNvPr>
          <p:cNvSpPr>
            <a:spLocks noGrp="1"/>
          </p:cNvSpPr>
          <p:nvPr>
            <p:ph type="sldNum" sz="quarter" idx="5"/>
          </p:nvPr>
        </p:nvSpPr>
        <p:spPr/>
        <p:txBody>
          <a:bodyPr/>
          <a:lstStyle/>
          <a:p>
            <a:fld id="{5A27CBEC-3BA9-408E-897B-DC62741FD035}" type="slidenum">
              <a:rPr lang="en-GB" smtClean="0"/>
              <a:t>20</a:t>
            </a:fld>
            <a:endParaRPr lang="en-GB"/>
          </a:p>
        </p:txBody>
      </p:sp>
    </p:spTree>
    <p:extLst>
      <p:ext uri="{BB962C8B-B14F-4D97-AF65-F5344CB8AC3E}">
        <p14:creationId xmlns:p14="http://schemas.microsoft.com/office/powerpoint/2010/main" val="180877446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E228BC-2C5E-61DF-04F4-412781248D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F8E55B-B568-CAAB-19F6-FCDF486F31F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62E2C50-6CAA-5269-4A7A-F1A30DA4D101}"/>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a:solidFill>
                  <a:schemeClr val="tx1"/>
                </a:solidFill>
                <a:effectLst/>
                <a:latin typeface="+mn-lt"/>
                <a:ea typeface="+mn-ea"/>
                <a:cs typeface="+mn-cs"/>
              </a:rPr>
              <a:t>I'm Ellis, a technology expert at CBRE and I’m here to share how our data and technology strategy and capabilities help clients realize maximum potential in their business.</a:t>
            </a:r>
          </a:p>
          <a:p>
            <a:endParaRPr lang="en-US"/>
          </a:p>
        </p:txBody>
      </p:sp>
      <p:sp>
        <p:nvSpPr>
          <p:cNvPr id="4" name="Slide Number Placeholder 3">
            <a:extLst>
              <a:ext uri="{FF2B5EF4-FFF2-40B4-BE49-F238E27FC236}">
                <a16:creationId xmlns:a16="http://schemas.microsoft.com/office/drawing/2014/main" id="{2350B20E-63E3-D93B-9569-0C5875B894CC}"/>
              </a:ext>
            </a:extLst>
          </p:cNvPr>
          <p:cNvSpPr>
            <a:spLocks noGrp="1"/>
          </p:cNvSpPr>
          <p:nvPr>
            <p:ph type="sldNum" sz="quarter" idx="5"/>
          </p:nvPr>
        </p:nvSpPr>
        <p:spPr/>
        <p:txBody>
          <a:bodyPr/>
          <a:lstStyle/>
          <a:p>
            <a:pPr marL="0" marR="0" lvl="0" indent="0" algn="r" defTabSz="914400" eaLnBrk="1" fontAlgn="auto" latinLnBrk="0" hangingPunct="1">
              <a:lnSpc>
                <a:spcPct val="100000"/>
              </a:lnSpc>
              <a:spcBef>
                <a:spcPts val="1200"/>
              </a:spcBef>
              <a:spcAft>
                <a:spcPts val="1200"/>
              </a:spcAft>
              <a:buClrTx/>
              <a:buSzTx/>
              <a:buFontTx/>
              <a:buNone/>
              <a:tabLst/>
              <a:defRPr/>
            </a:pPr>
            <a:fld id="{5A27CBEC-3BA9-408E-897B-DC62741FD035}" type="slidenum">
              <a:rPr kumimoji="0" lang="en-GB" sz="1200" b="0" i="0" u="none" strike="noStrike" kern="0" cap="none" spc="0" normalizeH="0" baseline="0" noProof="0" smtClean="0">
                <a:ln>
                  <a:noFill/>
                </a:ln>
                <a:solidFill>
                  <a:prstClr val="black"/>
                </a:solidFill>
                <a:effectLst/>
                <a:uLnTx/>
                <a:uFillTx/>
                <a:latin typeface="Calibre Light" panose="020B0303030202060203" pitchFamily="34" charset="0"/>
                <a:ea typeface="+mn-ea"/>
                <a:cs typeface="+mn-cs"/>
              </a:rPr>
              <a:pPr marL="0" marR="0" lvl="0" indent="0" algn="r" defTabSz="914400" eaLnBrk="1" fontAlgn="auto" latinLnBrk="0" hangingPunct="1">
                <a:lnSpc>
                  <a:spcPct val="100000"/>
                </a:lnSpc>
                <a:spcBef>
                  <a:spcPts val="1200"/>
                </a:spcBef>
                <a:spcAft>
                  <a:spcPts val="1200"/>
                </a:spcAft>
                <a:buClrTx/>
                <a:buSzTx/>
                <a:buFontTx/>
                <a:buNone/>
                <a:tabLst/>
                <a:defRPr/>
              </a:pPr>
              <a:t>21</a:t>
            </a:fld>
            <a:endParaRPr kumimoji="0" lang="en-GB" sz="1200" b="0" i="0" u="none" strike="noStrike" kern="0" cap="none" spc="0" normalizeH="0" baseline="0" noProof="0">
              <a:ln>
                <a:noFill/>
              </a:ln>
              <a:solidFill>
                <a:prstClr val="black"/>
              </a:solidFill>
              <a:effectLst/>
              <a:uLnTx/>
              <a:uFillTx/>
              <a:latin typeface="Calibre Light" panose="020B0303030202060203" pitchFamily="34" charset="0"/>
              <a:ea typeface="+mn-ea"/>
              <a:cs typeface="+mn-cs"/>
            </a:endParaRPr>
          </a:p>
        </p:txBody>
      </p:sp>
    </p:spTree>
    <p:extLst>
      <p:ext uri="{BB962C8B-B14F-4D97-AF65-F5344CB8AC3E}">
        <p14:creationId xmlns:p14="http://schemas.microsoft.com/office/powerpoint/2010/main" val="379400218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27CC86-F68B-9D25-81EA-13CFFD2376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B1DE1A-CA8C-7BBD-049D-1F188FFC0F1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6D1EA53-082B-7D33-5646-F2DAF797AFE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E5BA424-AC8F-07F9-BDD9-141082B47A7C}"/>
              </a:ext>
            </a:extLst>
          </p:cNvPr>
          <p:cNvSpPr>
            <a:spLocks noGrp="1"/>
          </p:cNvSpPr>
          <p:nvPr>
            <p:ph type="sldNum" sz="quarter" idx="5"/>
          </p:nvPr>
        </p:nvSpPr>
        <p:spPr/>
        <p:txBody>
          <a:bodyPr/>
          <a:lstStyle/>
          <a:p>
            <a:fld id="{5A27CBEC-3BA9-408E-897B-DC62741FD035}" type="slidenum">
              <a:rPr lang="en-GB" smtClean="0"/>
              <a:t>22</a:t>
            </a:fld>
            <a:endParaRPr lang="en-GB"/>
          </a:p>
        </p:txBody>
      </p:sp>
    </p:spTree>
    <p:extLst>
      <p:ext uri="{BB962C8B-B14F-4D97-AF65-F5344CB8AC3E}">
        <p14:creationId xmlns:p14="http://schemas.microsoft.com/office/powerpoint/2010/main" val="286040231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9B8C55-7B89-B7E2-42B4-5DBD48A38C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395AF4-20BF-642F-5A48-593AB41BC09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EADDE14-C6B2-0165-C762-D3F21B42972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E3D0270-E084-2F91-0332-DA3545BCC1B2}"/>
              </a:ext>
            </a:extLst>
          </p:cNvPr>
          <p:cNvSpPr>
            <a:spLocks noGrp="1"/>
          </p:cNvSpPr>
          <p:nvPr>
            <p:ph type="sldNum" sz="quarter" idx="5"/>
          </p:nvPr>
        </p:nvSpPr>
        <p:spPr/>
        <p:txBody>
          <a:bodyPr/>
          <a:lstStyle/>
          <a:p>
            <a:fld id="{5A27CBEC-3BA9-408E-897B-DC62741FD035}" type="slidenum">
              <a:rPr lang="en-GB" smtClean="0"/>
              <a:t>23</a:t>
            </a:fld>
            <a:endParaRPr lang="en-GB"/>
          </a:p>
        </p:txBody>
      </p:sp>
    </p:spTree>
    <p:extLst>
      <p:ext uri="{BB962C8B-B14F-4D97-AF65-F5344CB8AC3E}">
        <p14:creationId xmlns:p14="http://schemas.microsoft.com/office/powerpoint/2010/main" val="33368057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0BE733-21A2-E04A-45FF-58C3A040A24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DC506D-9E29-C111-B1FC-0F20EF3A192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10BF48E-E879-EC0A-339E-3FB28F21589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B4923E2-3249-CCBB-D7B7-53C880118D03}"/>
              </a:ext>
            </a:extLst>
          </p:cNvPr>
          <p:cNvSpPr>
            <a:spLocks noGrp="1"/>
          </p:cNvSpPr>
          <p:nvPr>
            <p:ph type="sldNum" sz="quarter" idx="5"/>
          </p:nvPr>
        </p:nvSpPr>
        <p:spPr/>
        <p:txBody>
          <a:bodyPr/>
          <a:lstStyle/>
          <a:p>
            <a:fld id="{5A27CBEC-3BA9-408E-897B-DC62741FD035}" type="slidenum">
              <a:rPr lang="en-GB" smtClean="0"/>
              <a:t>24</a:t>
            </a:fld>
            <a:endParaRPr lang="en-GB"/>
          </a:p>
        </p:txBody>
      </p:sp>
    </p:spTree>
    <p:extLst>
      <p:ext uri="{BB962C8B-B14F-4D97-AF65-F5344CB8AC3E}">
        <p14:creationId xmlns:p14="http://schemas.microsoft.com/office/powerpoint/2010/main" val="156936126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E19E5B-DF77-56DB-DF65-89D32311B5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9EB36C-D03B-F755-72B2-C4A3FEFF9B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77969A9-12FD-D69C-6694-88C29A156C4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8C41554-E9B3-1C5F-EB19-B52AA60634A0}"/>
              </a:ext>
            </a:extLst>
          </p:cNvPr>
          <p:cNvSpPr>
            <a:spLocks noGrp="1"/>
          </p:cNvSpPr>
          <p:nvPr>
            <p:ph type="sldNum" sz="quarter" idx="5"/>
          </p:nvPr>
        </p:nvSpPr>
        <p:spPr/>
        <p:txBody>
          <a:bodyPr/>
          <a:lstStyle/>
          <a:p>
            <a:fld id="{5A27CBEC-3BA9-408E-897B-DC62741FD035}" type="slidenum">
              <a:rPr lang="en-GB" smtClean="0"/>
              <a:t>25</a:t>
            </a:fld>
            <a:endParaRPr lang="en-GB"/>
          </a:p>
        </p:txBody>
      </p:sp>
    </p:spTree>
    <p:extLst>
      <p:ext uri="{BB962C8B-B14F-4D97-AF65-F5344CB8AC3E}">
        <p14:creationId xmlns:p14="http://schemas.microsoft.com/office/powerpoint/2010/main" val="192574699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89F8E1-9E71-6760-82DD-99AEB4898A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2D66CC-FC04-50D2-7EFC-3FE84DE7061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C79FF0-32C0-BF09-C758-93EEB94E6E4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B582493-56C5-DE30-83DF-A94C88C4746B}"/>
              </a:ext>
            </a:extLst>
          </p:cNvPr>
          <p:cNvSpPr>
            <a:spLocks noGrp="1"/>
          </p:cNvSpPr>
          <p:nvPr>
            <p:ph type="sldNum" sz="quarter" idx="5"/>
          </p:nvPr>
        </p:nvSpPr>
        <p:spPr/>
        <p:txBody>
          <a:bodyPr/>
          <a:lstStyle/>
          <a:p>
            <a:fld id="{5A27CBEC-3BA9-408E-897B-DC62741FD035}" type="slidenum">
              <a:rPr lang="en-GB" smtClean="0"/>
              <a:t>26</a:t>
            </a:fld>
            <a:endParaRPr lang="en-GB"/>
          </a:p>
        </p:txBody>
      </p:sp>
    </p:spTree>
    <p:extLst>
      <p:ext uri="{BB962C8B-B14F-4D97-AF65-F5344CB8AC3E}">
        <p14:creationId xmlns:p14="http://schemas.microsoft.com/office/powerpoint/2010/main" val="426024282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7F608A-AA66-5CE4-3198-1865631114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70927B-E892-DB39-6298-48E975A34D0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AC0B41-B628-C398-52EC-ADD824FB243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918D693-9E95-C863-61A4-91E40E703A35}"/>
              </a:ext>
            </a:extLst>
          </p:cNvPr>
          <p:cNvSpPr>
            <a:spLocks noGrp="1"/>
          </p:cNvSpPr>
          <p:nvPr>
            <p:ph type="sldNum" sz="quarter" idx="5"/>
          </p:nvPr>
        </p:nvSpPr>
        <p:spPr/>
        <p:txBody>
          <a:bodyPr/>
          <a:lstStyle/>
          <a:p>
            <a:fld id="{5A27CBEC-3BA9-408E-897B-DC62741FD035}" type="slidenum">
              <a:rPr lang="en-GB" smtClean="0"/>
              <a:t>27</a:t>
            </a:fld>
            <a:endParaRPr lang="en-GB"/>
          </a:p>
        </p:txBody>
      </p:sp>
    </p:spTree>
    <p:extLst>
      <p:ext uri="{BB962C8B-B14F-4D97-AF65-F5344CB8AC3E}">
        <p14:creationId xmlns:p14="http://schemas.microsoft.com/office/powerpoint/2010/main" val="24249421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F7AFF5-8B5E-DDF1-842F-5E6CD227903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BD1FA1E-3E9A-45EB-DB0B-54BC9B3E843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2172645-7852-43CC-00B3-7BD5953E476E}"/>
              </a:ext>
            </a:extLst>
          </p:cNvPr>
          <p:cNvSpPr>
            <a:spLocks noGrp="1"/>
          </p:cNvSpPr>
          <p:nvPr>
            <p:ph type="dt" sz="half" idx="10"/>
          </p:nvPr>
        </p:nvSpPr>
        <p:spPr/>
        <p:txBody>
          <a:bodyPr/>
          <a:lstStyle/>
          <a:p>
            <a:fld id="{EDA5D6FC-6C07-4CF8-9BA6-5BBF6E56C7A7}" type="datetimeFigureOut">
              <a:rPr lang="en-US" smtClean="0"/>
              <a:t>12/16/2025</a:t>
            </a:fld>
            <a:endParaRPr lang="en-US"/>
          </a:p>
        </p:txBody>
      </p:sp>
      <p:sp>
        <p:nvSpPr>
          <p:cNvPr id="5" name="Footer Placeholder 4">
            <a:extLst>
              <a:ext uri="{FF2B5EF4-FFF2-40B4-BE49-F238E27FC236}">
                <a16:creationId xmlns:a16="http://schemas.microsoft.com/office/drawing/2014/main" id="{DCBE19D2-C888-3684-ABF1-DBB63FC7E33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BEEC136-BBC2-EEEE-4146-7D2753C602B2}"/>
              </a:ext>
            </a:extLst>
          </p:cNvPr>
          <p:cNvSpPr>
            <a:spLocks noGrp="1"/>
          </p:cNvSpPr>
          <p:nvPr>
            <p:ph type="sldNum" sz="quarter" idx="12"/>
          </p:nvPr>
        </p:nvSpPr>
        <p:spPr/>
        <p:txBody>
          <a:bodyPr/>
          <a:lstStyle/>
          <a:p>
            <a:fld id="{F0B1D324-6016-4EDC-837E-78D1D74CEB03}" type="slidenum">
              <a:rPr lang="en-US" smtClean="0"/>
              <a:t>‹#›</a:t>
            </a:fld>
            <a:endParaRPr lang="en-US"/>
          </a:p>
        </p:txBody>
      </p:sp>
    </p:spTree>
    <p:extLst>
      <p:ext uri="{BB962C8B-B14F-4D97-AF65-F5344CB8AC3E}">
        <p14:creationId xmlns:p14="http://schemas.microsoft.com/office/powerpoint/2010/main" val="27275246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80E979-A1D2-6858-3FE2-CF4A1FA00A1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DD6B18E-FFAF-06C2-5ADC-0CF38903A31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1E15BD1-8FCC-F631-1FAC-CB5E9387CA57}"/>
              </a:ext>
            </a:extLst>
          </p:cNvPr>
          <p:cNvSpPr>
            <a:spLocks noGrp="1"/>
          </p:cNvSpPr>
          <p:nvPr>
            <p:ph type="dt" sz="half" idx="10"/>
          </p:nvPr>
        </p:nvSpPr>
        <p:spPr/>
        <p:txBody>
          <a:bodyPr/>
          <a:lstStyle/>
          <a:p>
            <a:fld id="{EDA5D6FC-6C07-4CF8-9BA6-5BBF6E56C7A7}" type="datetimeFigureOut">
              <a:rPr lang="en-US" smtClean="0"/>
              <a:t>12/16/2025</a:t>
            </a:fld>
            <a:endParaRPr lang="en-US"/>
          </a:p>
        </p:txBody>
      </p:sp>
      <p:sp>
        <p:nvSpPr>
          <p:cNvPr id="5" name="Footer Placeholder 4">
            <a:extLst>
              <a:ext uri="{FF2B5EF4-FFF2-40B4-BE49-F238E27FC236}">
                <a16:creationId xmlns:a16="http://schemas.microsoft.com/office/drawing/2014/main" id="{FDA3FCC1-C732-9048-D8DA-6C05AA8073D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891B207-3598-4E00-D12E-754D17BE658B}"/>
              </a:ext>
            </a:extLst>
          </p:cNvPr>
          <p:cNvSpPr>
            <a:spLocks noGrp="1"/>
          </p:cNvSpPr>
          <p:nvPr>
            <p:ph type="sldNum" sz="quarter" idx="12"/>
          </p:nvPr>
        </p:nvSpPr>
        <p:spPr/>
        <p:txBody>
          <a:bodyPr/>
          <a:lstStyle/>
          <a:p>
            <a:fld id="{F0B1D324-6016-4EDC-837E-78D1D74CEB03}" type="slidenum">
              <a:rPr lang="en-US" smtClean="0"/>
              <a:t>‹#›</a:t>
            </a:fld>
            <a:endParaRPr lang="en-US"/>
          </a:p>
        </p:txBody>
      </p:sp>
    </p:spTree>
    <p:extLst>
      <p:ext uri="{BB962C8B-B14F-4D97-AF65-F5344CB8AC3E}">
        <p14:creationId xmlns:p14="http://schemas.microsoft.com/office/powerpoint/2010/main" val="17828314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F560CB-97F9-32BA-438C-14AD1ECB7D5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4503FA6-D638-6E78-1F20-E903E24EF21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1141AEE-829D-F345-E96B-818CAE4CCC64}"/>
              </a:ext>
            </a:extLst>
          </p:cNvPr>
          <p:cNvSpPr>
            <a:spLocks noGrp="1"/>
          </p:cNvSpPr>
          <p:nvPr>
            <p:ph type="dt" sz="half" idx="10"/>
          </p:nvPr>
        </p:nvSpPr>
        <p:spPr/>
        <p:txBody>
          <a:bodyPr/>
          <a:lstStyle/>
          <a:p>
            <a:fld id="{EDA5D6FC-6C07-4CF8-9BA6-5BBF6E56C7A7}" type="datetimeFigureOut">
              <a:rPr lang="en-US" smtClean="0"/>
              <a:t>12/16/2025</a:t>
            </a:fld>
            <a:endParaRPr lang="en-US"/>
          </a:p>
        </p:txBody>
      </p:sp>
      <p:sp>
        <p:nvSpPr>
          <p:cNvPr id="5" name="Footer Placeholder 4">
            <a:extLst>
              <a:ext uri="{FF2B5EF4-FFF2-40B4-BE49-F238E27FC236}">
                <a16:creationId xmlns:a16="http://schemas.microsoft.com/office/drawing/2014/main" id="{53CC0F0D-C5AD-16A5-4FB3-8E75F68F6D6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415E12B-CD56-5A9B-92F7-33B9ADBDBB62}"/>
              </a:ext>
            </a:extLst>
          </p:cNvPr>
          <p:cNvSpPr>
            <a:spLocks noGrp="1"/>
          </p:cNvSpPr>
          <p:nvPr>
            <p:ph type="sldNum" sz="quarter" idx="12"/>
          </p:nvPr>
        </p:nvSpPr>
        <p:spPr/>
        <p:txBody>
          <a:bodyPr/>
          <a:lstStyle/>
          <a:p>
            <a:fld id="{F0B1D324-6016-4EDC-837E-78D1D74CEB03}" type="slidenum">
              <a:rPr lang="en-US" smtClean="0"/>
              <a:t>‹#›</a:t>
            </a:fld>
            <a:endParaRPr lang="en-US"/>
          </a:p>
        </p:txBody>
      </p:sp>
    </p:spTree>
    <p:extLst>
      <p:ext uri="{BB962C8B-B14F-4D97-AF65-F5344CB8AC3E}">
        <p14:creationId xmlns:p14="http://schemas.microsoft.com/office/powerpoint/2010/main" val="29325977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0566DD-1AB6-26E0-8FFC-4E67A72986A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7B58A55-A302-B3D5-7A65-B2A57D4013E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C46336D-31BA-A9EE-CE45-46B92F946AB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F404504-E25C-95FF-F446-6B099C849887}"/>
              </a:ext>
            </a:extLst>
          </p:cNvPr>
          <p:cNvSpPr>
            <a:spLocks noGrp="1"/>
          </p:cNvSpPr>
          <p:nvPr>
            <p:ph type="dt" sz="half" idx="10"/>
          </p:nvPr>
        </p:nvSpPr>
        <p:spPr/>
        <p:txBody>
          <a:bodyPr/>
          <a:lstStyle/>
          <a:p>
            <a:fld id="{EDA5D6FC-6C07-4CF8-9BA6-5BBF6E56C7A7}" type="datetimeFigureOut">
              <a:rPr lang="en-US" smtClean="0"/>
              <a:t>12/16/2025</a:t>
            </a:fld>
            <a:endParaRPr lang="en-US"/>
          </a:p>
        </p:txBody>
      </p:sp>
      <p:sp>
        <p:nvSpPr>
          <p:cNvPr id="6" name="Footer Placeholder 5">
            <a:extLst>
              <a:ext uri="{FF2B5EF4-FFF2-40B4-BE49-F238E27FC236}">
                <a16:creationId xmlns:a16="http://schemas.microsoft.com/office/drawing/2014/main" id="{BCBA3FEB-52BD-68BE-8612-CF4618A25C1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97BA767-8B32-134C-704F-28D2FB8A46EB}"/>
              </a:ext>
            </a:extLst>
          </p:cNvPr>
          <p:cNvSpPr>
            <a:spLocks noGrp="1"/>
          </p:cNvSpPr>
          <p:nvPr>
            <p:ph type="sldNum" sz="quarter" idx="12"/>
          </p:nvPr>
        </p:nvSpPr>
        <p:spPr/>
        <p:txBody>
          <a:bodyPr/>
          <a:lstStyle/>
          <a:p>
            <a:fld id="{F0B1D324-6016-4EDC-837E-78D1D74CEB03}" type="slidenum">
              <a:rPr lang="en-US" smtClean="0"/>
              <a:t>‹#›</a:t>
            </a:fld>
            <a:endParaRPr lang="en-US"/>
          </a:p>
        </p:txBody>
      </p:sp>
    </p:spTree>
    <p:extLst>
      <p:ext uri="{BB962C8B-B14F-4D97-AF65-F5344CB8AC3E}">
        <p14:creationId xmlns:p14="http://schemas.microsoft.com/office/powerpoint/2010/main" val="33603218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6FD1B6-51A9-F6EC-229F-501EC043C57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04A4755-09F9-2C87-7233-B69640AA58A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D10009E-6488-9378-3CAA-97FB15F4362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62E62C8-E8AB-4EAB-CBDE-3E3CA93EBD4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EA986C4-03D7-B48D-80D6-CE0CDC94583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E2DB9A9-FA25-4A6F-24C3-328DFD8C1595}"/>
              </a:ext>
            </a:extLst>
          </p:cNvPr>
          <p:cNvSpPr>
            <a:spLocks noGrp="1"/>
          </p:cNvSpPr>
          <p:nvPr>
            <p:ph type="dt" sz="half" idx="10"/>
          </p:nvPr>
        </p:nvSpPr>
        <p:spPr/>
        <p:txBody>
          <a:bodyPr/>
          <a:lstStyle/>
          <a:p>
            <a:fld id="{EDA5D6FC-6C07-4CF8-9BA6-5BBF6E56C7A7}" type="datetimeFigureOut">
              <a:rPr lang="en-US" smtClean="0"/>
              <a:t>12/16/2025</a:t>
            </a:fld>
            <a:endParaRPr lang="en-US"/>
          </a:p>
        </p:txBody>
      </p:sp>
      <p:sp>
        <p:nvSpPr>
          <p:cNvPr id="8" name="Footer Placeholder 7">
            <a:extLst>
              <a:ext uri="{FF2B5EF4-FFF2-40B4-BE49-F238E27FC236}">
                <a16:creationId xmlns:a16="http://schemas.microsoft.com/office/drawing/2014/main" id="{ABBC6F1D-8983-9856-1CE2-8438B413B4C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02CBC45-4EAF-7FDA-588F-7DE16D86B1C0}"/>
              </a:ext>
            </a:extLst>
          </p:cNvPr>
          <p:cNvSpPr>
            <a:spLocks noGrp="1"/>
          </p:cNvSpPr>
          <p:nvPr>
            <p:ph type="sldNum" sz="quarter" idx="12"/>
          </p:nvPr>
        </p:nvSpPr>
        <p:spPr/>
        <p:txBody>
          <a:bodyPr/>
          <a:lstStyle/>
          <a:p>
            <a:fld id="{F0B1D324-6016-4EDC-837E-78D1D74CEB03}" type="slidenum">
              <a:rPr lang="en-US" smtClean="0"/>
              <a:t>‹#›</a:t>
            </a:fld>
            <a:endParaRPr lang="en-US"/>
          </a:p>
        </p:txBody>
      </p:sp>
    </p:spTree>
    <p:extLst>
      <p:ext uri="{BB962C8B-B14F-4D97-AF65-F5344CB8AC3E}">
        <p14:creationId xmlns:p14="http://schemas.microsoft.com/office/powerpoint/2010/main" val="32072461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6FD463-A3C8-1776-BEAA-F00ED6CD566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7DB3D10-26B5-33D5-524F-15650F101C95}"/>
              </a:ext>
            </a:extLst>
          </p:cNvPr>
          <p:cNvSpPr>
            <a:spLocks noGrp="1"/>
          </p:cNvSpPr>
          <p:nvPr>
            <p:ph type="dt" sz="half" idx="10"/>
          </p:nvPr>
        </p:nvSpPr>
        <p:spPr/>
        <p:txBody>
          <a:bodyPr/>
          <a:lstStyle/>
          <a:p>
            <a:fld id="{EDA5D6FC-6C07-4CF8-9BA6-5BBF6E56C7A7}" type="datetimeFigureOut">
              <a:rPr lang="en-US" smtClean="0"/>
              <a:t>12/16/2025</a:t>
            </a:fld>
            <a:endParaRPr lang="en-US"/>
          </a:p>
        </p:txBody>
      </p:sp>
      <p:sp>
        <p:nvSpPr>
          <p:cNvPr id="4" name="Footer Placeholder 3">
            <a:extLst>
              <a:ext uri="{FF2B5EF4-FFF2-40B4-BE49-F238E27FC236}">
                <a16:creationId xmlns:a16="http://schemas.microsoft.com/office/drawing/2014/main" id="{9D692664-CD60-BB11-92D6-3A0EB1D871D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9D4DF67-E63D-04B5-86CF-05C42AC12AEE}"/>
              </a:ext>
            </a:extLst>
          </p:cNvPr>
          <p:cNvSpPr>
            <a:spLocks noGrp="1"/>
          </p:cNvSpPr>
          <p:nvPr>
            <p:ph type="sldNum" sz="quarter" idx="12"/>
          </p:nvPr>
        </p:nvSpPr>
        <p:spPr/>
        <p:txBody>
          <a:bodyPr/>
          <a:lstStyle/>
          <a:p>
            <a:fld id="{F0B1D324-6016-4EDC-837E-78D1D74CEB03}" type="slidenum">
              <a:rPr lang="en-US" smtClean="0"/>
              <a:t>‹#›</a:t>
            </a:fld>
            <a:endParaRPr lang="en-US"/>
          </a:p>
        </p:txBody>
      </p:sp>
    </p:spTree>
    <p:extLst>
      <p:ext uri="{BB962C8B-B14F-4D97-AF65-F5344CB8AC3E}">
        <p14:creationId xmlns:p14="http://schemas.microsoft.com/office/powerpoint/2010/main" val="13818349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37F9B86-E699-0F32-578B-32CE5066AC87}"/>
              </a:ext>
            </a:extLst>
          </p:cNvPr>
          <p:cNvSpPr>
            <a:spLocks noGrp="1"/>
          </p:cNvSpPr>
          <p:nvPr>
            <p:ph type="dt" sz="half" idx="10"/>
          </p:nvPr>
        </p:nvSpPr>
        <p:spPr/>
        <p:txBody>
          <a:bodyPr/>
          <a:lstStyle/>
          <a:p>
            <a:fld id="{EDA5D6FC-6C07-4CF8-9BA6-5BBF6E56C7A7}" type="datetimeFigureOut">
              <a:rPr lang="en-US" smtClean="0"/>
              <a:t>12/16/2025</a:t>
            </a:fld>
            <a:endParaRPr lang="en-US"/>
          </a:p>
        </p:txBody>
      </p:sp>
      <p:sp>
        <p:nvSpPr>
          <p:cNvPr id="3" name="Footer Placeholder 2">
            <a:extLst>
              <a:ext uri="{FF2B5EF4-FFF2-40B4-BE49-F238E27FC236}">
                <a16:creationId xmlns:a16="http://schemas.microsoft.com/office/drawing/2014/main" id="{7F588F6D-0870-0CD2-524C-A659D9BF9FE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8EC5965-0761-FE36-2926-68CFE948CC6D}"/>
              </a:ext>
            </a:extLst>
          </p:cNvPr>
          <p:cNvSpPr>
            <a:spLocks noGrp="1"/>
          </p:cNvSpPr>
          <p:nvPr>
            <p:ph type="sldNum" sz="quarter" idx="12"/>
          </p:nvPr>
        </p:nvSpPr>
        <p:spPr/>
        <p:txBody>
          <a:bodyPr/>
          <a:lstStyle/>
          <a:p>
            <a:fld id="{F0B1D324-6016-4EDC-837E-78D1D74CEB03}" type="slidenum">
              <a:rPr lang="en-US" smtClean="0"/>
              <a:t>‹#›</a:t>
            </a:fld>
            <a:endParaRPr lang="en-US"/>
          </a:p>
        </p:txBody>
      </p:sp>
    </p:spTree>
    <p:extLst>
      <p:ext uri="{BB962C8B-B14F-4D97-AF65-F5344CB8AC3E}">
        <p14:creationId xmlns:p14="http://schemas.microsoft.com/office/powerpoint/2010/main" val="25591603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7FCF16-6878-DD6C-6DA4-01E55AA2228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1E16971-7BEA-0316-4B4B-095D09772F3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EBB54F0-76F8-8DBF-32ED-645A3508B3A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D0FA9A9-0E1A-E034-5B4F-36C576539182}"/>
              </a:ext>
            </a:extLst>
          </p:cNvPr>
          <p:cNvSpPr>
            <a:spLocks noGrp="1"/>
          </p:cNvSpPr>
          <p:nvPr>
            <p:ph type="dt" sz="half" idx="10"/>
          </p:nvPr>
        </p:nvSpPr>
        <p:spPr/>
        <p:txBody>
          <a:bodyPr/>
          <a:lstStyle/>
          <a:p>
            <a:fld id="{EDA5D6FC-6C07-4CF8-9BA6-5BBF6E56C7A7}" type="datetimeFigureOut">
              <a:rPr lang="en-US" smtClean="0"/>
              <a:t>12/16/2025</a:t>
            </a:fld>
            <a:endParaRPr lang="en-US"/>
          </a:p>
        </p:txBody>
      </p:sp>
      <p:sp>
        <p:nvSpPr>
          <p:cNvPr id="6" name="Footer Placeholder 5">
            <a:extLst>
              <a:ext uri="{FF2B5EF4-FFF2-40B4-BE49-F238E27FC236}">
                <a16:creationId xmlns:a16="http://schemas.microsoft.com/office/drawing/2014/main" id="{053774BA-C28E-BEF1-0351-24FD0E921AE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551F7C5-811D-5FE3-9257-4F8F54638304}"/>
              </a:ext>
            </a:extLst>
          </p:cNvPr>
          <p:cNvSpPr>
            <a:spLocks noGrp="1"/>
          </p:cNvSpPr>
          <p:nvPr>
            <p:ph type="sldNum" sz="quarter" idx="12"/>
          </p:nvPr>
        </p:nvSpPr>
        <p:spPr/>
        <p:txBody>
          <a:bodyPr/>
          <a:lstStyle/>
          <a:p>
            <a:fld id="{F0B1D324-6016-4EDC-837E-78D1D74CEB03}" type="slidenum">
              <a:rPr lang="en-US" smtClean="0"/>
              <a:t>‹#›</a:t>
            </a:fld>
            <a:endParaRPr lang="en-US"/>
          </a:p>
        </p:txBody>
      </p:sp>
    </p:spTree>
    <p:extLst>
      <p:ext uri="{BB962C8B-B14F-4D97-AF65-F5344CB8AC3E}">
        <p14:creationId xmlns:p14="http://schemas.microsoft.com/office/powerpoint/2010/main" val="23645315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F43E77-E8F9-33E5-36D0-816BDB14808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E9F5121-DB72-7E73-20D1-8B482A58FD1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B92754E-A824-9BDA-2CFA-5CBEEE62AC8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5225B84-1B4A-50DB-D2EF-5244A23CC3FE}"/>
              </a:ext>
            </a:extLst>
          </p:cNvPr>
          <p:cNvSpPr>
            <a:spLocks noGrp="1"/>
          </p:cNvSpPr>
          <p:nvPr>
            <p:ph type="dt" sz="half" idx="10"/>
          </p:nvPr>
        </p:nvSpPr>
        <p:spPr/>
        <p:txBody>
          <a:bodyPr/>
          <a:lstStyle/>
          <a:p>
            <a:fld id="{EDA5D6FC-6C07-4CF8-9BA6-5BBF6E56C7A7}" type="datetimeFigureOut">
              <a:rPr lang="en-US" smtClean="0"/>
              <a:t>12/16/2025</a:t>
            </a:fld>
            <a:endParaRPr lang="en-US"/>
          </a:p>
        </p:txBody>
      </p:sp>
      <p:sp>
        <p:nvSpPr>
          <p:cNvPr id="6" name="Footer Placeholder 5">
            <a:extLst>
              <a:ext uri="{FF2B5EF4-FFF2-40B4-BE49-F238E27FC236}">
                <a16:creationId xmlns:a16="http://schemas.microsoft.com/office/drawing/2014/main" id="{E5B11054-97C0-0877-3FBA-EA1545B93E9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6220182-76B0-12CA-8ECD-7C72A81C061A}"/>
              </a:ext>
            </a:extLst>
          </p:cNvPr>
          <p:cNvSpPr>
            <a:spLocks noGrp="1"/>
          </p:cNvSpPr>
          <p:nvPr>
            <p:ph type="sldNum" sz="quarter" idx="12"/>
          </p:nvPr>
        </p:nvSpPr>
        <p:spPr/>
        <p:txBody>
          <a:bodyPr/>
          <a:lstStyle/>
          <a:p>
            <a:fld id="{F0B1D324-6016-4EDC-837E-78D1D74CEB03}" type="slidenum">
              <a:rPr lang="en-US" smtClean="0"/>
              <a:t>‹#›</a:t>
            </a:fld>
            <a:endParaRPr lang="en-US"/>
          </a:p>
        </p:txBody>
      </p:sp>
    </p:spTree>
    <p:extLst>
      <p:ext uri="{BB962C8B-B14F-4D97-AF65-F5344CB8AC3E}">
        <p14:creationId xmlns:p14="http://schemas.microsoft.com/office/powerpoint/2010/main" val="29854922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B95C5D-7DC4-6A77-F858-0F583BB4580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9AF87B4-61DC-5879-CF30-B90A2A1D641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FEB409C-8E65-8200-A12E-DD4497CCD942}"/>
              </a:ext>
            </a:extLst>
          </p:cNvPr>
          <p:cNvSpPr>
            <a:spLocks noGrp="1"/>
          </p:cNvSpPr>
          <p:nvPr>
            <p:ph type="dt" sz="half" idx="10"/>
          </p:nvPr>
        </p:nvSpPr>
        <p:spPr/>
        <p:txBody>
          <a:bodyPr/>
          <a:lstStyle/>
          <a:p>
            <a:fld id="{EDA5D6FC-6C07-4CF8-9BA6-5BBF6E56C7A7}" type="datetimeFigureOut">
              <a:rPr lang="en-US" smtClean="0"/>
              <a:t>12/16/2025</a:t>
            </a:fld>
            <a:endParaRPr lang="en-US"/>
          </a:p>
        </p:txBody>
      </p:sp>
      <p:sp>
        <p:nvSpPr>
          <p:cNvPr id="5" name="Footer Placeholder 4">
            <a:extLst>
              <a:ext uri="{FF2B5EF4-FFF2-40B4-BE49-F238E27FC236}">
                <a16:creationId xmlns:a16="http://schemas.microsoft.com/office/drawing/2014/main" id="{C2BCBBAB-F770-6DCD-8127-F3D92BE7519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98B9C18-EBBB-BE18-FC61-5D75F096E218}"/>
              </a:ext>
            </a:extLst>
          </p:cNvPr>
          <p:cNvSpPr>
            <a:spLocks noGrp="1"/>
          </p:cNvSpPr>
          <p:nvPr>
            <p:ph type="sldNum" sz="quarter" idx="12"/>
          </p:nvPr>
        </p:nvSpPr>
        <p:spPr/>
        <p:txBody>
          <a:bodyPr/>
          <a:lstStyle/>
          <a:p>
            <a:fld id="{F0B1D324-6016-4EDC-837E-78D1D74CEB03}" type="slidenum">
              <a:rPr lang="en-US" smtClean="0"/>
              <a:t>‹#›</a:t>
            </a:fld>
            <a:endParaRPr lang="en-US"/>
          </a:p>
        </p:txBody>
      </p:sp>
    </p:spTree>
    <p:extLst>
      <p:ext uri="{BB962C8B-B14F-4D97-AF65-F5344CB8AC3E}">
        <p14:creationId xmlns:p14="http://schemas.microsoft.com/office/powerpoint/2010/main" val="34593648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71E140A-8957-8995-01CE-F85F3C19248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6BB01BB-90E1-B8B6-AE4F-BC71ECDA297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5CB6C42-35E0-1A60-E01F-AFD1C15754A3}"/>
              </a:ext>
            </a:extLst>
          </p:cNvPr>
          <p:cNvSpPr>
            <a:spLocks noGrp="1"/>
          </p:cNvSpPr>
          <p:nvPr>
            <p:ph type="dt" sz="half" idx="10"/>
          </p:nvPr>
        </p:nvSpPr>
        <p:spPr/>
        <p:txBody>
          <a:bodyPr/>
          <a:lstStyle/>
          <a:p>
            <a:fld id="{EDA5D6FC-6C07-4CF8-9BA6-5BBF6E56C7A7}" type="datetimeFigureOut">
              <a:rPr lang="en-US" smtClean="0"/>
              <a:t>12/16/2025</a:t>
            </a:fld>
            <a:endParaRPr lang="en-US"/>
          </a:p>
        </p:txBody>
      </p:sp>
      <p:sp>
        <p:nvSpPr>
          <p:cNvPr id="5" name="Footer Placeholder 4">
            <a:extLst>
              <a:ext uri="{FF2B5EF4-FFF2-40B4-BE49-F238E27FC236}">
                <a16:creationId xmlns:a16="http://schemas.microsoft.com/office/drawing/2014/main" id="{7C519BD5-F7F4-254A-A1EF-6EF55E08469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2174107-9892-4C53-1B5E-B66A371242ED}"/>
              </a:ext>
            </a:extLst>
          </p:cNvPr>
          <p:cNvSpPr>
            <a:spLocks noGrp="1"/>
          </p:cNvSpPr>
          <p:nvPr>
            <p:ph type="sldNum" sz="quarter" idx="12"/>
          </p:nvPr>
        </p:nvSpPr>
        <p:spPr/>
        <p:txBody>
          <a:bodyPr/>
          <a:lstStyle/>
          <a:p>
            <a:fld id="{F0B1D324-6016-4EDC-837E-78D1D74CEB03}" type="slidenum">
              <a:rPr lang="en-US" smtClean="0"/>
              <a:t>‹#›</a:t>
            </a:fld>
            <a:endParaRPr lang="en-US"/>
          </a:p>
        </p:txBody>
      </p:sp>
    </p:spTree>
    <p:extLst>
      <p:ext uri="{BB962C8B-B14F-4D97-AF65-F5344CB8AC3E}">
        <p14:creationId xmlns:p14="http://schemas.microsoft.com/office/powerpoint/2010/main" val="342834930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cSld name="Text Cover 1">
    <p:bg>
      <p:bgPr>
        <a:solidFill>
          <a:schemeClr val="accent6"/>
        </a:solidFill>
        <a:effectLst/>
      </p:bgPr>
    </p:bg>
    <p:spTree>
      <p:nvGrpSpPr>
        <p:cNvPr id="1" name=""/>
        <p:cNvGrpSpPr/>
        <p:nvPr/>
      </p:nvGrpSpPr>
      <p:grpSpPr>
        <a:xfrm>
          <a:off x="0" y="0"/>
          <a:ext cx="0" cy="0"/>
          <a:chOff x="0" y="0"/>
          <a:chExt cx="0" cy="0"/>
        </a:xfrm>
      </p:grpSpPr>
      <p:pic>
        <p:nvPicPr>
          <p:cNvPr id="4" name="Picture 3" descr="Background pattern&#10;&#10;Description automatically generated">
            <a:extLst>
              <a:ext uri="{FF2B5EF4-FFF2-40B4-BE49-F238E27FC236}">
                <a16:creationId xmlns:a16="http://schemas.microsoft.com/office/drawing/2014/main" id="{DB20BD3D-EC0D-DF4B-B06C-388CB81CD4C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29653" y="-408743"/>
            <a:ext cx="12424357" cy="7455586"/>
          </a:xfrm>
          <a:prstGeom prst="rect">
            <a:avLst/>
          </a:prstGeom>
        </p:spPr>
      </p:pic>
      <p:cxnSp>
        <p:nvCxnSpPr>
          <p:cNvPr id="25" name="Straight Connector 24">
            <a:extLst>
              <a:ext uri="{FF2B5EF4-FFF2-40B4-BE49-F238E27FC236}">
                <a16:creationId xmlns:a16="http://schemas.microsoft.com/office/drawing/2014/main" id="{887340F4-9434-47C2-9CB2-6C0ACFBEFAB5}"/>
              </a:ext>
            </a:extLst>
          </p:cNvPr>
          <p:cNvCxnSpPr>
            <a:cxnSpLocks/>
          </p:cNvCxnSpPr>
          <p:nvPr/>
        </p:nvCxnSpPr>
        <p:spPr>
          <a:xfrm>
            <a:off x="3584575" y="601449"/>
            <a:ext cx="6558602" cy="0"/>
          </a:xfrm>
          <a:prstGeom prst="line">
            <a:avLst/>
          </a:prstGeom>
          <a:ln w="31750">
            <a:solidFill>
              <a:srgbClr val="17E891"/>
            </a:solidFill>
          </a:ln>
        </p:spPr>
        <p:style>
          <a:lnRef idx="1">
            <a:schemeClr val="accent1"/>
          </a:lnRef>
          <a:fillRef idx="0">
            <a:schemeClr val="accent1"/>
          </a:fillRef>
          <a:effectRef idx="0">
            <a:schemeClr val="accent1"/>
          </a:effectRef>
          <a:fontRef idx="minor">
            <a:schemeClr val="tx1"/>
          </a:fontRef>
        </p:style>
      </p:cxnSp>
      <p:sp>
        <p:nvSpPr>
          <p:cNvPr id="26" name="Holder 3">
            <a:extLst>
              <a:ext uri="{FF2B5EF4-FFF2-40B4-BE49-F238E27FC236}">
                <a16:creationId xmlns:a16="http://schemas.microsoft.com/office/drawing/2014/main" id="{76276979-8C48-B54F-A483-0C1D538B4166}"/>
              </a:ext>
            </a:extLst>
          </p:cNvPr>
          <p:cNvSpPr>
            <a:spLocks noGrp="1"/>
          </p:cNvSpPr>
          <p:nvPr>
            <p:ph type="body" idx="10" hasCustomPrompt="1"/>
          </p:nvPr>
        </p:nvSpPr>
        <p:spPr>
          <a:xfrm>
            <a:off x="511175" y="1554448"/>
            <a:ext cx="1328469" cy="412100"/>
          </a:xfrm>
          <a:prstGeom prst="rect">
            <a:avLst/>
          </a:prstGeom>
        </p:spPr>
        <p:txBody>
          <a:bodyPr lIns="0" tIns="0" rIns="0" bIns="0"/>
          <a:lstStyle>
            <a:lvl1pPr marL="0" marR="0" indent="0" defTabSz="554492" eaLnBrk="1" fontAlgn="auto" latinLnBrk="0" hangingPunct="1">
              <a:lnSpc>
                <a:spcPts val="1698"/>
              </a:lnSpc>
              <a:spcBef>
                <a:spcPts val="0"/>
              </a:spcBef>
              <a:spcAft>
                <a:spcPts val="0"/>
              </a:spcAft>
              <a:buClrTx/>
              <a:buSzTx/>
              <a:buFontTx/>
              <a:buNone/>
              <a:tabLst/>
              <a:defRPr lang="en-GB" sz="1050" b="1" kern="1200" spc="-3" dirty="0" err="1" smtClean="0">
                <a:solidFill>
                  <a:srgbClr val="FFFFFF"/>
                </a:solidFill>
                <a:latin typeface="Space Mono" panose="02000509040000020004" pitchFamily="49" charset="0"/>
                <a:ea typeface="+mn-ea"/>
                <a:cs typeface="Space Mono" panose="02000509040000020004" pitchFamily="49" charset="0"/>
              </a:defRPr>
            </a:lvl1pPr>
          </a:lstStyle>
          <a:p>
            <a:r>
              <a:rPr lang="en-GB"/>
              <a:t>21 JANUARY 2021</a:t>
            </a:r>
          </a:p>
          <a:p>
            <a:endParaRPr/>
          </a:p>
        </p:txBody>
      </p:sp>
      <p:sp>
        <p:nvSpPr>
          <p:cNvPr id="8" name="Title 7">
            <a:extLst>
              <a:ext uri="{FF2B5EF4-FFF2-40B4-BE49-F238E27FC236}">
                <a16:creationId xmlns:a16="http://schemas.microsoft.com/office/drawing/2014/main" id="{51B9FA0E-E9B2-48CD-AB3E-621C23814C7E}"/>
              </a:ext>
            </a:extLst>
          </p:cNvPr>
          <p:cNvSpPr>
            <a:spLocks noGrp="1"/>
          </p:cNvSpPr>
          <p:nvPr>
            <p:ph type="title"/>
          </p:nvPr>
        </p:nvSpPr>
        <p:spPr>
          <a:xfrm>
            <a:off x="3581238" y="1451248"/>
            <a:ext cx="7585236" cy="3210125"/>
          </a:xfrm>
        </p:spPr>
        <p:txBody>
          <a:bodyPr/>
          <a:lstStyle>
            <a:lvl1pPr>
              <a:defRPr sz="6600">
                <a:solidFill>
                  <a:schemeClr val="bg1"/>
                </a:solidFill>
              </a:defRPr>
            </a:lvl1pPr>
          </a:lstStyle>
          <a:p>
            <a:r>
              <a:rPr lang="en-US"/>
              <a:t>Click to edit Master title style</a:t>
            </a:r>
            <a:endParaRPr lang="en-GB"/>
          </a:p>
        </p:txBody>
      </p:sp>
      <p:sp>
        <p:nvSpPr>
          <p:cNvPr id="10" name="Content Placeholder 9">
            <a:extLst>
              <a:ext uri="{FF2B5EF4-FFF2-40B4-BE49-F238E27FC236}">
                <a16:creationId xmlns:a16="http://schemas.microsoft.com/office/drawing/2014/main" id="{7D9956ED-0AB6-478A-B82C-B67610F4E3D0}"/>
              </a:ext>
            </a:extLst>
          </p:cNvPr>
          <p:cNvSpPr>
            <a:spLocks noGrp="1"/>
          </p:cNvSpPr>
          <p:nvPr>
            <p:ph sz="quarter" idx="11" hasCustomPrompt="1"/>
          </p:nvPr>
        </p:nvSpPr>
        <p:spPr>
          <a:xfrm>
            <a:off x="3584575" y="4727575"/>
            <a:ext cx="5534025" cy="1250951"/>
          </a:xfrm>
        </p:spPr>
        <p:txBody>
          <a:bodyPr tIns="0">
            <a:noAutofit/>
          </a:bodyPr>
          <a:lstStyle>
            <a:lvl1pPr>
              <a:spcBef>
                <a:spcPts val="0"/>
              </a:spcBef>
              <a:spcAft>
                <a:spcPts val="0"/>
              </a:spcAft>
              <a:defRPr sz="1700">
                <a:solidFill>
                  <a:schemeClr val="bg1"/>
                </a:solidFill>
                <a:latin typeface="+mn-lt"/>
              </a:defRPr>
            </a:lvl1pPr>
            <a:lvl2pPr>
              <a:spcBef>
                <a:spcPts val="0"/>
              </a:spcBef>
              <a:spcAft>
                <a:spcPts val="0"/>
              </a:spcAft>
              <a:defRPr sz="1700">
                <a:solidFill>
                  <a:schemeClr val="bg1"/>
                </a:solidFill>
              </a:defRPr>
            </a:lvl2pPr>
            <a:lvl3pPr>
              <a:defRPr>
                <a:solidFill>
                  <a:schemeClr val="bg1"/>
                </a:solidFill>
              </a:defRPr>
            </a:lvl3pPr>
            <a:lvl4pPr>
              <a:defRPr>
                <a:solidFill>
                  <a:schemeClr val="bg1"/>
                </a:solidFill>
              </a:defRPr>
            </a:lvl4pPr>
            <a:lvl5pPr>
              <a:defRPr sz="1700" b="0">
                <a:solidFill>
                  <a:schemeClr val="bg1"/>
                </a:solidFill>
                <a:latin typeface="+mn-lt"/>
              </a:defRPr>
            </a:lvl5pPr>
          </a:lstStyle>
          <a:p>
            <a:pPr lvl="0"/>
            <a:r>
              <a:rPr lang="en-US"/>
              <a:t>Subheading</a:t>
            </a:r>
          </a:p>
          <a:p>
            <a:pPr lvl="1"/>
            <a:r>
              <a:rPr lang="en-US"/>
              <a:t>Subheading 2</a:t>
            </a:r>
            <a:endParaRPr lang="en-GB"/>
          </a:p>
        </p:txBody>
      </p:sp>
      <p:pic>
        <p:nvPicPr>
          <p:cNvPr id="14" name="Picture 13">
            <a:extLst>
              <a:ext uri="{FF2B5EF4-FFF2-40B4-BE49-F238E27FC236}">
                <a16:creationId xmlns:a16="http://schemas.microsoft.com/office/drawing/2014/main" id="{A9F76590-D194-4616-B4B7-387B12B531DC}"/>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0755020" y="482113"/>
            <a:ext cx="922631" cy="229614"/>
          </a:xfrm>
          <a:prstGeom prst="rect">
            <a:avLst/>
          </a:prstGeom>
        </p:spPr>
      </p:pic>
    </p:spTree>
    <p:extLst>
      <p:ext uri="{BB962C8B-B14F-4D97-AF65-F5344CB8AC3E}">
        <p14:creationId xmlns:p14="http://schemas.microsoft.com/office/powerpoint/2010/main" val="30688951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25"/>
                                        </p:tgtEl>
                                        <p:attrNameLst>
                                          <p:attrName>style.visibility</p:attrName>
                                        </p:attrNameLst>
                                      </p:cBhvr>
                                      <p:to>
                                        <p:strVal val="visible"/>
                                      </p:to>
                                    </p:set>
                                    <p:anim calcmode="lin" valueType="num">
                                      <p:cBhvr additive="base">
                                        <p:cTn id="7" dur="2250" fill="hold"/>
                                        <p:tgtEl>
                                          <p:spTgt spid="25"/>
                                        </p:tgtEl>
                                        <p:attrNameLst>
                                          <p:attrName>ppt_x</p:attrName>
                                        </p:attrNameLst>
                                      </p:cBhvr>
                                      <p:tavLst>
                                        <p:tav tm="0">
                                          <p:val>
                                            <p:strVal val="0-#ppt_w/2"/>
                                          </p:val>
                                        </p:tav>
                                        <p:tav tm="100000">
                                          <p:val>
                                            <p:strVal val="#ppt_x"/>
                                          </p:val>
                                        </p:tav>
                                      </p:tavLst>
                                    </p:anim>
                                    <p:anim calcmode="lin" valueType="num">
                                      <p:cBhvr additive="base">
                                        <p:cTn id="8" dur="2250" fill="hold"/>
                                        <p:tgtEl>
                                          <p:spTgt spid="2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cSld name="Text Cover 3">
    <p:bg>
      <p:bgPr>
        <a:solidFill>
          <a:schemeClr val="bg1"/>
        </a:solidFill>
        <a:effectLst/>
      </p:bgPr>
    </p:bg>
    <p:spTree>
      <p:nvGrpSpPr>
        <p:cNvPr id="1" name=""/>
        <p:cNvGrpSpPr/>
        <p:nvPr/>
      </p:nvGrpSpPr>
      <p:grpSpPr>
        <a:xfrm>
          <a:off x="0" y="0"/>
          <a:ext cx="0" cy="0"/>
          <a:chOff x="0" y="0"/>
          <a:chExt cx="0" cy="0"/>
        </a:xfrm>
      </p:grpSpPr>
      <p:cxnSp>
        <p:nvCxnSpPr>
          <p:cNvPr id="25" name="Line of Sight">
            <a:extLst>
              <a:ext uri="{FF2B5EF4-FFF2-40B4-BE49-F238E27FC236}">
                <a16:creationId xmlns:a16="http://schemas.microsoft.com/office/drawing/2014/main" id="{887340F4-9434-47C2-9CB2-6C0ACFBEFAB5}"/>
              </a:ext>
              <a:ext uri="{C183D7F6-B498-43B3-948B-1728B52AA6E4}">
                <adec:decorative xmlns:adec="http://schemas.microsoft.com/office/drawing/2017/decorative" val="1"/>
              </a:ext>
            </a:extLst>
          </p:cNvPr>
          <p:cNvCxnSpPr>
            <a:cxnSpLocks/>
          </p:cNvCxnSpPr>
          <p:nvPr/>
        </p:nvCxnSpPr>
        <p:spPr>
          <a:xfrm>
            <a:off x="3584575" y="571774"/>
            <a:ext cx="6558602" cy="0"/>
          </a:xfrm>
          <a:prstGeom prst="line">
            <a:avLst/>
          </a:prstGeom>
          <a:ln w="31750">
            <a:solidFill>
              <a:srgbClr val="17E891"/>
            </a:solidFill>
          </a:ln>
        </p:spPr>
        <p:style>
          <a:lnRef idx="1">
            <a:schemeClr val="accent1"/>
          </a:lnRef>
          <a:fillRef idx="0">
            <a:schemeClr val="accent1"/>
          </a:fillRef>
          <a:effectRef idx="0">
            <a:schemeClr val="accent1"/>
          </a:effectRef>
          <a:fontRef idx="minor">
            <a:schemeClr val="tx1"/>
          </a:fontRef>
        </p:style>
      </p:cxnSp>
      <p:sp>
        <p:nvSpPr>
          <p:cNvPr id="8" name="Title Placeholder">
            <a:extLst>
              <a:ext uri="{FF2B5EF4-FFF2-40B4-BE49-F238E27FC236}">
                <a16:creationId xmlns:a16="http://schemas.microsoft.com/office/drawing/2014/main" id="{51B9FA0E-E9B2-48CD-AB3E-621C23814C7E}"/>
              </a:ext>
            </a:extLst>
          </p:cNvPr>
          <p:cNvSpPr>
            <a:spLocks noGrp="1"/>
          </p:cNvSpPr>
          <p:nvPr>
            <p:ph type="title"/>
          </p:nvPr>
        </p:nvSpPr>
        <p:spPr>
          <a:xfrm>
            <a:off x="3584575" y="1457151"/>
            <a:ext cx="7070725" cy="3168821"/>
          </a:xfrm>
        </p:spPr>
        <p:txBody>
          <a:bodyPr/>
          <a:lstStyle>
            <a:lvl1pPr>
              <a:defRPr sz="6600">
                <a:solidFill>
                  <a:schemeClr val="accent6"/>
                </a:solidFill>
              </a:defRPr>
            </a:lvl1pPr>
          </a:lstStyle>
          <a:p>
            <a:r>
              <a:rPr lang="en-US"/>
              <a:t>Click to edit Master title style</a:t>
            </a:r>
          </a:p>
        </p:txBody>
      </p:sp>
      <p:sp>
        <p:nvSpPr>
          <p:cNvPr id="10" name="Subheading Placeholder">
            <a:extLst>
              <a:ext uri="{FF2B5EF4-FFF2-40B4-BE49-F238E27FC236}">
                <a16:creationId xmlns:a16="http://schemas.microsoft.com/office/drawing/2014/main" id="{7D9956ED-0AB6-478A-B82C-B67610F4E3D0}"/>
              </a:ext>
            </a:extLst>
          </p:cNvPr>
          <p:cNvSpPr>
            <a:spLocks noGrp="1"/>
          </p:cNvSpPr>
          <p:nvPr>
            <p:ph sz="quarter" idx="11" hasCustomPrompt="1"/>
          </p:nvPr>
        </p:nvSpPr>
        <p:spPr>
          <a:xfrm>
            <a:off x="3593749" y="4727575"/>
            <a:ext cx="5522912" cy="1250951"/>
          </a:xfrm>
        </p:spPr>
        <p:txBody>
          <a:bodyPr tIns="0">
            <a:noAutofit/>
          </a:bodyPr>
          <a:lstStyle>
            <a:lvl1pPr>
              <a:spcBef>
                <a:spcPts val="0"/>
              </a:spcBef>
              <a:spcAft>
                <a:spcPts val="0"/>
              </a:spcAft>
              <a:defRPr sz="1700">
                <a:solidFill>
                  <a:schemeClr val="tx1"/>
                </a:solidFill>
                <a:latin typeface="+mn-lt"/>
              </a:defRPr>
            </a:lvl1pPr>
            <a:lvl2pPr>
              <a:spcBef>
                <a:spcPts val="0"/>
              </a:spcBef>
              <a:spcAft>
                <a:spcPts val="0"/>
              </a:spcAft>
              <a:defRPr sz="1700">
                <a:solidFill>
                  <a:schemeClr val="tx1"/>
                </a:solidFill>
              </a:defRPr>
            </a:lvl2pPr>
            <a:lvl3pPr>
              <a:defRPr>
                <a:solidFill>
                  <a:schemeClr val="bg1"/>
                </a:solidFill>
              </a:defRPr>
            </a:lvl3pPr>
            <a:lvl4pPr>
              <a:defRPr>
                <a:solidFill>
                  <a:schemeClr val="bg1"/>
                </a:solidFill>
              </a:defRPr>
            </a:lvl4pPr>
            <a:lvl5pPr>
              <a:defRPr sz="1700" b="0">
                <a:solidFill>
                  <a:schemeClr val="accent6"/>
                </a:solidFill>
                <a:latin typeface="+mn-lt"/>
              </a:defRPr>
            </a:lvl5pPr>
          </a:lstStyle>
          <a:p>
            <a:pPr lvl="0"/>
            <a:r>
              <a:rPr lang="en-US"/>
              <a:t>Subheading</a:t>
            </a:r>
          </a:p>
          <a:p>
            <a:pPr lvl="1"/>
            <a:r>
              <a:rPr lang="en-US"/>
              <a:t>Subheading 2</a:t>
            </a:r>
          </a:p>
        </p:txBody>
      </p:sp>
      <p:sp>
        <p:nvSpPr>
          <p:cNvPr id="26" name="Date Placeholder">
            <a:extLst>
              <a:ext uri="{FF2B5EF4-FFF2-40B4-BE49-F238E27FC236}">
                <a16:creationId xmlns:a16="http://schemas.microsoft.com/office/drawing/2014/main" id="{76276979-8C48-B54F-A483-0C1D538B4166}"/>
              </a:ext>
            </a:extLst>
          </p:cNvPr>
          <p:cNvSpPr>
            <a:spLocks noGrp="1"/>
          </p:cNvSpPr>
          <p:nvPr>
            <p:ph type="body" idx="10" hasCustomPrompt="1"/>
          </p:nvPr>
        </p:nvSpPr>
        <p:spPr>
          <a:xfrm>
            <a:off x="511175" y="1554448"/>
            <a:ext cx="1328469" cy="412100"/>
          </a:xfrm>
          <a:prstGeom prst="rect">
            <a:avLst/>
          </a:prstGeom>
        </p:spPr>
        <p:txBody>
          <a:bodyPr lIns="0" tIns="0" rIns="0" bIns="0"/>
          <a:lstStyle>
            <a:lvl1pPr marL="0" marR="0" indent="0" defTabSz="554492" eaLnBrk="1" fontAlgn="auto" latinLnBrk="0" hangingPunct="1">
              <a:lnSpc>
                <a:spcPts val="1698"/>
              </a:lnSpc>
              <a:spcBef>
                <a:spcPts val="0"/>
              </a:spcBef>
              <a:spcAft>
                <a:spcPts val="0"/>
              </a:spcAft>
              <a:buClrTx/>
              <a:buSzTx/>
              <a:buFontTx/>
              <a:buNone/>
              <a:tabLst/>
              <a:defRPr lang="en-US" sz="1050" b="1" kern="1200" spc="-3" dirty="0" err="1" smtClean="0">
                <a:solidFill>
                  <a:schemeClr val="accent6"/>
                </a:solidFill>
                <a:latin typeface="Space Mono" panose="02000509040000020004" pitchFamily="49" charset="0"/>
                <a:ea typeface="+mn-ea"/>
                <a:cs typeface="Space Mono" panose="02000509040000020004" pitchFamily="49" charset="0"/>
              </a:defRPr>
            </a:lvl1pPr>
          </a:lstStyle>
          <a:p>
            <a:r>
              <a:rPr lang="en-US"/>
              <a:t>DATE</a:t>
            </a:r>
          </a:p>
        </p:txBody>
      </p:sp>
      <p:sp>
        <p:nvSpPr>
          <p:cNvPr id="22" name="LOS Animation Cover">
            <a:extLst>
              <a:ext uri="{FF2B5EF4-FFF2-40B4-BE49-F238E27FC236}">
                <a16:creationId xmlns:a16="http://schemas.microsoft.com/office/drawing/2014/main" id="{51402F92-C298-4C9D-B165-225CA6300EEC}"/>
              </a:ext>
              <a:ext uri="{C183D7F6-B498-43B3-948B-1728B52AA6E4}">
                <adec:decorative xmlns:adec="http://schemas.microsoft.com/office/drawing/2017/decorative" val="1"/>
              </a:ext>
            </a:extLst>
          </p:cNvPr>
          <p:cNvSpPr/>
          <p:nvPr/>
        </p:nvSpPr>
        <p:spPr>
          <a:xfrm>
            <a:off x="0" y="0"/>
            <a:ext cx="3584575" cy="109165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CBRE Vector Logo" descr="CBRE logo">
            <a:extLst>
              <a:ext uri="{FF2B5EF4-FFF2-40B4-BE49-F238E27FC236}">
                <a16:creationId xmlns:a16="http://schemas.microsoft.com/office/drawing/2014/main" id="{DD23A135-161C-46FC-B786-381F0472101C}"/>
              </a:ext>
              <a:ext uri="{C183D7F6-B498-43B3-948B-1728B52AA6E4}">
                <adec:decorative xmlns:adec="http://schemas.microsoft.com/office/drawing/2017/decorative" val="0"/>
              </a:ext>
            </a:extLst>
          </p:cNvPr>
          <p:cNvSpPr>
            <a:spLocks noChangeAspect="1"/>
          </p:cNvSpPr>
          <p:nvPr userDrawn="1"/>
        </p:nvSpPr>
        <p:spPr>
          <a:xfrm>
            <a:off x="10755020" y="452438"/>
            <a:ext cx="924217" cy="229615"/>
          </a:xfrm>
          <a:custGeom>
            <a:avLst/>
            <a:gdLst>
              <a:gd name="connsiteX0" fmla="*/ 306851 w 924217"/>
              <a:gd name="connsiteY0" fmla="*/ 137455 h 229615"/>
              <a:gd name="connsiteX1" fmla="*/ 306851 w 924217"/>
              <a:gd name="connsiteY1" fmla="*/ 175680 h 229615"/>
              <a:gd name="connsiteX2" fmla="*/ 383040 w 924217"/>
              <a:gd name="connsiteY2" fmla="*/ 175680 h 229615"/>
              <a:gd name="connsiteX3" fmla="*/ 402153 w 924217"/>
              <a:gd name="connsiteY3" fmla="*/ 156305 h 229615"/>
              <a:gd name="connsiteX4" fmla="*/ 385134 w 924217"/>
              <a:gd name="connsiteY4" fmla="*/ 137455 h 229615"/>
              <a:gd name="connsiteX5" fmla="*/ 384873 w 924217"/>
              <a:gd name="connsiteY5" fmla="*/ 137455 h 229615"/>
              <a:gd name="connsiteX6" fmla="*/ 384611 w 924217"/>
              <a:gd name="connsiteY6" fmla="*/ 137455 h 229615"/>
              <a:gd name="connsiteX7" fmla="*/ 539868 w 924217"/>
              <a:gd name="connsiteY7" fmla="*/ 50530 h 229615"/>
              <a:gd name="connsiteX8" fmla="*/ 539868 w 924217"/>
              <a:gd name="connsiteY8" fmla="*/ 87185 h 229615"/>
              <a:gd name="connsiteX9" fmla="*/ 618414 w 924217"/>
              <a:gd name="connsiteY9" fmla="*/ 87185 h 229615"/>
              <a:gd name="connsiteX10" fmla="*/ 636479 w 924217"/>
              <a:gd name="connsiteY10" fmla="*/ 71476 h 229615"/>
              <a:gd name="connsiteX11" fmla="*/ 636218 w 924217"/>
              <a:gd name="connsiteY11" fmla="*/ 71476 h 229615"/>
              <a:gd name="connsiteX12" fmla="*/ 636218 w 924217"/>
              <a:gd name="connsiteY12" fmla="*/ 66501 h 229615"/>
              <a:gd name="connsiteX13" fmla="*/ 618414 w 924217"/>
              <a:gd name="connsiteY13" fmla="*/ 50530 h 229615"/>
              <a:gd name="connsiteX14" fmla="*/ 306589 w 924217"/>
              <a:gd name="connsiteY14" fmla="*/ 49745 h 229615"/>
              <a:gd name="connsiteX15" fmla="*/ 306851 w 924217"/>
              <a:gd name="connsiteY15" fmla="*/ 87447 h 229615"/>
              <a:gd name="connsiteX16" fmla="*/ 386443 w 924217"/>
              <a:gd name="connsiteY16" fmla="*/ 87185 h 229615"/>
              <a:gd name="connsiteX17" fmla="*/ 402676 w 924217"/>
              <a:gd name="connsiteY17" fmla="*/ 68073 h 229615"/>
              <a:gd name="connsiteX18" fmla="*/ 386967 w 924217"/>
              <a:gd name="connsiteY18" fmla="*/ 49745 h 229615"/>
              <a:gd name="connsiteX19" fmla="*/ 386705 w 924217"/>
              <a:gd name="connsiteY19" fmla="*/ 49745 h 229615"/>
              <a:gd name="connsiteX20" fmla="*/ 386443 w 924217"/>
              <a:gd name="connsiteY20" fmla="*/ 49745 h 229615"/>
              <a:gd name="connsiteX21" fmla="*/ 484363 w 924217"/>
              <a:gd name="connsiteY21" fmla="*/ 261 h 229615"/>
              <a:gd name="connsiteX22" fmla="*/ 606108 w 924217"/>
              <a:gd name="connsiteY22" fmla="*/ 261 h 229615"/>
              <a:gd name="connsiteX23" fmla="*/ 688581 w 924217"/>
              <a:gd name="connsiteY23" fmla="*/ 60479 h 229615"/>
              <a:gd name="connsiteX24" fmla="*/ 654807 w 924217"/>
              <a:gd name="connsiteY24" fmla="*/ 111010 h 229615"/>
              <a:gd name="connsiteX25" fmla="*/ 687796 w 924217"/>
              <a:gd name="connsiteY25" fmla="*/ 155519 h 229615"/>
              <a:gd name="connsiteX26" fmla="*/ 687796 w 924217"/>
              <a:gd name="connsiteY26" fmla="*/ 229614 h 229615"/>
              <a:gd name="connsiteX27" fmla="*/ 633076 w 924217"/>
              <a:gd name="connsiteY27" fmla="*/ 229614 h 229615"/>
              <a:gd name="connsiteX28" fmla="*/ 633076 w 924217"/>
              <a:gd name="connsiteY28" fmla="*/ 169396 h 229615"/>
              <a:gd name="connsiteX29" fmla="*/ 601658 w 924217"/>
              <a:gd name="connsiteY29" fmla="*/ 136930 h 229615"/>
              <a:gd name="connsiteX30" fmla="*/ 540130 w 924217"/>
              <a:gd name="connsiteY30" fmla="*/ 136930 h 229615"/>
              <a:gd name="connsiteX31" fmla="*/ 540130 w 924217"/>
              <a:gd name="connsiteY31" fmla="*/ 229614 h 229615"/>
              <a:gd name="connsiteX32" fmla="*/ 484363 w 924217"/>
              <a:gd name="connsiteY32" fmla="*/ 229614 h 229615"/>
              <a:gd name="connsiteX33" fmla="*/ 722879 w 924217"/>
              <a:gd name="connsiteY33" fmla="*/ 0 h 229615"/>
              <a:gd name="connsiteX34" fmla="*/ 923955 w 924217"/>
              <a:gd name="connsiteY34" fmla="*/ 0 h 229615"/>
              <a:gd name="connsiteX35" fmla="*/ 923955 w 924217"/>
              <a:gd name="connsiteY35" fmla="*/ 50007 h 229615"/>
              <a:gd name="connsiteX36" fmla="*/ 778908 w 924217"/>
              <a:gd name="connsiteY36" fmla="*/ 50007 h 229615"/>
              <a:gd name="connsiteX37" fmla="*/ 779170 w 924217"/>
              <a:gd name="connsiteY37" fmla="*/ 86924 h 229615"/>
              <a:gd name="connsiteX38" fmla="*/ 909817 w 924217"/>
              <a:gd name="connsiteY38" fmla="*/ 86924 h 229615"/>
              <a:gd name="connsiteX39" fmla="*/ 909817 w 924217"/>
              <a:gd name="connsiteY39" fmla="*/ 137193 h 229615"/>
              <a:gd name="connsiteX40" fmla="*/ 779170 w 924217"/>
              <a:gd name="connsiteY40" fmla="*/ 137193 h 229615"/>
              <a:gd name="connsiteX41" fmla="*/ 779170 w 924217"/>
              <a:gd name="connsiteY41" fmla="*/ 177251 h 229615"/>
              <a:gd name="connsiteX42" fmla="*/ 924217 w 924217"/>
              <a:gd name="connsiteY42" fmla="*/ 177251 h 229615"/>
              <a:gd name="connsiteX43" fmla="*/ 924217 w 924217"/>
              <a:gd name="connsiteY43" fmla="*/ 229615 h 229615"/>
              <a:gd name="connsiteX44" fmla="*/ 723141 w 924217"/>
              <a:gd name="connsiteY44" fmla="*/ 229615 h 229615"/>
              <a:gd name="connsiteX45" fmla="*/ 722879 w 924217"/>
              <a:gd name="connsiteY45" fmla="*/ 0 h 229615"/>
              <a:gd name="connsiteX46" fmla="*/ 250298 w 924217"/>
              <a:gd name="connsiteY46" fmla="*/ 0 h 229615"/>
              <a:gd name="connsiteX47" fmla="*/ 369163 w 924217"/>
              <a:gd name="connsiteY47" fmla="*/ 0 h 229615"/>
              <a:gd name="connsiteX48" fmla="*/ 454254 w 924217"/>
              <a:gd name="connsiteY48" fmla="*/ 56815 h 229615"/>
              <a:gd name="connsiteX49" fmla="*/ 419956 w 924217"/>
              <a:gd name="connsiteY49" fmla="*/ 111011 h 229615"/>
              <a:gd name="connsiteX50" fmla="*/ 456611 w 924217"/>
              <a:gd name="connsiteY50" fmla="*/ 163113 h 229615"/>
              <a:gd name="connsiteX51" fmla="*/ 368902 w 924217"/>
              <a:gd name="connsiteY51" fmla="*/ 229091 h 229615"/>
              <a:gd name="connsiteX52" fmla="*/ 250298 w 924217"/>
              <a:gd name="connsiteY52" fmla="*/ 229091 h 229615"/>
              <a:gd name="connsiteX53" fmla="*/ 250298 w 924217"/>
              <a:gd name="connsiteY53" fmla="*/ 0 h 229615"/>
              <a:gd name="connsiteX54" fmla="*/ 213644 w 924217"/>
              <a:gd name="connsiteY54" fmla="*/ 0 h 229615"/>
              <a:gd name="connsiteX55" fmla="*/ 215476 w 924217"/>
              <a:gd name="connsiteY55" fmla="*/ 0 h 229615"/>
              <a:gd name="connsiteX56" fmla="*/ 215215 w 924217"/>
              <a:gd name="connsiteY56" fmla="*/ 52102 h 229615"/>
              <a:gd name="connsiteX57" fmla="*/ 213382 w 924217"/>
              <a:gd name="connsiteY57" fmla="*/ 52102 h 229615"/>
              <a:gd name="connsiteX58" fmla="*/ 109702 w 924217"/>
              <a:gd name="connsiteY58" fmla="*/ 53149 h 229615"/>
              <a:gd name="connsiteX59" fmla="*/ 54720 w 924217"/>
              <a:gd name="connsiteY59" fmla="*/ 112582 h 229615"/>
              <a:gd name="connsiteX60" fmla="*/ 111535 w 924217"/>
              <a:gd name="connsiteY60" fmla="*/ 173062 h 229615"/>
              <a:gd name="connsiteX61" fmla="*/ 213905 w 924217"/>
              <a:gd name="connsiteY61" fmla="*/ 174109 h 229615"/>
              <a:gd name="connsiteX62" fmla="*/ 216000 w 924217"/>
              <a:gd name="connsiteY62" fmla="*/ 174109 h 229615"/>
              <a:gd name="connsiteX63" fmla="*/ 215738 w 924217"/>
              <a:gd name="connsiteY63" fmla="*/ 229353 h 229615"/>
              <a:gd name="connsiteX64" fmla="*/ 213905 w 924217"/>
              <a:gd name="connsiteY64" fmla="*/ 229353 h 229615"/>
              <a:gd name="connsiteX65" fmla="*/ 145309 w 924217"/>
              <a:gd name="connsiteY65" fmla="*/ 229353 h 229615"/>
              <a:gd name="connsiteX66" fmla="*/ 126720 w 924217"/>
              <a:gd name="connsiteY66" fmla="*/ 229091 h 229615"/>
              <a:gd name="connsiteX67" fmla="*/ 64407 w 924217"/>
              <a:gd name="connsiteY67" fmla="*/ 216524 h 229615"/>
              <a:gd name="connsiteX68" fmla="*/ 1833 w 924217"/>
              <a:gd name="connsiteY68" fmla="*/ 137455 h 229615"/>
              <a:gd name="connsiteX69" fmla="*/ 0 w 924217"/>
              <a:gd name="connsiteY69" fmla="*/ 114415 h 229615"/>
              <a:gd name="connsiteX70" fmla="*/ 22516 w 924217"/>
              <a:gd name="connsiteY70" fmla="*/ 46080 h 229615"/>
              <a:gd name="connsiteX71" fmla="*/ 67811 w 924217"/>
              <a:gd name="connsiteY71" fmla="*/ 9687 h 229615"/>
              <a:gd name="connsiteX72" fmla="*/ 115462 w 924217"/>
              <a:gd name="connsiteY72" fmla="*/ 262 h 2296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924217" h="229615">
                <a:moveTo>
                  <a:pt x="306851" y="137455"/>
                </a:moveTo>
                <a:lnTo>
                  <a:pt x="306851" y="175680"/>
                </a:lnTo>
                <a:lnTo>
                  <a:pt x="383040" y="175680"/>
                </a:lnTo>
                <a:cubicBezTo>
                  <a:pt x="393251" y="175680"/>
                  <a:pt x="402153" y="166778"/>
                  <a:pt x="402153" y="156305"/>
                </a:cubicBezTo>
                <a:cubicBezTo>
                  <a:pt x="402153" y="146618"/>
                  <a:pt x="394822" y="138502"/>
                  <a:pt x="385134" y="137455"/>
                </a:cubicBezTo>
                <a:lnTo>
                  <a:pt x="384873" y="137455"/>
                </a:lnTo>
                <a:lnTo>
                  <a:pt x="384611" y="137455"/>
                </a:lnTo>
                <a:close/>
                <a:moveTo>
                  <a:pt x="539868" y="50530"/>
                </a:moveTo>
                <a:lnTo>
                  <a:pt x="539868" y="87185"/>
                </a:lnTo>
                <a:lnTo>
                  <a:pt x="618414" y="87185"/>
                </a:lnTo>
                <a:cubicBezTo>
                  <a:pt x="627839" y="87185"/>
                  <a:pt x="635432" y="79068"/>
                  <a:pt x="636479" y="71476"/>
                </a:cubicBezTo>
                <a:lnTo>
                  <a:pt x="636218" y="71476"/>
                </a:lnTo>
                <a:lnTo>
                  <a:pt x="636218" y="66501"/>
                </a:lnTo>
                <a:cubicBezTo>
                  <a:pt x="635170" y="57337"/>
                  <a:pt x="627839" y="50530"/>
                  <a:pt x="618414" y="50530"/>
                </a:cubicBezTo>
                <a:close/>
                <a:moveTo>
                  <a:pt x="306589" y="49745"/>
                </a:moveTo>
                <a:lnTo>
                  <a:pt x="306851" y="87447"/>
                </a:lnTo>
                <a:lnTo>
                  <a:pt x="386443" y="87185"/>
                </a:lnTo>
                <a:cubicBezTo>
                  <a:pt x="395607" y="85876"/>
                  <a:pt x="402676" y="77236"/>
                  <a:pt x="402676" y="68073"/>
                </a:cubicBezTo>
                <a:cubicBezTo>
                  <a:pt x="402676" y="58909"/>
                  <a:pt x="396131" y="51316"/>
                  <a:pt x="386967" y="49745"/>
                </a:cubicBezTo>
                <a:lnTo>
                  <a:pt x="386705" y="49745"/>
                </a:lnTo>
                <a:lnTo>
                  <a:pt x="386443" y="49745"/>
                </a:lnTo>
                <a:close/>
                <a:moveTo>
                  <a:pt x="484363" y="261"/>
                </a:moveTo>
                <a:lnTo>
                  <a:pt x="606108" y="261"/>
                </a:lnTo>
                <a:cubicBezTo>
                  <a:pt x="645643" y="261"/>
                  <a:pt x="688319" y="10734"/>
                  <a:pt x="688581" y="60479"/>
                </a:cubicBezTo>
                <a:cubicBezTo>
                  <a:pt x="688581" y="100799"/>
                  <a:pt x="654807" y="111010"/>
                  <a:pt x="654807" y="111010"/>
                </a:cubicBezTo>
                <a:cubicBezTo>
                  <a:pt x="654807" y="111010"/>
                  <a:pt x="687796" y="121221"/>
                  <a:pt x="687796" y="155519"/>
                </a:cubicBezTo>
                <a:lnTo>
                  <a:pt x="687796" y="229614"/>
                </a:lnTo>
                <a:lnTo>
                  <a:pt x="633076" y="229614"/>
                </a:lnTo>
                <a:lnTo>
                  <a:pt x="633076" y="169396"/>
                </a:lnTo>
                <a:cubicBezTo>
                  <a:pt x="633076" y="151592"/>
                  <a:pt x="619199" y="137192"/>
                  <a:pt x="601658" y="136930"/>
                </a:cubicBezTo>
                <a:cubicBezTo>
                  <a:pt x="601658" y="136930"/>
                  <a:pt x="540130" y="136930"/>
                  <a:pt x="540130" y="136930"/>
                </a:cubicBezTo>
                <a:cubicBezTo>
                  <a:pt x="540130" y="136930"/>
                  <a:pt x="540130" y="223068"/>
                  <a:pt x="540130" y="229614"/>
                </a:cubicBezTo>
                <a:cubicBezTo>
                  <a:pt x="534370" y="229614"/>
                  <a:pt x="484363" y="229614"/>
                  <a:pt x="484363" y="229614"/>
                </a:cubicBezTo>
                <a:close/>
                <a:moveTo>
                  <a:pt x="722879" y="0"/>
                </a:moveTo>
                <a:lnTo>
                  <a:pt x="923955" y="0"/>
                </a:lnTo>
                <a:lnTo>
                  <a:pt x="923955" y="50007"/>
                </a:lnTo>
                <a:lnTo>
                  <a:pt x="778908" y="50007"/>
                </a:lnTo>
                <a:lnTo>
                  <a:pt x="779170" y="86924"/>
                </a:lnTo>
                <a:lnTo>
                  <a:pt x="909817" y="86924"/>
                </a:lnTo>
                <a:lnTo>
                  <a:pt x="909817" y="137193"/>
                </a:lnTo>
                <a:lnTo>
                  <a:pt x="779170" y="137193"/>
                </a:lnTo>
                <a:lnTo>
                  <a:pt x="779170" y="177251"/>
                </a:lnTo>
                <a:lnTo>
                  <a:pt x="924217" y="177251"/>
                </a:lnTo>
                <a:lnTo>
                  <a:pt x="924217" y="229615"/>
                </a:lnTo>
                <a:cubicBezTo>
                  <a:pt x="924217" y="229615"/>
                  <a:pt x="729948" y="229615"/>
                  <a:pt x="723141" y="229615"/>
                </a:cubicBezTo>
                <a:cubicBezTo>
                  <a:pt x="722879" y="223069"/>
                  <a:pt x="722879" y="0"/>
                  <a:pt x="722879" y="0"/>
                </a:cubicBezTo>
                <a:close/>
                <a:moveTo>
                  <a:pt x="250298" y="0"/>
                </a:moveTo>
                <a:lnTo>
                  <a:pt x="369163" y="0"/>
                </a:lnTo>
                <a:cubicBezTo>
                  <a:pt x="432785" y="0"/>
                  <a:pt x="454516" y="26444"/>
                  <a:pt x="454254" y="56815"/>
                </a:cubicBezTo>
                <a:cubicBezTo>
                  <a:pt x="454516" y="76713"/>
                  <a:pt x="449280" y="101324"/>
                  <a:pt x="419956" y="111011"/>
                </a:cubicBezTo>
                <a:cubicBezTo>
                  <a:pt x="419956" y="111011"/>
                  <a:pt x="456611" y="123316"/>
                  <a:pt x="456611" y="163113"/>
                </a:cubicBezTo>
                <a:cubicBezTo>
                  <a:pt x="456611" y="196102"/>
                  <a:pt x="433047" y="229091"/>
                  <a:pt x="368902" y="229091"/>
                </a:cubicBezTo>
                <a:cubicBezTo>
                  <a:pt x="368902" y="229091"/>
                  <a:pt x="256843" y="229091"/>
                  <a:pt x="250298" y="229091"/>
                </a:cubicBezTo>
                <a:cubicBezTo>
                  <a:pt x="250298" y="222545"/>
                  <a:pt x="250298" y="0"/>
                  <a:pt x="250298" y="0"/>
                </a:cubicBezTo>
                <a:close/>
                <a:moveTo>
                  <a:pt x="213644" y="0"/>
                </a:moveTo>
                <a:lnTo>
                  <a:pt x="215476" y="0"/>
                </a:lnTo>
                <a:lnTo>
                  <a:pt x="215215" y="52102"/>
                </a:lnTo>
                <a:lnTo>
                  <a:pt x="213382" y="52102"/>
                </a:lnTo>
                <a:cubicBezTo>
                  <a:pt x="212596" y="52102"/>
                  <a:pt x="125673" y="51055"/>
                  <a:pt x="109702" y="53149"/>
                </a:cubicBezTo>
                <a:cubicBezTo>
                  <a:pt x="76189" y="57600"/>
                  <a:pt x="54720" y="80902"/>
                  <a:pt x="54720" y="112582"/>
                </a:cubicBezTo>
                <a:cubicBezTo>
                  <a:pt x="54720" y="137978"/>
                  <a:pt x="69644" y="168873"/>
                  <a:pt x="111535" y="173062"/>
                </a:cubicBezTo>
                <a:cubicBezTo>
                  <a:pt x="137716" y="175680"/>
                  <a:pt x="213120" y="174109"/>
                  <a:pt x="213905" y="174109"/>
                </a:cubicBezTo>
                <a:lnTo>
                  <a:pt x="216000" y="174109"/>
                </a:lnTo>
                <a:lnTo>
                  <a:pt x="215738" y="229353"/>
                </a:lnTo>
                <a:lnTo>
                  <a:pt x="213905" y="229353"/>
                </a:lnTo>
                <a:cubicBezTo>
                  <a:pt x="213905" y="229353"/>
                  <a:pt x="145309" y="229353"/>
                  <a:pt x="145309" y="229353"/>
                </a:cubicBezTo>
                <a:cubicBezTo>
                  <a:pt x="145309" y="229353"/>
                  <a:pt x="126720" y="229091"/>
                  <a:pt x="126720" y="229091"/>
                </a:cubicBezTo>
                <a:cubicBezTo>
                  <a:pt x="92422" y="227258"/>
                  <a:pt x="75404" y="221498"/>
                  <a:pt x="64407" y="216524"/>
                </a:cubicBezTo>
                <a:cubicBezTo>
                  <a:pt x="31680" y="201076"/>
                  <a:pt x="8902" y="172276"/>
                  <a:pt x="1833" y="137455"/>
                </a:cubicBezTo>
                <a:cubicBezTo>
                  <a:pt x="524" y="129862"/>
                  <a:pt x="0" y="122269"/>
                  <a:pt x="0" y="114415"/>
                </a:cubicBezTo>
                <a:cubicBezTo>
                  <a:pt x="0" y="89542"/>
                  <a:pt x="7855" y="65978"/>
                  <a:pt x="22516" y="46080"/>
                </a:cubicBezTo>
                <a:cubicBezTo>
                  <a:pt x="34298" y="30371"/>
                  <a:pt x="49745" y="17804"/>
                  <a:pt x="67811" y="9687"/>
                </a:cubicBezTo>
                <a:cubicBezTo>
                  <a:pt x="86400" y="2095"/>
                  <a:pt x="104465" y="1047"/>
                  <a:pt x="115462" y="262"/>
                </a:cubicBezTo>
                <a:close/>
              </a:path>
            </a:pathLst>
          </a:custGeom>
          <a:solidFill>
            <a:srgbClr val="003F2D"/>
          </a:solidFill>
          <a:ln w="2617" cap="flat">
            <a:noFill/>
            <a:prstDash val="solid"/>
            <a:miter/>
          </a:ln>
        </p:spPr>
        <p:txBody>
          <a:bodyPr wrap="square" rtlCol="0" anchor="ctr">
            <a:noAutofit/>
          </a:bodyPr>
          <a:lstStyle/>
          <a:p>
            <a:endParaRPr lang="en-US"/>
          </a:p>
        </p:txBody>
      </p:sp>
    </p:spTree>
    <p:extLst>
      <p:ext uri="{BB962C8B-B14F-4D97-AF65-F5344CB8AC3E}">
        <p14:creationId xmlns:p14="http://schemas.microsoft.com/office/powerpoint/2010/main" val="10353290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25"/>
                                        </p:tgtEl>
                                        <p:attrNameLst>
                                          <p:attrName>style.visibility</p:attrName>
                                        </p:attrNameLst>
                                      </p:cBhvr>
                                      <p:to>
                                        <p:strVal val="visible"/>
                                      </p:to>
                                    </p:set>
                                    <p:anim calcmode="lin" valueType="num">
                                      <p:cBhvr additive="base">
                                        <p:cTn id="7" dur="2250" fill="hold"/>
                                        <p:tgtEl>
                                          <p:spTgt spid="25"/>
                                        </p:tgtEl>
                                        <p:attrNameLst>
                                          <p:attrName>ppt_x</p:attrName>
                                        </p:attrNameLst>
                                      </p:cBhvr>
                                      <p:tavLst>
                                        <p:tav tm="0">
                                          <p:val>
                                            <p:strVal val="0-#ppt_w/2"/>
                                          </p:val>
                                        </p:tav>
                                        <p:tav tm="100000">
                                          <p:val>
                                            <p:strVal val="#ppt_x"/>
                                          </p:val>
                                        </p:tav>
                                      </p:tavLst>
                                    </p:anim>
                                    <p:anim calcmode="lin" valueType="num">
                                      <p:cBhvr additive="base">
                                        <p:cTn id="8" dur="2250" fill="hold"/>
                                        <p:tgtEl>
                                          <p:spTgt spid="2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6A4E0E4-2958-7726-041C-73EB9B61000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FAA4115-E6E5-8198-0C82-53B49D10EA5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9924AF7-4653-99D2-251B-2602F301C02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DA5D6FC-6C07-4CF8-9BA6-5BBF6E56C7A7}" type="datetimeFigureOut">
              <a:rPr lang="en-US" smtClean="0"/>
              <a:t>12/16/2025</a:t>
            </a:fld>
            <a:endParaRPr lang="en-US"/>
          </a:p>
        </p:txBody>
      </p:sp>
      <p:sp>
        <p:nvSpPr>
          <p:cNvPr id="5" name="Footer Placeholder 4">
            <a:extLst>
              <a:ext uri="{FF2B5EF4-FFF2-40B4-BE49-F238E27FC236}">
                <a16:creationId xmlns:a16="http://schemas.microsoft.com/office/drawing/2014/main" id="{95D563CD-5503-06D6-9A37-5C57AE0C9B9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2301B5E4-2E19-14E1-E998-C8E52C7F35E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0B1D324-6016-4EDC-837E-78D1D74CEB03}" type="slidenum">
              <a:rPr lang="en-US" smtClean="0"/>
              <a:t>‹#›</a:t>
            </a:fld>
            <a:endParaRPr lang="en-US"/>
          </a:p>
        </p:txBody>
      </p:sp>
    </p:spTree>
    <p:extLst>
      <p:ext uri="{BB962C8B-B14F-4D97-AF65-F5344CB8AC3E}">
        <p14:creationId xmlns:p14="http://schemas.microsoft.com/office/powerpoint/2010/main" val="416885776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2"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pattFill prst="pct5">
          <a:fgClr>
            <a:schemeClr val="accent6"/>
          </a:fgClr>
          <a:bgClr>
            <a:schemeClr val="bg1"/>
          </a:bgClr>
        </a:patt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653AF62-6C08-8F4E-8952-0772FD51D36F}"/>
              </a:ext>
            </a:extLst>
          </p:cNvPr>
          <p:cNvSpPr>
            <a:spLocks noGrp="1"/>
          </p:cNvSpPr>
          <p:nvPr>
            <p:ph type="title"/>
          </p:nvPr>
        </p:nvSpPr>
        <p:spPr>
          <a:xfrm>
            <a:off x="243191" y="1451249"/>
            <a:ext cx="11741286" cy="2079892"/>
          </a:xfrm>
        </p:spPr>
        <p:txBody>
          <a:bodyPr>
            <a:normAutofit/>
          </a:bodyPr>
          <a:lstStyle/>
          <a:p>
            <a:pPr algn="ctr"/>
            <a:r>
              <a:rPr lang="en-US" sz="6600" dirty="0">
                <a:latin typeface="Financier Display Semibold" panose="02020703070506060203" pitchFamily="18" charset="0"/>
              </a:rPr>
              <a:t>IFM Hub and Smart FM – </a:t>
            </a:r>
            <a:br>
              <a:rPr lang="en-US" sz="6600">
                <a:latin typeface="Financier Display Semibold" panose="02020703070506060203" pitchFamily="18" charset="0"/>
              </a:rPr>
            </a:br>
            <a:r>
              <a:rPr lang="en-US" sz="6600">
                <a:latin typeface="Financier Display Semibold" panose="02020703070506060203" pitchFamily="18" charset="0"/>
              </a:rPr>
              <a:t>Asset </a:t>
            </a:r>
            <a:r>
              <a:rPr lang="en-US" sz="6600" dirty="0">
                <a:latin typeface="Financier Display Semibold" panose="02020703070506060203" pitchFamily="18" charset="0"/>
              </a:rPr>
              <a:t>Integration</a:t>
            </a:r>
          </a:p>
        </p:txBody>
      </p:sp>
    </p:spTree>
    <p:extLst>
      <p:ext uri="{BB962C8B-B14F-4D97-AF65-F5344CB8AC3E}">
        <p14:creationId xmlns:p14="http://schemas.microsoft.com/office/powerpoint/2010/main" val="2874513232"/>
      </p:ext>
    </p:extLst>
  </p:cSld>
  <p:clrMapOvr>
    <a:masterClrMapping/>
  </p:clrMapOvr>
  <mc:AlternateContent xmlns:mc="http://schemas.openxmlformats.org/markup-compatibility/2006" xmlns:p14="http://schemas.microsoft.com/office/powerpoint/2010/main">
    <mc:Choice Requires="p14">
      <p:transition spd="slow" p14:dur="2000" advTm="12634"/>
    </mc:Choice>
    <mc:Fallback xmlns="">
      <p:transition spd="slow" advTm="12634"/>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6"/>
        </a:solidFill>
        <a:effectLst/>
      </p:bgPr>
    </p:bg>
    <p:spTree>
      <p:nvGrpSpPr>
        <p:cNvPr id="1" name="">
          <a:extLst>
            <a:ext uri="{FF2B5EF4-FFF2-40B4-BE49-F238E27FC236}">
              <a16:creationId xmlns:a16="http://schemas.microsoft.com/office/drawing/2014/main" id="{BD0D0484-200A-46FF-AC91-343A593A123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FAC45B2B-271C-5BBE-2DBF-3EEA88B6C6D7}"/>
              </a:ext>
            </a:extLst>
          </p:cNvPr>
          <p:cNvSpPr>
            <a:spLocks noGrp="1"/>
          </p:cNvSpPr>
          <p:nvPr>
            <p:ph type="title"/>
          </p:nvPr>
        </p:nvSpPr>
        <p:spPr>
          <a:xfrm>
            <a:off x="225357" y="940709"/>
            <a:ext cx="11741286" cy="461372"/>
          </a:xfrm>
        </p:spPr>
        <p:txBody>
          <a:bodyPr anchor="t">
            <a:normAutofit fontScale="90000"/>
          </a:bodyPr>
          <a:lstStyle/>
          <a:p>
            <a:r>
              <a:rPr lang="en-US" sz="2400" dirty="0">
                <a:latin typeface="Financier Display Semibold" panose="02020703070506060203" pitchFamily="18" charset="0"/>
              </a:rPr>
              <a:t>Agenda</a:t>
            </a:r>
            <a:br>
              <a:rPr lang="en-US" sz="2400" dirty="0">
                <a:latin typeface="Financier Display Semibold" panose="02020703070506060203" pitchFamily="18" charset="0"/>
              </a:rPr>
            </a:br>
            <a:br>
              <a:rPr lang="en-US" sz="2400" dirty="0">
                <a:latin typeface="Financier Display Semibold" panose="02020703070506060203" pitchFamily="18" charset="0"/>
              </a:rPr>
            </a:br>
            <a:br>
              <a:rPr lang="en-US" sz="2400" dirty="0">
                <a:latin typeface="Financier Display Semibold" panose="02020703070506060203" pitchFamily="18" charset="0"/>
              </a:rPr>
            </a:br>
            <a:br>
              <a:rPr lang="en-US" sz="800" dirty="0">
                <a:solidFill>
                  <a:schemeClr val="accent3"/>
                </a:solidFill>
              </a:rPr>
            </a:br>
            <a:endParaRPr lang="en-US" sz="2400" dirty="0">
              <a:latin typeface="Financier Display Semibold" panose="02020703070506060203" pitchFamily="18" charset="0"/>
            </a:endParaRPr>
          </a:p>
        </p:txBody>
      </p:sp>
      <p:sp>
        <p:nvSpPr>
          <p:cNvPr id="2" name="TextBox 1">
            <a:extLst>
              <a:ext uri="{FF2B5EF4-FFF2-40B4-BE49-F238E27FC236}">
                <a16:creationId xmlns:a16="http://schemas.microsoft.com/office/drawing/2014/main" id="{0F888BC4-2C50-375A-B4A4-3504DD12F7F7}"/>
              </a:ext>
            </a:extLst>
          </p:cNvPr>
          <p:cNvSpPr txBox="1"/>
          <p:nvPr/>
        </p:nvSpPr>
        <p:spPr>
          <a:xfrm>
            <a:off x="137160" y="1531620"/>
            <a:ext cx="11620500" cy="1477328"/>
          </a:xfrm>
          <a:prstGeom prst="rect">
            <a:avLst/>
          </a:prstGeom>
          <a:noFill/>
        </p:spPr>
        <p:txBody>
          <a:bodyPr wrap="square" rtlCol="0">
            <a:spAutoFit/>
          </a:bodyPr>
          <a:lstStyle/>
          <a:p>
            <a:pPr marL="285750" indent="-285750">
              <a:buFont typeface="Arial" panose="020B0604020202020204" pitchFamily="34" charset="0"/>
              <a:buChar char="•"/>
            </a:pPr>
            <a:r>
              <a:rPr lang="en-US" dirty="0">
                <a:solidFill>
                  <a:schemeClr val="bg1"/>
                </a:solidFill>
              </a:rPr>
              <a:t>Field mapping of assets between Smart FM and IFM Hub</a:t>
            </a:r>
          </a:p>
          <a:p>
            <a:pPr marL="285750" indent="-285750">
              <a:buFont typeface="Arial" panose="020B0604020202020204" pitchFamily="34" charset="0"/>
              <a:buChar char="•"/>
            </a:pPr>
            <a:r>
              <a:rPr lang="en-US" dirty="0">
                <a:solidFill>
                  <a:schemeClr val="bg1"/>
                </a:solidFill>
              </a:rPr>
              <a:t>Various approaches for perfect and partial matches of assets from Smart FM to IFM Hub</a:t>
            </a:r>
          </a:p>
          <a:p>
            <a:pPr marL="285750" indent="-285750">
              <a:buFont typeface="Arial" panose="020B0604020202020204" pitchFamily="34" charset="0"/>
              <a:buChar char="•"/>
            </a:pPr>
            <a:r>
              <a:rPr lang="en-US" dirty="0">
                <a:solidFill>
                  <a:schemeClr val="bg1"/>
                </a:solidFill>
              </a:rPr>
              <a:t>Parameters and sample data for match approaches</a:t>
            </a:r>
          </a:p>
          <a:p>
            <a:pPr marL="285750" indent="-285750">
              <a:buFont typeface="Arial" panose="020B0604020202020204" pitchFamily="34" charset="0"/>
              <a:buChar char="•"/>
            </a:pPr>
            <a:r>
              <a:rPr lang="en-US" dirty="0">
                <a:solidFill>
                  <a:schemeClr val="bg1"/>
                </a:solidFill>
              </a:rPr>
              <a:t>Analysis on the UAT clients  -  Fifth Third Bank, Hartford, </a:t>
            </a:r>
            <a:r>
              <a:rPr lang="en-US" dirty="0" err="1">
                <a:solidFill>
                  <a:schemeClr val="bg1"/>
                </a:solidFill>
              </a:rPr>
              <a:t>Statefarm</a:t>
            </a:r>
            <a:r>
              <a:rPr lang="en-US" dirty="0">
                <a:solidFill>
                  <a:schemeClr val="bg1"/>
                </a:solidFill>
              </a:rPr>
              <a:t> and Prod Client - Alaska Airlines </a:t>
            </a:r>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4188003995"/>
      </p:ext>
    </p:extLst>
  </p:cSld>
  <p:clrMapOvr>
    <a:masterClrMapping/>
  </p:clrMapOvr>
  <mc:AlternateContent xmlns:mc="http://schemas.openxmlformats.org/markup-compatibility/2006" xmlns:p14="http://schemas.microsoft.com/office/powerpoint/2010/main">
    <mc:Choice Requires="p14">
      <p:transition spd="slow" p14:dur="2000" advTm="12634"/>
    </mc:Choice>
    <mc:Fallback xmlns="">
      <p:transition spd="slow" advTm="12634"/>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55512B-3AE7-AE06-9BC6-221326A688A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F12C4DC2-8124-40A6-C77C-9668A55725F6}"/>
              </a:ext>
            </a:extLst>
          </p:cNvPr>
          <p:cNvSpPr>
            <a:spLocks noGrp="1"/>
          </p:cNvSpPr>
          <p:nvPr>
            <p:ph type="title"/>
          </p:nvPr>
        </p:nvSpPr>
        <p:spPr>
          <a:xfrm>
            <a:off x="225357" y="1874987"/>
            <a:ext cx="11741286" cy="461372"/>
          </a:xfrm>
        </p:spPr>
        <p:txBody>
          <a:bodyPr anchor="t">
            <a:normAutofit fontScale="90000"/>
          </a:bodyPr>
          <a:lstStyle/>
          <a:p>
            <a:pPr algn="ctr"/>
            <a:r>
              <a:rPr lang="en-US" sz="2400" dirty="0">
                <a:latin typeface="Financier Display Semibold"/>
              </a:rPr>
              <a:t>Mapping Approaches for Clients – State Farm, Hartford, Fifth Third Bank (UAT)</a:t>
            </a:r>
            <a:br>
              <a:rPr lang="en-US" sz="2400" dirty="0">
                <a:latin typeface="Financier Display Semibold" panose="02020703070506060203" pitchFamily="18" charset="0"/>
              </a:rPr>
            </a:br>
            <a:br>
              <a:rPr lang="en-US" sz="2400" dirty="0">
                <a:latin typeface="Financier Display Semibold" panose="02020703070506060203" pitchFamily="18" charset="0"/>
              </a:rPr>
            </a:br>
            <a:br>
              <a:rPr lang="en-US" sz="2400" dirty="0">
                <a:latin typeface="Financier Display Semibold" panose="02020703070506060203" pitchFamily="18" charset="0"/>
              </a:rPr>
            </a:br>
            <a:br>
              <a:rPr lang="en-US" sz="800" dirty="0">
                <a:solidFill>
                  <a:schemeClr val="accent3"/>
                </a:solidFill>
              </a:rPr>
            </a:br>
            <a:endParaRPr lang="en-US" sz="2400" dirty="0">
              <a:latin typeface="Financier Display Semibold" panose="02020703070506060203" pitchFamily="18" charset="0"/>
            </a:endParaRPr>
          </a:p>
        </p:txBody>
      </p:sp>
    </p:spTree>
    <p:extLst>
      <p:ext uri="{BB962C8B-B14F-4D97-AF65-F5344CB8AC3E}">
        <p14:creationId xmlns:p14="http://schemas.microsoft.com/office/powerpoint/2010/main" val="3119403020"/>
      </p:ext>
    </p:extLst>
  </p:cSld>
  <p:clrMapOvr>
    <a:masterClrMapping/>
  </p:clrMapOvr>
  <mc:AlternateContent xmlns:mc="http://schemas.openxmlformats.org/markup-compatibility/2006" xmlns:p14="http://schemas.microsoft.com/office/powerpoint/2010/main">
    <mc:Choice Requires="p14">
      <p:transition spd="slow" p14:dur="2000" advTm="12634"/>
    </mc:Choice>
    <mc:Fallback xmlns="">
      <p:transition spd="slow" advTm="12634"/>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065B90-0C5A-292C-7BB5-C4CEB7F5AC8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D59AA85-CA6F-1340-C82A-F52B8BE3A10D}"/>
              </a:ext>
            </a:extLst>
          </p:cNvPr>
          <p:cNvSpPr txBox="1"/>
          <p:nvPr/>
        </p:nvSpPr>
        <p:spPr>
          <a:xfrm>
            <a:off x="297925" y="743694"/>
            <a:ext cx="6361209" cy="369332"/>
          </a:xfrm>
          <a:prstGeom prst="rect">
            <a:avLst/>
          </a:prstGeom>
          <a:noFill/>
        </p:spPr>
        <p:txBody>
          <a:bodyPr wrap="square" rtlCol="0">
            <a:spAutoFit/>
          </a:bodyPr>
          <a:lstStyle/>
          <a:p>
            <a:r>
              <a:rPr lang="en-US" b="1" dirty="0">
                <a:solidFill>
                  <a:schemeClr val="accent6">
                    <a:lumMod val="50000"/>
                  </a:schemeClr>
                </a:solidFill>
                <a:latin typeface="Calibre Medium" panose="020B0603030202060203" pitchFamily="34" charset="0"/>
              </a:rPr>
              <a:t>Approaches for Perfect Match Condition</a:t>
            </a:r>
          </a:p>
        </p:txBody>
      </p:sp>
      <p:sp>
        <p:nvSpPr>
          <p:cNvPr id="4" name="TextBox 3">
            <a:extLst>
              <a:ext uri="{FF2B5EF4-FFF2-40B4-BE49-F238E27FC236}">
                <a16:creationId xmlns:a16="http://schemas.microsoft.com/office/drawing/2014/main" id="{AC22D0DB-3779-90CE-4F3A-5230723D6E7C}"/>
              </a:ext>
            </a:extLst>
          </p:cNvPr>
          <p:cNvSpPr txBox="1"/>
          <p:nvPr/>
        </p:nvSpPr>
        <p:spPr>
          <a:xfrm>
            <a:off x="297925" y="1128326"/>
            <a:ext cx="11596149" cy="1754326"/>
          </a:xfrm>
          <a:prstGeom prst="rect">
            <a:avLst/>
          </a:prstGeom>
          <a:noFill/>
        </p:spPr>
        <p:txBody>
          <a:bodyPr wrap="square">
            <a:spAutoFit/>
          </a:bodyPr>
          <a:lstStyle/>
          <a:p>
            <a:pPr algn="just"/>
            <a:r>
              <a:rPr lang="en-US" sz="1800" dirty="0">
                <a:solidFill>
                  <a:schemeClr val="bg2">
                    <a:lumMod val="25000"/>
                  </a:schemeClr>
                </a:solidFill>
                <a:latin typeface="Amasis MT Pro Medium" panose="02040604050005020304" pitchFamily="18" charset="0"/>
              </a:rPr>
              <a:t>We formulated 3 approaches for a perfect match of assets from Smart FM to IFM Hub data after matching the client</a:t>
            </a:r>
          </a:p>
          <a:p>
            <a:pPr algn="just"/>
            <a:endParaRPr lang="en-US" sz="1800" dirty="0"/>
          </a:p>
          <a:p>
            <a:pPr algn="just"/>
            <a:endParaRPr lang="en-US" sz="1800" dirty="0"/>
          </a:p>
          <a:p>
            <a:pPr algn="just"/>
            <a:endParaRPr lang="en-US" sz="1800" dirty="0"/>
          </a:p>
          <a:p>
            <a:pPr algn="just"/>
            <a:endParaRPr lang="en-US" sz="1800" dirty="0"/>
          </a:p>
        </p:txBody>
      </p:sp>
      <p:sp>
        <p:nvSpPr>
          <p:cNvPr id="5" name="Rectangle: Rounded Corners 4">
            <a:extLst>
              <a:ext uri="{FF2B5EF4-FFF2-40B4-BE49-F238E27FC236}">
                <a16:creationId xmlns:a16="http://schemas.microsoft.com/office/drawing/2014/main" id="{A2588212-CAC4-B076-A8BA-62E466870278}"/>
              </a:ext>
            </a:extLst>
          </p:cNvPr>
          <p:cNvSpPr/>
          <p:nvPr/>
        </p:nvSpPr>
        <p:spPr>
          <a:xfrm>
            <a:off x="263634" y="2076748"/>
            <a:ext cx="3214895" cy="413355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b="1" dirty="0">
                <a:solidFill>
                  <a:schemeClr val="bg2"/>
                </a:solidFill>
                <a:latin typeface="Amasis MT Pro Black" panose="020F0502020204030204" pitchFamily="18" charset="0"/>
              </a:rPr>
              <a:t>Approach 1</a:t>
            </a:r>
          </a:p>
          <a:p>
            <a:pPr marL="285750" indent="-285750">
              <a:buFont typeface="Arial" panose="020B0604020202020204" pitchFamily="34" charset="0"/>
              <a:buChar char="•"/>
            </a:pPr>
            <a:endParaRPr lang="en-US" sz="1000" dirty="0"/>
          </a:p>
          <a:p>
            <a:pPr marL="285750" indent="-285750">
              <a:buFont typeface="Arial" panose="020B0604020202020204" pitchFamily="34" charset="0"/>
              <a:buChar char="•"/>
            </a:pPr>
            <a:r>
              <a:rPr lang="en-US" sz="1600" dirty="0"/>
              <a:t>Asset Type/ Position Type</a:t>
            </a:r>
          </a:p>
          <a:p>
            <a:pPr marL="285750" indent="-285750">
              <a:buFont typeface="Arial" panose="020B0604020202020204" pitchFamily="34" charset="0"/>
              <a:buChar char="•"/>
            </a:pPr>
            <a:r>
              <a:rPr lang="en-US" sz="1600" dirty="0"/>
              <a:t>Asset Name</a:t>
            </a:r>
          </a:p>
          <a:p>
            <a:pPr marL="285750" indent="-285750">
              <a:buFont typeface="Arial" panose="020B0604020202020204" pitchFamily="34" charset="0"/>
              <a:buChar char="•"/>
            </a:pPr>
            <a:r>
              <a:rPr lang="en-US" sz="1600" dirty="0"/>
              <a:t>Asset Properties </a:t>
            </a:r>
          </a:p>
          <a:p>
            <a:pPr marL="742950" lvl="1" indent="-285750">
              <a:buFont typeface="Arial" panose="020B0604020202020204" pitchFamily="34" charset="0"/>
              <a:buChar char="•"/>
            </a:pPr>
            <a:r>
              <a:rPr lang="en-US" sz="1600" dirty="0"/>
              <a:t>Make/Manufacturer</a:t>
            </a:r>
          </a:p>
          <a:p>
            <a:pPr marL="742950" lvl="1" indent="-285750">
              <a:buFont typeface="Arial" panose="020B0604020202020204" pitchFamily="34" charset="0"/>
              <a:buChar char="•"/>
            </a:pPr>
            <a:r>
              <a:rPr lang="en-US" sz="1600" dirty="0"/>
              <a:t>Model</a:t>
            </a:r>
          </a:p>
          <a:p>
            <a:pPr marL="742950" lvl="1" indent="-285750">
              <a:buFont typeface="Arial" panose="020B0604020202020204" pitchFamily="34" charset="0"/>
              <a:buChar char="•"/>
            </a:pPr>
            <a:r>
              <a:rPr lang="en-US" sz="1600" dirty="0"/>
              <a:t>Serial</a:t>
            </a:r>
          </a:p>
          <a:p>
            <a:pPr marL="285750" indent="-285750">
              <a:buFont typeface="Arial" panose="020B0604020202020204" pitchFamily="34" charset="0"/>
              <a:buChar char="•"/>
            </a:pPr>
            <a:r>
              <a:rPr lang="en-US" sz="1600" dirty="0"/>
              <a:t>Asset Location</a:t>
            </a:r>
          </a:p>
          <a:p>
            <a:pPr marL="742950" lvl="1" indent="-285750">
              <a:buFont typeface="Arial" panose="020B0604020202020204" pitchFamily="34" charset="0"/>
              <a:buChar char="•"/>
            </a:pPr>
            <a:r>
              <a:rPr lang="en-US" sz="1600" dirty="0"/>
              <a:t>Country</a:t>
            </a:r>
          </a:p>
          <a:p>
            <a:pPr marL="742950" lvl="1" indent="-285750">
              <a:buFont typeface="Arial" panose="020B0604020202020204" pitchFamily="34" charset="0"/>
              <a:buChar char="•"/>
            </a:pPr>
            <a:r>
              <a:rPr lang="en-US" sz="1600" dirty="0"/>
              <a:t>State</a:t>
            </a:r>
          </a:p>
          <a:p>
            <a:pPr marL="742950" lvl="1" indent="-285750">
              <a:buFont typeface="Arial" panose="020B0604020202020204" pitchFamily="34" charset="0"/>
              <a:buChar char="•"/>
            </a:pPr>
            <a:r>
              <a:rPr lang="en-US" sz="1600" dirty="0"/>
              <a:t>City</a:t>
            </a:r>
          </a:p>
          <a:p>
            <a:pPr marL="742950" lvl="1" indent="-285750">
              <a:buFont typeface="Arial" panose="020B0604020202020204" pitchFamily="34" charset="0"/>
              <a:buChar char="•"/>
            </a:pPr>
            <a:r>
              <a:rPr lang="en-US" sz="1600" dirty="0"/>
              <a:t>Region</a:t>
            </a:r>
          </a:p>
          <a:p>
            <a:pPr marL="285750" indent="-285750">
              <a:buFont typeface="Arial" panose="020B0604020202020204" pitchFamily="34" charset="0"/>
              <a:buChar char="•"/>
            </a:pPr>
            <a:endParaRPr lang="en-US" dirty="0"/>
          </a:p>
        </p:txBody>
      </p:sp>
      <p:sp>
        <p:nvSpPr>
          <p:cNvPr id="9" name="Rectangle: Rounded Corners 8">
            <a:extLst>
              <a:ext uri="{FF2B5EF4-FFF2-40B4-BE49-F238E27FC236}">
                <a16:creationId xmlns:a16="http://schemas.microsoft.com/office/drawing/2014/main" id="{4D67DF30-5900-FDEE-693B-1C95A8965B94}"/>
              </a:ext>
            </a:extLst>
          </p:cNvPr>
          <p:cNvSpPr/>
          <p:nvPr/>
        </p:nvSpPr>
        <p:spPr>
          <a:xfrm>
            <a:off x="4147556" y="2088476"/>
            <a:ext cx="3214895" cy="413355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b="1" dirty="0">
                <a:solidFill>
                  <a:schemeClr val="bg2"/>
                </a:solidFill>
                <a:latin typeface="Amasis MT Pro Black" panose="020F0502020204030204" pitchFamily="18" charset="0"/>
              </a:rPr>
              <a:t>Approach 2</a:t>
            </a:r>
          </a:p>
          <a:p>
            <a:pPr marL="285750" indent="-285750">
              <a:buFont typeface="Arial" panose="020B0604020202020204" pitchFamily="34" charset="0"/>
              <a:buChar char="•"/>
            </a:pPr>
            <a:endParaRPr lang="en-US" sz="1000" dirty="0"/>
          </a:p>
          <a:p>
            <a:pPr marL="285750" indent="-285750">
              <a:buFont typeface="Arial" panose="020B0604020202020204" pitchFamily="34" charset="0"/>
              <a:buChar char="•"/>
            </a:pPr>
            <a:r>
              <a:rPr lang="en-US" sz="1600" dirty="0"/>
              <a:t>Asset Type/ Position Type</a:t>
            </a:r>
          </a:p>
          <a:p>
            <a:pPr marL="285750" indent="-285750">
              <a:buFont typeface="Arial" panose="020B0604020202020204" pitchFamily="34" charset="0"/>
              <a:buChar char="•"/>
            </a:pPr>
            <a:r>
              <a:rPr lang="en-US" sz="1600" dirty="0"/>
              <a:t>Asset Name</a:t>
            </a:r>
          </a:p>
          <a:p>
            <a:pPr marL="285750" indent="-285750">
              <a:buFont typeface="Arial" panose="020B0604020202020204" pitchFamily="34" charset="0"/>
              <a:buChar char="•"/>
            </a:pPr>
            <a:r>
              <a:rPr lang="en-US" sz="1600" dirty="0"/>
              <a:t>Asset Location</a:t>
            </a:r>
          </a:p>
          <a:p>
            <a:pPr marL="742950" lvl="1" indent="-285750">
              <a:buFont typeface="Arial" panose="020B0604020202020204" pitchFamily="34" charset="0"/>
              <a:buChar char="•"/>
            </a:pPr>
            <a:r>
              <a:rPr lang="en-US" sz="1600" dirty="0"/>
              <a:t>Country</a:t>
            </a:r>
          </a:p>
          <a:p>
            <a:pPr marL="742950" lvl="1" indent="-285750">
              <a:buFont typeface="Arial" panose="020B0604020202020204" pitchFamily="34" charset="0"/>
              <a:buChar char="•"/>
            </a:pPr>
            <a:r>
              <a:rPr lang="en-US" sz="1600" dirty="0"/>
              <a:t>State</a:t>
            </a:r>
          </a:p>
          <a:p>
            <a:pPr marL="742950" lvl="1" indent="-285750">
              <a:buFont typeface="Arial" panose="020B0604020202020204" pitchFamily="34" charset="0"/>
              <a:buChar char="•"/>
            </a:pPr>
            <a:r>
              <a:rPr lang="en-US" sz="1600" dirty="0"/>
              <a:t>City</a:t>
            </a:r>
          </a:p>
          <a:p>
            <a:pPr marL="742950" lvl="1" indent="-285750">
              <a:buFont typeface="Arial" panose="020B0604020202020204" pitchFamily="34" charset="0"/>
              <a:buChar char="•"/>
            </a:pPr>
            <a:r>
              <a:rPr lang="en-US" sz="1600" dirty="0"/>
              <a:t>Region</a:t>
            </a:r>
          </a:p>
          <a:p>
            <a:pPr marL="742950" lvl="1" indent="-285750">
              <a:buFont typeface="Arial" panose="020B0604020202020204" pitchFamily="34" charset="0"/>
              <a:buChar char="•"/>
            </a:pPr>
            <a:r>
              <a:rPr lang="en-US" sz="1600" dirty="0"/>
              <a:t>Building/Site</a:t>
            </a:r>
          </a:p>
          <a:p>
            <a:pPr marL="285750" indent="-285750">
              <a:buFont typeface="Arial" panose="020B0604020202020204" pitchFamily="34" charset="0"/>
              <a:buChar char="•"/>
            </a:pPr>
            <a:endParaRPr lang="en-US" dirty="0"/>
          </a:p>
        </p:txBody>
      </p:sp>
      <p:sp>
        <p:nvSpPr>
          <p:cNvPr id="10" name="Rectangle: Rounded Corners 9">
            <a:extLst>
              <a:ext uri="{FF2B5EF4-FFF2-40B4-BE49-F238E27FC236}">
                <a16:creationId xmlns:a16="http://schemas.microsoft.com/office/drawing/2014/main" id="{F62BE671-266E-1CC0-02D4-5729D007E6A3}"/>
              </a:ext>
            </a:extLst>
          </p:cNvPr>
          <p:cNvSpPr/>
          <p:nvPr/>
        </p:nvSpPr>
        <p:spPr>
          <a:xfrm>
            <a:off x="8031478" y="2088476"/>
            <a:ext cx="3214895" cy="413355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b="1" dirty="0">
                <a:solidFill>
                  <a:schemeClr val="bg2"/>
                </a:solidFill>
                <a:latin typeface="Amasis MT Pro Black" panose="020F0502020204030204" pitchFamily="18" charset="0"/>
              </a:rPr>
              <a:t>Approach 3</a:t>
            </a:r>
          </a:p>
          <a:p>
            <a:pPr algn="ctr"/>
            <a:endParaRPr lang="en-US" sz="1000" dirty="0"/>
          </a:p>
          <a:p>
            <a:pPr marL="285750" indent="-285750">
              <a:buFont typeface="Arial" panose="020B0604020202020204" pitchFamily="34" charset="0"/>
              <a:buChar char="•"/>
            </a:pPr>
            <a:r>
              <a:rPr lang="en-US" sz="1600" dirty="0"/>
              <a:t>Asset Type/ Position Type</a:t>
            </a:r>
          </a:p>
          <a:p>
            <a:pPr marL="285750" indent="-285750">
              <a:buFont typeface="Arial" panose="020B0604020202020204" pitchFamily="34" charset="0"/>
              <a:buChar char="•"/>
            </a:pPr>
            <a:r>
              <a:rPr lang="en-US" sz="1600" dirty="0"/>
              <a:t>Asset Properties </a:t>
            </a:r>
          </a:p>
          <a:p>
            <a:pPr marL="742950" lvl="1" indent="-285750">
              <a:buFont typeface="Arial" panose="020B0604020202020204" pitchFamily="34" charset="0"/>
              <a:buChar char="•"/>
            </a:pPr>
            <a:r>
              <a:rPr lang="en-US" sz="1600" dirty="0"/>
              <a:t>Make/Manufacturer</a:t>
            </a:r>
          </a:p>
          <a:p>
            <a:pPr marL="742950" lvl="1" indent="-285750">
              <a:buFont typeface="Arial" panose="020B0604020202020204" pitchFamily="34" charset="0"/>
              <a:buChar char="•"/>
            </a:pPr>
            <a:r>
              <a:rPr lang="en-US" sz="1600" dirty="0"/>
              <a:t>Model</a:t>
            </a:r>
          </a:p>
          <a:p>
            <a:pPr marL="742950" lvl="1" indent="-285750">
              <a:buFont typeface="Arial" panose="020B0604020202020204" pitchFamily="34" charset="0"/>
              <a:buChar char="•"/>
            </a:pPr>
            <a:r>
              <a:rPr lang="en-US" sz="1600" dirty="0"/>
              <a:t>Serial</a:t>
            </a:r>
          </a:p>
          <a:p>
            <a:pPr marL="285750" indent="-285750">
              <a:buFont typeface="Arial" panose="020B0604020202020204" pitchFamily="34" charset="0"/>
              <a:buChar char="•"/>
            </a:pPr>
            <a:r>
              <a:rPr lang="en-US" sz="1600" dirty="0"/>
              <a:t>Asset Location</a:t>
            </a:r>
          </a:p>
          <a:p>
            <a:pPr marL="742950" lvl="1" indent="-285750">
              <a:buFont typeface="Arial" panose="020B0604020202020204" pitchFamily="34" charset="0"/>
              <a:buChar char="•"/>
            </a:pPr>
            <a:r>
              <a:rPr lang="en-US" sz="1600" dirty="0"/>
              <a:t>Country</a:t>
            </a:r>
          </a:p>
          <a:p>
            <a:pPr marL="742950" lvl="1" indent="-285750">
              <a:buFont typeface="Arial" panose="020B0604020202020204" pitchFamily="34" charset="0"/>
              <a:buChar char="•"/>
            </a:pPr>
            <a:r>
              <a:rPr lang="en-US" sz="1600" dirty="0"/>
              <a:t>State</a:t>
            </a:r>
          </a:p>
          <a:p>
            <a:pPr marL="742950" lvl="1" indent="-285750">
              <a:buFont typeface="Arial" panose="020B0604020202020204" pitchFamily="34" charset="0"/>
              <a:buChar char="•"/>
            </a:pPr>
            <a:r>
              <a:rPr lang="en-US" sz="1600" dirty="0"/>
              <a:t>City</a:t>
            </a:r>
          </a:p>
          <a:p>
            <a:pPr marL="742950" lvl="1" indent="-285750">
              <a:buFont typeface="Arial" panose="020B0604020202020204" pitchFamily="34" charset="0"/>
              <a:buChar char="•"/>
            </a:pPr>
            <a:r>
              <a:rPr lang="en-US" sz="1600" dirty="0"/>
              <a:t>Region</a:t>
            </a:r>
          </a:p>
          <a:p>
            <a:pPr marL="742950" lvl="1" indent="-285750">
              <a:buFont typeface="Arial" panose="020B0604020202020204" pitchFamily="34" charset="0"/>
              <a:buChar char="•"/>
            </a:pPr>
            <a:r>
              <a:rPr lang="en-US" sz="1600" dirty="0"/>
              <a:t>Building/Site</a:t>
            </a:r>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175030867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057220-2913-8ED7-48C3-B527888FE9F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79867B5-784F-F045-395E-F03E9854D26A}"/>
              </a:ext>
            </a:extLst>
          </p:cNvPr>
          <p:cNvSpPr txBox="1"/>
          <p:nvPr/>
        </p:nvSpPr>
        <p:spPr>
          <a:xfrm>
            <a:off x="367251" y="693420"/>
            <a:ext cx="6361209" cy="369332"/>
          </a:xfrm>
          <a:prstGeom prst="rect">
            <a:avLst/>
          </a:prstGeom>
          <a:noFill/>
        </p:spPr>
        <p:txBody>
          <a:bodyPr wrap="square" rtlCol="0">
            <a:spAutoFit/>
          </a:bodyPr>
          <a:lstStyle/>
          <a:p>
            <a:r>
              <a:rPr lang="en-US" b="1" dirty="0">
                <a:solidFill>
                  <a:schemeClr val="accent6">
                    <a:lumMod val="50000"/>
                  </a:schemeClr>
                </a:solidFill>
                <a:latin typeface="Calibre Medium" panose="020B0603030202060203" pitchFamily="34" charset="0"/>
              </a:rPr>
              <a:t>Perfect Match – Approach 1 </a:t>
            </a:r>
            <a:r>
              <a:rPr lang="en-US" sz="1200" b="1" dirty="0">
                <a:solidFill>
                  <a:schemeClr val="accent6">
                    <a:lumMod val="50000"/>
                  </a:schemeClr>
                </a:solidFill>
                <a:latin typeface="Calibre Medium" panose="020B0603030202060203" pitchFamily="34" charset="0"/>
              </a:rPr>
              <a:t>(no Building/Site in consideration)</a:t>
            </a:r>
          </a:p>
        </p:txBody>
      </p:sp>
      <p:sp>
        <p:nvSpPr>
          <p:cNvPr id="3" name="Rectangle: Rounded Corners 2">
            <a:extLst>
              <a:ext uri="{FF2B5EF4-FFF2-40B4-BE49-F238E27FC236}">
                <a16:creationId xmlns:a16="http://schemas.microsoft.com/office/drawing/2014/main" id="{C8F59ACA-22AC-8BBB-9502-F2FBEBEF7210}"/>
              </a:ext>
            </a:extLst>
          </p:cNvPr>
          <p:cNvSpPr/>
          <p:nvPr/>
        </p:nvSpPr>
        <p:spPr>
          <a:xfrm>
            <a:off x="332961" y="1362224"/>
            <a:ext cx="2433100" cy="355267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400" b="1" dirty="0">
                <a:solidFill>
                  <a:schemeClr val="bg2"/>
                </a:solidFill>
                <a:latin typeface="Amasis MT Pro Black" panose="020F0502020204030204" pitchFamily="18" charset="0"/>
              </a:rPr>
              <a:t>Approach 1</a:t>
            </a:r>
          </a:p>
          <a:p>
            <a:pPr marL="285750" indent="-285750">
              <a:buFont typeface="Arial" panose="020B0604020202020204" pitchFamily="34" charset="0"/>
              <a:buChar char="•"/>
            </a:pPr>
            <a:endParaRPr lang="en-US" sz="1400" dirty="0"/>
          </a:p>
          <a:p>
            <a:pPr marL="285750" indent="-285750">
              <a:buFont typeface="Arial" panose="020B0604020202020204" pitchFamily="34" charset="0"/>
              <a:buChar char="•"/>
            </a:pPr>
            <a:r>
              <a:rPr lang="en-US" sz="1400" dirty="0"/>
              <a:t>Asset Type/ Position Type</a:t>
            </a:r>
          </a:p>
          <a:p>
            <a:pPr marL="285750" indent="-285750">
              <a:buFont typeface="Arial" panose="020B0604020202020204" pitchFamily="34" charset="0"/>
              <a:buChar char="•"/>
            </a:pPr>
            <a:r>
              <a:rPr lang="en-US" sz="1400" dirty="0"/>
              <a:t>Asset Name</a:t>
            </a:r>
          </a:p>
          <a:p>
            <a:pPr marL="285750" indent="-285750">
              <a:buFont typeface="Arial" panose="020B0604020202020204" pitchFamily="34" charset="0"/>
              <a:buChar char="•"/>
            </a:pPr>
            <a:r>
              <a:rPr lang="en-US" sz="1400" dirty="0"/>
              <a:t>Asset Properties </a:t>
            </a:r>
          </a:p>
          <a:p>
            <a:pPr marL="742950" lvl="1" indent="-285750">
              <a:buFont typeface="Arial" panose="020B0604020202020204" pitchFamily="34" charset="0"/>
              <a:buChar char="•"/>
            </a:pPr>
            <a:r>
              <a:rPr lang="en-US" sz="1400" dirty="0"/>
              <a:t>Manufacturer</a:t>
            </a:r>
          </a:p>
          <a:p>
            <a:pPr marL="742950" lvl="1" indent="-285750">
              <a:buFont typeface="Arial" panose="020B0604020202020204" pitchFamily="34" charset="0"/>
              <a:buChar char="•"/>
            </a:pPr>
            <a:r>
              <a:rPr lang="en-US" sz="1400" dirty="0"/>
              <a:t>Model</a:t>
            </a:r>
          </a:p>
          <a:p>
            <a:pPr marL="742950" lvl="1" indent="-285750">
              <a:buFont typeface="Arial" panose="020B0604020202020204" pitchFamily="34" charset="0"/>
              <a:buChar char="•"/>
            </a:pPr>
            <a:r>
              <a:rPr lang="en-US" sz="1400" dirty="0"/>
              <a:t>Serial</a:t>
            </a:r>
          </a:p>
          <a:p>
            <a:pPr marL="285750" indent="-285750">
              <a:buFont typeface="Arial" panose="020B0604020202020204" pitchFamily="34" charset="0"/>
              <a:buChar char="•"/>
            </a:pPr>
            <a:r>
              <a:rPr lang="en-US" sz="1400" dirty="0"/>
              <a:t>Asset Location</a:t>
            </a:r>
          </a:p>
          <a:p>
            <a:pPr marL="742950" lvl="1" indent="-285750">
              <a:buFont typeface="Arial" panose="020B0604020202020204" pitchFamily="34" charset="0"/>
              <a:buChar char="•"/>
            </a:pPr>
            <a:r>
              <a:rPr lang="en-US" sz="1400" dirty="0"/>
              <a:t>Country</a:t>
            </a:r>
          </a:p>
          <a:p>
            <a:pPr marL="742950" lvl="1" indent="-285750">
              <a:buFont typeface="Arial" panose="020B0604020202020204" pitchFamily="34" charset="0"/>
              <a:buChar char="•"/>
            </a:pPr>
            <a:r>
              <a:rPr lang="en-US" sz="1400" dirty="0"/>
              <a:t>State</a:t>
            </a:r>
          </a:p>
          <a:p>
            <a:pPr marL="742950" lvl="1" indent="-285750">
              <a:buFont typeface="Arial" panose="020B0604020202020204" pitchFamily="34" charset="0"/>
              <a:buChar char="•"/>
            </a:pPr>
            <a:r>
              <a:rPr lang="en-US" sz="1400" dirty="0"/>
              <a:t>City</a:t>
            </a:r>
          </a:p>
          <a:p>
            <a:pPr marL="742950" lvl="1" indent="-285750">
              <a:buFont typeface="Arial" panose="020B0604020202020204" pitchFamily="34" charset="0"/>
              <a:buChar char="•"/>
            </a:pPr>
            <a:r>
              <a:rPr lang="en-US" sz="1400" dirty="0"/>
              <a:t>Region</a:t>
            </a:r>
          </a:p>
          <a:p>
            <a:pPr marL="285750" indent="-285750">
              <a:buFont typeface="Arial" panose="020B0604020202020204" pitchFamily="34" charset="0"/>
              <a:buChar char="•"/>
            </a:pPr>
            <a:endParaRPr lang="en-US" dirty="0"/>
          </a:p>
        </p:txBody>
      </p:sp>
      <p:sp>
        <p:nvSpPr>
          <p:cNvPr id="4" name="TextBox 3">
            <a:extLst>
              <a:ext uri="{FF2B5EF4-FFF2-40B4-BE49-F238E27FC236}">
                <a16:creationId xmlns:a16="http://schemas.microsoft.com/office/drawing/2014/main" id="{5E3C2935-D066-8340-7CF7-B09E445C92C9}"/>
              </a:ext>
            </a:extLst>
          </p:cNvPr>
          <p:cNvSpPr txBox="1"/>
          <p:nvPr/>
        </p:nvSpPr>
        <p:spPr>
          <a:xfrm>
            <a:off x="3116580" y="1191339"/>
            <a:ext cx="8742459" cy="4616648"/>
          </a:xfrm>
          <a:prstGeom prst="rect">
            <a:avLst/>
          </a:prstGeom>
          <a:noFill/>
        </p:spPr>
        <p:txBody>
          <a:bodyPr wrap="square" rtlCol="0">
            <a:spAutoFit/>
          </a:bodyPr>
          <a:lstStyle/>
          <a:p>
            <a:pPr algn="just"/>
            <a:r>
              <a:rPr lang="en-US" sz="1400" b="1" i="1" dirty="0">
                <a:solidFill>
                  <a:schemeClr val="accent6">
                    <a:lumMod val="50000"/>
                  </a:schemeClr>
                </a:solidFill>
              </a:rPr>
              <a:t>Conditions –</a:t>
            </a:r>
          </a:p>
          <a:p>
            <a:pPr algn="just"/>
            <a:endParaRPr lang="en-US" sz="1400" b="1" i="1" dirty="0">
              <a:solidFill>
                <a:schemeClr val="accent6">
                  <a:lumMod val="50000"/>
                </a:schemeClr>
              </a:solidFill>
            </a:endParaRPr>
          </a:p>
          <a:p>
            <a:pPr algn="just"/>
            <a:r>
              <a:rPr lang="en-US" sz="1400" dirty="0"/>
              <a:t>	The Equipment type in SFM should match perfectly with Position Type in IFM                           OR</a:t>
            </a:r>
          </a:p>
          <a:p>
            <a:pPr algn="just"/>
            <a:r>
              <a:rPr lang="en-US" sz="1400" dirty="0"/>
              <a:t>	The Equipment Type in SFM is blank/null/ other                                                                                        OR</a:t>
            </a:r>
          </a:p>
          <a:p>
            <a:pPr algn="just"/>
            <a:r>
              <a:rPr lang="en-US" sz="1400" dirty="0"/>
              <a:t>	The Equipment type in SFM matches with Position type in IFM one step up level. </a:t>
            </a:r>
          </a:p>
          <a:p>
            <a:pPr algn="just"/>
            <a:r>
              <a:rPr lang="en-US" sz="1400" dirty="0"/>
              <a:t>AND</a:t>
            </a:r>
          </a:p>
          <a:p>
            <a:pPr algn="just"/>
            <a:r>
              <a:rPr lang="en-US" sz="1400" dirty="0"/>
              <a:t>	 The </a:t>
            </a:r>
            <a:r>
              <a:rPr lang="en-US" sz="1400" dirty="0" err="1"/>
              <a:t>Nav_Name</a:t>
            </a:r>
            <a:r>
              <a:rPr lang="en-US" sz="1400" dirty="0"/>
              <a:t> in SFM matches (90%) with Asset Name in IFM HUB                   	          OR</a:t>
            </a:r>
          </a:p>
          <a:p>
            <a:pPr algn="just"/>
            <a:r>
              <a:rPr lang="en-US" sz="1400" dirty="0"/>
              <a:t>	 The </a:t>
            </a:r>
            <a:r>
              <a:rPr lang="en-US" sz="1400" dirty="0" err="1"/>
              <a:t>Nav_Name</a:t>
            </a:r>
            <a:r>
              <a:rPr lang="en-US" sz="1400" dirty="0"/>
              <a:t> in SFM matches (90%) with Position Name in IFM Hub              	          OR</a:t>
            </a:r>
          </a:p>
          <a:p>
            <a:pPr algn="just"/>
            <a:r>
              <a:rPr lang="en-US" sz="1400" dirty="0"/>
              <a:t>	 The </a:t>
            </a:r>
            <a:r>
              <a:rPr lang="en-US" sz="1400" dirty="0" err="1"/>
              <a:t>Equipment_Name</a:t>
            </a:r>
            <a:r>
              <a:rPr lang="en-US" sz="1400" dirty="0"/>
              <a:t> in SFM matches (90%) with Asset Name in IFM HUB    	          OR </a:t>
            </a:r>
          </a:p>
          <a:p>
            <a:pPr algn="just"/>
            <a:r>
              <a:rPr lang="en-US" sz="1400" dirty="0"/>
              <a:t>	 The </a:t>
            </a:r>
            <a:r>
              <a:rPr lang="en-US" sz="1400" dirty="0" err="1"/>
              <a:t>Equipment_Name</a:t>
            </a:r>
            <a:r>
              <a:rPr lang="en-US" sz="1400" dirty="0"/>
              <a:t> in SFM matches (90%) with Position name in IFM Hub</a:t>
            </a:r>
          </a:p>
          <a:p>
            <a:pPr marL="285750" indent="-285750" algn="just">
              <a:buFont typeface="Arial" panose="020B0604020202020204" pitchFamily="34" charset="0"/>
              <a:buChar char="•"/>
            </a:pPr>
            <a:endParaRPr lang="en-US" sz="1400" dirty="0"/>
          </a:p>
          <a:p>
            <a:pPr algn="just"/>
            <a:r>
              <a:rPr lang="en-US" sz="1400" dirty="0"/>
              <a:t>AND </a:t>
            </a:r>
          </a:p>
          <a:p>
            <a:r>
              <a:rPr lang="en-US" sz="1400" dirty="0"/>
              <a:t>	The </a:t>
            </a:r>
            <a:r>
              <a:rPr lang="en-US" sz="1400" dirty="0" err="1"/>
              <a:t>Equipment_make</a:t>
            </a:r>
            <a:r>
              <a:rPr lang="en-US" sz="1400" dirty="0"/>
              <a:t> in SFM matches (95%) with Manufacturer in IFM HUB                  	           </a:t>
            </a:r>
          </a:p>
          <a:p>
            <a:r>
              <a:rPr lang="en-US" sz="1400" dirty="0"/>
              <a:t>AND</a:t>
            </a:r>
          </a:p>
          <a:p>
            <a:r>
              <a:rPr lang="en-US" sz="1400" dirty="0"/>
              <a:t>	The </a:t>
            </a:r>
            <a:r>
              <a:rPr lang="en-US" sz="1400" dirty="0" err="1"/>
              <a:t>Equipment_Model_Number</a:t>
            </a:r>
            <a:r>
              <a:rPr lang="en-US" sz="1400" dirty="0"/>
              <a:t> in SFM matches (95%) with Model in IFM Hub                         </a:t>
            </a:r>
          </a:p>
          <a:p>
            <a:r>
              <a:rPr lang="en-US" sz="1400" dirty="0"/>
              <a:t>AND</a:t>
            </a:r>
          </a:p>
          <a:p>
            <a:pPr algn="just"/>
            <a:r>
              <a:rPr lang="en-US" sz="1400" dirty="0"/>
              <a:t>	The </a:t>
            </a:r>
            <a:r>
              <a:rPr lang="en-US" sz="1400" dirty="0" err="1"/>
              <a:t>Equipment_Serial_Number</a:t>
            </a:r>
            <a:r>
              <a:rPr lang="en-US" sz="1400" dirty="0"/>
              <a:t> in SFM matches (100%) with Serial Number in IFM HUB    	</a:t>
            </a:r>
          </a:p>
          <a:p>
            <a:pPr algn="just"/>
            <a:r>
              <a:rPr lang="en-US" sz="1400" dirty="0"/>
              <a:t>AND</a:t>
            </a:r>
          </a:p>
          <a:p>
            <a:pPr algn="just"/>
            <a:r>
              <a:rPr lang="en-US" sz="1400" dirty="0"/>
              <a:t>	The combination of Country, State, City in SFM matches (90%) with Region Name in IFM</a:t>
            </a:r>
          </a:p>
          <a:p>
            <a:pPr marL="171450" indent="-171450" algn="just">
              <a:buFont typeface="Arial" panose="020B0604020202020204" pitchFamily="34" charset="0"/>
              <a:buChar char="•"/>
            </a:pPr>
            <a:endParaRPr lang="en-US" sz="1400" dirty="0"/>
          </a:p>
          <a:p>
            <a:pPr algn="just"/>
            <a:endParaRPr lang="en-US" sz="1400" dirty="0"/>
          </a:p>
        </p:txBody>
      </p:sp>
    </p:spTree>
    <p:extLst>
      <p:ext uri="{BB962C8B-B14F-4D97-AF65-F5344CB8AC3E}">
        <p14:creationId xmlns:p14="http://schemas.microsoft.com/office/powerpoint/2010/main" val="219495903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166049-B0B6-F904-AFFC-CF469A19A2C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D897835-1927-00CF-9405-C4A10BA2CF7C}"/>
              </a:ext>
            </a:extLst>
          </p:cNvPr>
          <p:cNvSpPr txBox="1"/>
          <p:nvPr/>
        </p:nvSpPr>
        <p:spPr>
          <a:xfrm>
            <a:off x="367251" y="693420"/>
            <a:ext cx="6361209" cy="369332"/>
          </a:xfrm>
          <a:prstGeom prst="rect">
            <a:avLst/>
          </a:prstGeom>
          <a:noFill/>
        </p:spPr>
        <p:txBody>
          <a:bodyPr wrap="square" rtlCol="0">
            <a:spAutoFit/>
          </a:bodyPr>
          <a:lstStyle/>
          <a:p>
            <a:r>
              <a:rPr lang="en-US" b="1" dirty="0">
                <a:solidFill>
                  <a:schemeClr val="accent6">
                    <a:lumMod val="50000"/>
                  </a:schemeClr>
                </a:solidFill>
                <a:latin typeface="Calibre Medium" panose="020B0603030202060203" pitchFamily="34" charset="0"/>
              </a:rPr>
              <a:t>Sample Matches on Perfect Match - Approach 1</a:t>
            </a:r>
          </a:p>
        </p:txBody>
      </p:sp>
      <p:graphicFrame>
        <p:nvGraphicFramePr>
          <p:cNvPr id="3" name="Table 2">
            <a:extLst>
              <a:ext uri="{FF2B5EF4-FFF2-40B4-BE49-F238E27FC236}">
                <a16:creationId xmlns:a16="http://schemas.microsoft.com/office/drawing/2014/main" id="{6F8B1667-3733-0DC9-805E-0B1144760A86}"/>
              </a:ext>
            </a:extLst>
          </p:cNvPr>
          <p:cNvGraphicFramePr>
            <a:graphicFrameLocks noGrp="1"/>
          </p:cNvGraphicFramePr>
          <p:nvPr>
            <p:extLst>
              <p:ext uri="{D42A27DB-BD31-4B8C-83A1-F6EECF244321}">
                <p14:modId xmlns:p14="http://schemas.microsoft.com/office/powerpoint/2010/main" val="523192000"/>
              </p:ext>
            </p:extLst>
          </p:nvPr>
        </p:nvGraphicFramePr>
        <p:xfrm>
          <a:off x="313911" y="1235027"/>
          <a:ext cx="5271549" cy="2560320"/>
        </p:xfrm>
        <a:graphic>
          <a:graphicData uri="http://schemas.openxmlformats.org/drawingml/2006/table">
            <a:tbl>
              <a:tblPr firstRow="1" bandRow="1">
                <a:tableStyleId>{5C22544A-7EE6-4342-B048-85BDC9FD1C3A}</a:tableStyleId>
              </a:tblPr>
              <a:tblGrid>
                <a:gridCol w="2650269">
                  <a:extLst>
                    <a:ext uri="{9D8B030D-6E8A-4147-A177-3AD203B41FA5}">
                      <a16:colId xmlns:a16="http://schemas.microsoft.com/office/drawing/2014/main" val="1713291588"/>
                    </a:ext>
                  </a:extLst>
                </a:gridCol>
                <a:gridCol w="2621280">
                  <a:extLst>
                    <a:ext uri="{9D8B030D-6E8A-4147-A177-3AD203B41FA5}">
                      <a16:colId xmlns:a16="http://schemas.microsoft.com/office/drawing/2014/main" val="3548403619"/>
                    </a:ext>
                  </a:extLst>
                </a:gridCol>
              </a:tblGrid>
              <a:tr h="0">
                <a:tc>
                  <a:txBody>
                    <a:bodyPr/>
                    <a:lstStyle/>
                    <a:p>
                      <a:r>
                        <a:rPr lang="en-US" sz="1000" dirty="0"/>
                        <a:t>SFM Asset</a:t>
                      </a:r>
                    </a:p>
                  </a:txBody>
                  <a:tcPr/>
                </a:tc>
                <a:tc>
                  <a:txBody>
                    <a:bodyPr/>
                    <a:lstStyle/>
                    <a:p>
                      <a:r>
                        <a:rPr lang="en-US" sz="1000" dirty="0"/>
                        <a:t>IFM Asset</a:t>
                      </a:r>
                    </a:p>
                  </a:txBody>
                  <a:tcPr/>
                </a:tc>
                <a:extLst>
                  <a:ext uri="{0D108BD9-81ED-4DB2-BD59-A6C34878D82A}">
                    <a16:rowId xmlns:a16="http://schemas.microsoft.com/office/drawing/2014/main" val="2599310792"/>
                  </a:ext>
                </a:extLst>
              </a:tr>
              <a:tr h="224532">
                <a:tc>
                  <a:txBody>
                    <a:bodyPr/>
                    <a:lstStyle/>
                    <a:p>
                      <a:r>
                        <a:rPr lang="en-US" sz="1000" b="1" dirty="0">
                          <a:solidFill>
                            <a:srgbClr val="FF0000"/>
                          </a:solidFill>
                        </a:rPr>
                        <a:t>Equipment Type - </a:t>
                      </a:r>
                      <a:r>
                        <a:rPr lang="en-US" sz="1000" b="0" dirty="0">
                          <a:solidFill>
                            <a:srgbClr val="FF0000"/>
                          </a:solidFill>
                        </a:rPr>
                        <a:t>others</a:t>
                      </a:r>
                    </a:p>
                  </a:txBody>
                  <a:tcPr/>
                </a:tc>
                <a:tc>
                  <a:txBody>
                    <a:bodyPr/>
                    <a:lstStyle/>
                    <a:p>
                      <a:r>
                        <a:rPr lang="en-US" sz="1000" b="1" dirty="0">
                          <a:solidFill>
                            <a:srgbClr val="FF0000"/>
                          </a:solidFill>
                        </a:rPr>
                        <a:t>Position Type - </a:t>
                      </a:r>
                      <a:r>
                        <a:rPr lang="en-US" sz="1000" b="0" dirty="0">
                          <a:solidFill>
                            <a:srgbClr val="FF0000"/>
                          </a:solidFill>
                        </a:rPr>
                        <a:t>D3040.02.06 (Air Handling Unit, Chilled Water, No Heat )</a:t>
                      </a:r>
                    </a:p>
                  </a:txBody>
                  <a:tcPr/>
                </a:tc>
                <a:extLst>
                  <a:ext uri="{0D108BD9-81ED-4DB2-BD59-A6C34878D82A}">
                    <a16:rowId xmlns:a16="http://schemas.microsoft.com/office/drawing/2014/main" val="3024384071"/>
                  </a:ext>
                </a:extLst>
              </a:tr>
              <a:tr h="44906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1" dirty="0" err="1"/>
                        <a:t>Nav_Name</a:t>
                      </a:r>
                      <a:r>
                        <a:rPr lang="en-US" sz="1000" b="1" dirty="0"/>
                        <a:t> - </a:t>
                      </a:r>
                      <a:r>
                        <a:rPr lang="en-US" sz="1000" b="0" dirty="0"/>
                        <a:t>RENEWAIRE HE2XIN-Energy Recovery Ventilator</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b="1" dirty="0" err="1"/>
                        <a:t>Equipment_Name</a:t>
                      </a:r>
                      <a:r>
                        <a:rPr lang="en-US" sz="1000" b="1" dirty="0"/>
                        <a:t> - </a:t>
                      </a:r>
                      <a:r>
                        <a:rPr lang="en-US" sz="1000" b="0" dirty="0"/>
                        <a:t>RENEWAIRE HE2XIN-Energy Recovery Ventilator</a:t>
                      </a:r>
                    </a:p>
                  </a:txBody>
                  <a:tcPr/>
                </a:tc>
                <a:tc>
                  <a:txBody>
                    <a:bodyPr/>
                    <a:lstStyle/>
                    <a:p>
                      <a:r>
                        <a:rPr lang="en-US" sz="1000" b="1" dirty="0"/>
                        <a:t>Position name - </a:t>
                      </a:r>
                      <a:r>
                        <a:rPr lang="en-US" sz="1000" b="0" dirty="0"/>
                        <a:t>RENEWAIRE HE2XIN-Energy Recovery Ventilator</a:t>
                      </a:r>
                    </a:p>
                    <a:p>
                      <a:r>
                        <a:rPr lang="en-US" sz="1000" b="1" dirty="0"/>
                        <a:t>Asset Name -  </a:t>
                      </a:r>
                      <a:r>
                        <a:rPr lang="en-US" sz="1000" b="0" dirty="0"/>
                        <a:t>Air Handler(RENEWAIRE HE2XIN-Energy Recovery Ventilator)</a:t>
                      </a:r>
                    </a:p>
                  </a:txBody>
                  <a:tcPr/>
                </a:tc>
                <a:extLst>
                  <a:ext uri="{0D108BD9-81ED-4DB2-BD59-A6C34878D82A}">
                    <a16:rowId xmlns:a16="http://schemas.microsoft.com/office/drawing/2014/main" val="633798941"/>
                  </a:ext>
                </a:extLst>
              </a:tr>
              <a:tr h="224532">
                <a:tc>
                  <a:txBody>
                    <a:bodyPr/>
                    <a:lstStyle/>
                    <a:p>
                      <a:r>
                        <a:rPr lang="en-US" sz="1000" b="1" dirty="0" err="1"/>
                        <a:t>Equipment_Make</a:t>
                      </a:r>
                      <a:r>
                        <a:rPr lang="en-US" sz="1000" b="1" dirty="0"/>
                        <a:t> - </a:t>
                      </a:r>
                      <a:r>
                        <a:rPr lang="en-US" sz="1000" b="0" dirty="0"/>
                        <a:t>RENEWAIRE</a:t>
                      </a:r>
                      <a:endParaRPr lang="en-US" sz="1000" b="1" dirty="0"/>
                    </a:p>
                  </a:txBody>
                  <a:tcPr/>
                </a:tc>
                <a:tc>
                  <a:txBody>
                    <a:bodyPr/>
                    <a:lstStyle/>
                    <a:p>
                      <a:r>
                        <a:rPr lang="en-US" sz="1000" b="1" dirty="0"/>
                        <a:t>Manufacturer - </a:t>
                      </a:r>
                      <a:r>
                        <a:rPr lang="en-US" sz="1000" b="0" dirty="0"/>
                        <a:t>RENEWAIRE</a:t>
                      </a:r>
                    </a:p>
                  </a:txBody>
                  <a:tcPr/>
                </a:tc>
                <a:extLst>
                  <a:ext uri="{0D108BD9-81ED-4DB2-BD59-A6C34878D82A}">
                    <a16:rowId xmlns:a16="http://schemas.microsoft.com/office/drawing/2014/main" val="3471013263"/>
                  </a:ext>
                </a:extLst>
              </a:tr>
              <a:tr h="224532">
                <a:tc>
                  <a:txBody>
                    <a:bodyPr/>
                    <a:lstStyle/>
                    <a:p>
                      <a:r>
                        <a:rPr lang="en-US" sz="1000" b="1" dirty="0" err="1"/>
                        <a:t>Equipment_Model_Number</a:t>
                      </a:r>
                      <a:r>
                        <a:rPr lang="en-US" sz="1000" b="1" dirty="0"/>
                        <a:t> - </a:t>
                      </a:r>
                      <a:r>
                        <a:rPr lang="en-US" sz="1000" b="0" dirty="0"/>
                        <a:t>HE2Xin</a:t>
                      </a:r>
                      <a:endParaRPr lang="en-US" sz="1000" b="1" dirty="0"/>
                    </a:p>
                  </a:txBody>
                  <a:tcPr/>
                </a:tc>
                <a:tc>
                  <a:txBody>
                    <a:bodyPr/>
                    <a:lstStyle/>
                    <a:p>
                      <a:r>
                        <a:rPr lang="en-US" sz="1000" b="1" dirty="0"/>
                        <a:t>Model - </a:t>
                      </a:r>
                      <a:r>
                        <a:rPr lang="en-US" sz="1000" b="0" dirty="0"/>
                        <a:t>HE2Xin</a:t>
                      </a:r>
                    </a:p>
                  </a:txBody>
                  <a:tcPr/>
                </a:tc>
                <a:extLst>
                  <a:ext uri="{0D108BD9-81ED-4DB2-BD59-A6C34878D82A}">
                    <a16:rowId xmlns:a16="http://schemas.microsoft.com/office/drawing/2014/main" val="2466397732"/>
                  </a:ext>
                </a:extLst>
              </a:tr>
              <a:tr h="224532">
                <a:tc>
                  <a:txBody>
                    <a:bodyPr/>
                    <a:lstStyle/>
                    <a:p>
                      <a:r>
                        <a:rPr lang="en-US" sz="1000" b="1" dirty="0"/>
                        <a:t>Equipment </a:t>
                      </a:r>
                      <a:r>
                        <a:rPr lang="en-US" sz="1000" b="1" dirty="0" err="1"/>
                        <a:t>Serial_Number</a:t>
                      </a:r>
                      <a:r>
                        <a:rPr lang="en-US" sz="1000" b="1" dirty="0"/>
                        <a:t>  - </a:t>
                      </a:r>
                      <a:r>
                        <a:rPr lang="en-US" sz="1000" b="0" dirty="0"/>
                        <a:t>71873</a:t>
                      </a:r>
                      <a:endParaRPr lang="en-US" sz="1000" b="1" dirty="0"/>
                    </a:p>
                  </a:txBody>
                  <a:tcPr/>
                </a:tc>
                <a:tc>
                  <a:txBody>
                    <a:bodyPr/>
                    <a:lstStyle/>
                    <a:p>
                      <a:r>
                        <a:rPr lang="en-US" sz="1000" b="1" dirty="0"/>
                        <a:t>Serial Number - </a:t>
                      </a:r>
                      <a:r>
                        <a:rPr lang="en-US" sz="1000" b="0" dirty="0"/>
                        <a:t>71873</a:t>
                      </a:r>
                    </a:p>
                  </a:txBody>
                  <a:tcPr/>
                </a:tc>
                <a:extLst>
                  <a:ext uri="{0D108BD9-81ED-4DB2-BD59-A6C34878D82A}">
                    <a16:rowId xmlns:a16="http://schemas.microsoft.com/office/drawing/2014/main" val="780661850"/>
                  </a:ext>
                </a:extLst>
              </a:tr>
              <a:tr h="224532">
                <a:tc>
                  <a:txBody>
                    <a:bodyPr/>
                    <a:lstStyle/>
                    <a:p>
                      <a:r>
                        <a:rPr lang="en-US" sz="1000" b="1" dirty="0"/>
                        <a:t>Country, State, City --- </a:t>
                      </a:r>
                      <a:r>
                        <a:rPr lang="en-US" sz="1000" b="0" dirty="0"/>
                        <a:t>US, CT, Hartford</a:t>
                      </a:r>
                      <a:endParaRPr lang="en-US" sz="1000" b="1" dirty="0"/>
                    </a:p>
                  </a:txBody>
                  <a:tcPr/>
                </a:tc>
                <a:tc>
                  <a:txBody>
                    <a:bodyPr/>
                    <a:lstStyle/>
                    <a:p>
                      <a:r>
                        <a:rPr lang="en-US" sz="1000" b="1" dirty="0"/>
                        <a:t>Region - </a:t>
                      </a:r>
                      <a:r>
                        <a:rPr lang="en-US" sz="1000" b="0" dirty="0"/>
                        <a:t>US, CT, Hartford</a:t>
                      </a:r>
                    </a:p>
                  </a:txBody>
                  <a:tcPr/>
                </a:tc>
                <a:extLst>
                  <a:ext uri="{0D108BD9-81ED-4DB2-BD59-A6C34878D82A}">
                    <a16:rowId xmlns:a16="http://schemas.microsoft.com/office/drawing/2014/main" val="4121694875"/>
                  </a:ext>
                </a:extLst>
              </a:tr>
              <a:tr h="224532">
                <a:tc>
                  <a:txBody>
                    <a:bodyPr/>
                    <a:lstStyle/>
                    <a:p>
                      <a:r>
                        <a:rPr lang="en-US" sz="1000" b="1" dirty="0"/>
                        <a:t>Site - </a:t>
                      </a:r>
                      <a:r>
                        <a:rPr lang="en-US" sz="1000" b="0" dirty="0"/>
                        <a:t>150 Cogswell Street</a:t>
                      </a:r>
                      <a:endParaRPr lang="en-US" sz="1000" b="1" dirty="0"/>
                    </a:p>
                  </a:txBody>
                  <a:tcPr/>
                </a:tc>
                <a:tc>
                  <a:txBody>
                    <a:bodyPr/>
                    <a:lstStyle/>
                    <a:p>
                      <a:r>
                        <a:rPr lang="en-US" sz="1000" b="1" dirty="0"/>
                        <a:t>Building - </a:t>
                      </a:r>
                      <a:r>
                        <a:rPr lang="en-US" sz="1000" b="0" dirty="0"/>
                        <a:t>150 Cogswell Street</a:t>
                      </a:r>
                    </a:p>
                  </a:txBody>
                  <a:tcPr/>
                </a:tc>
                <a:extLst>
                  <a:ext uri="{0D108BD9-81ED-4DB2-BD59-A6C34878D82A}">
                    <a16:rowId xmlns:a16="http://schemas.microsoft.com/office/drawing/2014/main" val="250341676"/>
                  </a:ext>
                </a:extLst>
              </a:tr>
            </a:tbl>
          </a:graphicData>
        </a:graphic>
      </p:graphicFrame>
      <p:graphicFrame>
        <p:nvGraphicFramePr>
          <p:cNvPr id="6" name="Table 5">
            <a:extLst>
              <a:ext uri="{FF2B5EF4-FFF2-40B4-BE49-F238E27FC236}">
                <a16:creationId xmlns:a16="http://schemas.microsoft.com/office/drawing/2014/main" id="{C01A7B07-8793-09F4-3514-41C3E0DCF724}"/>
              </a:ext>
            </a:extLst>
          </p:cNvPr>
          <p:cNvGraphicFramePr>
            <a:graphicFrameLocks noGrp="1"/>
          </p:cNvGraphicFramePr>
          <p:nvPr>
            <p:extLst>
              <p:ext uri="{D42A27DB-BD31-4B8C-83A1-F6EECF244321}">
                <p14:modId xmlns:p14="http://schemas.microsoft.com/office/powerpoint/2010/main" val="2767935363"/>
              </p:ext>
            </p:extLst>
          </p:nvPr>
        </p:nvGraphicFramePr>
        <p:xfrm>
          <a:off x="5745480" y="1235026"/>
          <a:ext cx="6132609" cy="2544554"/>
        </p:xfrm>
        <a:graphic>
          <a:graphicData uri="http://schemas.openxmlformats.org/drawingml/2006/table">
            <a:tbl>
              <a:tblPr firstRow="1" bandRow="1">
                <a:tableStyleId>{5C22544A-7EE6-4342-B048-85BDC9FD1C3A}</a:tableStyleId>
              </a:tblPr>
              <a:tblGrid>
                <a:gridCol w="2673129">
                  <a:extLst>
                    <a:ext uri="{9D8B030D-6E8A-4147-A177-3AD203B41FA5}">
                      <a16:colId xmlns:a16="http://schemas.microsoft.com/office/drawing/2014/main" val="1713291588"/>
                    </a:ext>
                  </a:extLst>
                </a:gridCol>
                <a:gridCol w="3459480">
                  <a:extLst>
                    <a:ext uri="{9D8B030D-6E8A-4147-A177-3AD203B41FA5}">
                      <a16:colId xmlns:a16="http://schemas.microsoft.com/office/drawing/2014/main" val="3548403619"/>
                    </a:ext>
                  </a:extLst>
                </a:gridCol>
              </a:tblGrid>
              <a:tr h="289575">
                <a:tc>
                  <a:txBody>
                    <a:bodyPr/>
                    <a:lstStyle/>
                    <a:p>
                      <a:r>
                        <a:rPr lang="en-US" sz="1000" dirty="0"/>
                        <a:t>SFM Asset</a:t>
                      </a:r>
                    </a:p>
                  </a:txBody>
                  <a:tcPr/>
                </a:tc>
                <a:tc>
                  <a:txBody>
                    <a:bodyPr/>
                    <a:lstStyle/>
                    <a:p>
                      <a:r>
                        <a:rPr lang="en-US" sz="1000" dirty="0"/>
                        <a:t>IFM Asset</a:t>
                      </a:r>
                    </a:p>
                  </a:txBody>
                  <a:tcPr/>
                </a:tc>
                <a:extLst>
                  <a:ext uri="{0D108BD9-81ED-4DB2-BD59-A6C34878D82A}">
                    <a16:rowId xmlns:a16="http://schemas.microsoft.com/office/drawing/2014/main" val="2599310792"/>
                  </a:ext>
                </a:extLst>
              </a:tr>
              <a:tr h="289575">
                <a:tc>
                  <a:txBody>
                    <a:bodyPr/>
                    <a:lstStyle/>
                    <a:p>
                      <a:r>
                        <a:rPr lang="en-US" sz="1000" b="1" dirty="0">
                          <a:solidFill>
                            <a:srgbClr val="FF0000"/>
                          </a:solidFill>
                        </a:rPr>
                        <a:t>Equipment Type - </a:t>
                      </a:r>
                      <a:r>
                        <a:rPr lang="en-US" sz="1000" b="0" dirty="0">
                          <a:solidFill>
                            <a:srgbClr val="FF0000"/>
                          </a:solidFill>
                        </a:rPr>
                        <a:t>Blank</a:t>
                      </a:r>
                    </a:p>
                  </a:txBody>
                  <a:tcPr/>
                </a:tc>
                <a:tc>
                  <a:txBody>
                    <a:bodyPr/>
                    <a:lstStyle/>
                    <a:p>
                      <a:r>
                        <a:rPr lang="en-US" sz="1000" b="1" dirty="0">
                          <a:solidFill>
                            <a:srgbClr val="FF0000"/>
                          </a:solidFill>
                        </a:rPr>
                        <a:t>Position Type – </a:t>
                      </a:r>
                      <a:r>
                        <a:rPr lang="en-US" sz="1000" b="0" dirty="0">
                          <a:solidFill>
                            <a:srgbClr val="FF0000"/>
                          </a:solidFill>
                        </a:rPr>
                        <a:t>D2090.03.01 (Compressor, Air)</a:t>
                      </a:r>
                    </a:p>
                  </a:txBody>
                  <a:tcPr/>
                </a:tc>
                <a:extLst>
                  <a:ext uri="{0D108BD9-81ED-4DB2-BD59-A6C34878D82A}">
                    <a16:rowId xmlns:a16="http://schemas.microsoft.com/office/drawing/2014/main" val="3024384071"/>
                  </a:ext>
                </a:extLst>
              </a:tr>
              <a:tr h="410864">
                <a:tc>
                  <a:txBody>
                    <a:bodyPr/>
                    <a:lstStyle/>
                    <a:p>
                      <a:r>
                        <a:rPr lang="en-US" sz="1000" b="1" dirty="0" err="1"/>
                        <a:t>Nav_Name</a:t>
                      </a:r>
                      <a:r>
                        <a:rPr lang="en-US" sz="1000" b="1" dirty="0"/>
                        <a:t> - </a:t>
                      </a:r>
                      <a:r>
                        <a:rPr lang="en-US" sz="1000" b="0" dirty="0"/>
                        <a:t>DC-AGG-AC-DE1-East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b="1" dirty="0" err="1"/>
                        <a:t>Equipment_Name</a:t>
                      </a:r>
                      <a:r>
                        <a:rPr lang="en-US" sz="1000" b="1" dirty="0"/>
                        <a:t> - </a:t>
                      </a:r>
                      <a:r>
                        <a:rPr lang="en-US" sz="1000" b="0" dirty="0"/>
                        <a:t>DC-AGG-AC-DE1-East</a:t>
                      </a:r>
                    </a:p>
                  </a:txBody>
                  <a:tcPr/>
                </a:tc>
                <a:tc>
                  <a:txBody>
                    <a:bodyPr/>
                    <a:lstStyle/>
                    <a:p>
                      <a:r>
                        <a:rPr lang="en-US" sz="1000" b="1" dirty="0"/>
                        <a:t>Position name - </a:t>
                      </a:r>
                      <a:r>
                        <a:rPr lang="en-US" sz="1000" b="0" dirty="0"/>
                        <a:t>(DC-AGG-AC-DE1-East)</a:t>
                      </a:r>
                    </a:p>
                    <a:p>
                      <a:r>
                        <a:rPr lang="en-US" sz="1000" b="1" dirty="0"/>
                        <a:t>Asset Name - </a:t>
                      </a:r>
                      <a:r>
                        <a:rPr lang="en-US" sz="1000" b="0" dirty="0"/>
                        <a:t>Air Compressor(DC-AGG-AC-DE1-East)</a:t>
                      </a:r>
                    </a:p>
                  </a:txBody>
                  <a:tcPr/>
                </a:tc>
                <a:extLst>
                  <a:ext uri="{0D108BD9-81ED-4DB2-BD59-A6C34878D82A}">
                    <a16:rowId xmlns:a16="http://schemas.microsoft.com/office/drawing/2014/main" val="633798941"/>
                  </a:ext>
                </a:extLst>
              </a:tr>
              <a:tr h="289575">
                <a:tc>
                  <a:txBody>
                    <a:bodyPr/>
                    <a:lstStyle/>
                    <a:p>
                      <a:r>
                        <a:rPr lang="en-US" sz="1000" b="1" dirty="0" err="1"/>
                        <a:t>Equipment_Make</a:t>
                      </a:r>
                      <a:r>
                        <a:rPr lang="en-US" sz="1000" b="1" dirty="0"/>
                        <a:t> - </a:t>
                      </a:r>
                      <a:r>
                        <a:rPr lang="en-US" sz="1000" b="0" dirty="0"/>
                        <a:t>ATLAS COPCO</a:t>
                      </a:r>
                    </a:p>
                  </a:txBody>
                  <a:tcPr/>
                </a:tc>
                <a:tc>
                  <a:txBody>
                    <a:bodyPr/>
                    <a:lstStyle/>
                    <a:p>
                      <a:r>
                        <a:rPr lang="en-US" sz="1000" b="1" dirty="0"/>
                        <a:t>Manufacturer - </a:t>
                      </a:r>
                      <a:r>
                        <a:rPr lang="en-US" sz="1000" b="0" dirty="0"/>
                        <a:t>ATLAS COPCO</a:t>
                      </a:r>
                    </a:p>
                  </a:txBody>
                  <a:tcPr/>
                </a:tc>
                <a:extLst>
                  <a:ext uri="{0D108BD9-81ED-4DB2-BD59-A6C34878D82A}">
                    <a16:rowId xmlns:a16="http://schemas.microsoft.com/office/drawing/2014/main" val="3471013263"/>
                  </a:ext>
                </a:extLst>
              </a:tr>
              <a:tr h="289575">
                <a:tc>
                  <a:txBody>
                    <a:bodyPr/>
                    <a:lstStyle/>
                    <a:p>
                      <a:r>
                        <a:rPr lang="en-US" sz="1000" b="1" dirty="0" err="1"/>
                        <a:t>Equipment_Model_Number</a:t>
                      </a:r>
                      <a:r>
                        <a:rPr lang="en-US" sz="1000" b="1" dirty="0"/>
                        <a:t> - </a:t>
                      </a:r>
                      <a:r>
                        <a:rPr lang="en-US" sz="1000" b="0" dirty="0"/>
                        <a:t>(GX4) 8152101237</a:t>
                      </a:r>
                    </a:p>
                  </a:txBody>
                  <a:tcPr/>
                </a:tc>
                <a:tc>
                  <a:txBody>
                    <a:bodyPr/>
                    <a:lstStyle/>
                    <a:p>
                      <a:r>
                        <a:rPr lang="en-US" sz="1000" b="1" dirty="0"/>
                        <a:t>Model - </a:t>
                      </a:r>
                      <a:r>
                        <a:rPr lang="en-US" sz="1000" b="0" dirty="0"/>
                        <a:t>GX48152101237</a:t>
                      </a:r>
                    </a:p>
                  </a:txBody>
                  <a:tcPr/>
                </a:tc>
                <a:extLst>
                  <a:ext uri="{0D108BD9-81ED-4DB2-BD59-A6C34878D82A}">
                    <a16:rowId xmlns:a16="http://schemas.microsoft.com/office/drawing/2014/main" val="2466397732"/>
                  </a:ext>
                </a:extLst>
              </a:tr>
              <a:tr h="289575">
                <a:tc>
                  <a:txBody>
                    <a:bodyPr/>
                    <a:lstStyle/>
                    <a:p>
                      <a:r>
                        <a:rPr lang="en-US" sz="1000" b="1" dirty="0"/>
                        <a:t>Equipment </a:t>
                      </a:r>
                      <a:r>
                        <a:rPr lang="en-US" sz="1000" b="1" dirty="0" err="1"/>
                        <a:t>Serial_Number</a:t>
                      </a:r>
                      <a:r>
                        <a:rPr lang="en-US" sz="1000" b="1" dirty="0"/>
                        <a:t>  - </a:t>
                      </a:r>
                      <a:r>
                        <a:rPr lang="en-US" sz="1000" b="0" dirty="0"/>
                        <a:t>CAI325559</a:t>
                      </a:r>
                    </a:p>
                  </a:txBody>
                  <a:tcPr/>
                </a:tc>
                <a:tc>
                  <a:txBody>
                    <a:bodyPr/>
                    <a:lstStyle/>
                    <a:p>
                      <a:r>
                        <a:rPr lang="en-US" sz="1000" b="1" dirty="0"/>
                        <a:t>Serial Number - </a:t>
                      </a:r>
                      <a:r>
                        <a:rPr lang="en-US" sz="1000" b="0" dirty="0"/>
                        <a:t>CAI325559</a:t>
                      </a:r>
                    </a:p>
                  </a:txBody>
                  <a:tcPr/>
                </a:tc>
                <a:extLst>
                  <a:ext uri="{0D108BD9-81ED-4DB2-BD59-A6C34878D82A}">
                    <a16:rowId xmlns:a16="http://schemas.microsoft.com/office/drawing/2014/main" val="780661850"/>
                  </a:ext>
                </a:extLst>
              </a:tr>
              <a:tr h="289575">
                <a:tc>
                  <a:txBody>
                    <a:bodyPr/>
                    <a:lstStyle/>
                    <a:p>
                      <a:r>
                        <a:rPr lang="en-US" sz="1000" b="1" dirty="0"/>
                        <a:t>Country, State, City --- </a:t>
                      </a:r>
                      <a:r>
                        <a:rPr lang="en-US" sz="1000" b="0" dirty="0"/>
                        <a:t>US, CT, Hartford</a:t>
                      </a:r>
                      <a:endParaRPr lang="en-US" sz="1000" b="1" dirty="0"/>
                    </a:p>
                  </a:txBody>
                  <a:tcPr/>
                </a:tc>
                <a:tc>
                  <a:txBody>
                    <a:bodyPr/>
                    <a:lstStyle/>
                    <a:p>
                      <a:r>
                        <a:rPr lang="en-US" sz="1000" b="1" dirty="0"/>
                        <a:t>Region - </a:t>
                      </a:r>
                      <a:r>
                        <a:rPr lang="en-US" sz="1000" b="0" dirty="0"/>
                        <a:t>US, CT, Hartford</a:t>
                      </a:r>
                    </a:p>
                  </a:txBody>
                  <a:tcPr/>
                </a:tc>
                <a:extLst>
                  <a:ext uri="{0D108BD9-81ED-4DB2-BD59-A6C34878D82A}">
                    <a16:rowId xmlns:a16="http://schemas.microsoft.com/office/drawing/2014/main" val="4121694875"/>
                  </a:ext>
                </a:extLst>
              </a:tr>
              <a:tr h="289575">
                <a:tc>
                  <a:txBody>
                    <a:bodyPr/>
                    <a:lstStyle/>
                    <a:p>
                      <a:r>
                        <a:rPr lang="en-US" sz="1000" b="1" dirty="0">
                          <a:solidFill>
                            <a:srgbClr val="FF0000"/>
                          </a:solidFill>
                        </a:rPr>
                        <a:t>Site - </a:t>
                      </a:r>
                      <a:r>
                        <a:rPr lang="en-US" sz="1000" b="0" dirty="0">
                          <a:solidFill>
                            <a:srgbClr val="FF0000"/>
                          </a:solidFill>
                        </a:rPr>
                        <a:t>1 Hartford Plaza - Data Center</a:t>
                      </a:r>
                    </a:p>
                  </a:txBody>
                  <a:tcPr/>
                </a:tc>
                <a:tc>
                  <a:txBody>
                    <a:bodyPr/>
                    <a:lstStyle/>
                    <a:p>
                      <a:r>
                        <a:rPr lang="en-US" sz="1000" b="1" dirty="0">
                          <a:solidFill>
                            <a:srgbClr val="FF0000"/>
                          </a:solidFill>
                        </a:rPr>
                        <a:t>Building - </a:t>
                      </a:r>
                      <a:r>
                        <a:rPr lang="en-US" sz="1000" b="0" dirty="0">
                          <a:solidFill>
                            <a:srgbClr val="FF0000"/>
                          </a:solidFill>
                        </a:rPr>
                        <a:t>Hartford Data Center</a:t>
                      </a:r>
                    </a:p>
                  </a:txBody>
                  <a:tcPr/>
                </a:tc>
                <a:extLst>
                  <a:ext uri="{0D108BD9-81ED-4DB2-BD59-A6C34878D82A}">
                    <a16:rowId xmlns:a16="http://schemas.microsoft.com/office/drawing/2014/main" val="250341676"/>
                  </a:ext>
                </a:extLst>
              </a:tr>
            </a:tbl>
          </a:graphicData>
        </a:graphic>
      </p:graphicFrame>
      <p:graphicFrame>
        <p:nvGraphicFramePr>
          <p:cNvPr id="7" name="Table 6">
            <a:extLst>
              <a:ext uri="{FF2B5EF4-FFF2-40B4-BE49-F238E27FC236}">
                <a16:creationId xmlns:a16="http://schemas.microsoft.com/office/drawing/2014/main" id="{4348E753-4DD1-5008-328D-DBC05193AA92}"/>
              </a:ext>
            </a:extLst>
          </p:cNvPr>
          <p:cNvGraphicFramePr>
            <a:graphicFrameLocks noGrp="1"/>
          </p:cNvGraphicFramePr>
          <p:nvPr>
            <p:extLst>
              <p:ext uri="{D42A27DB-BD31-4B8C-83A1-F6EECF244321}">
                <p14:modId xmlns:p14="http://schemas.microsoft.com/office/powerpoint/2010/main" val="189456988"/>
              </p:ext>
            </p:extLst>
          </p:nvPr>
        </p:nvGraphicFramePr>
        <p:xfrm>
          <a:off x="313911" y="3961115"/>
          <a:ext cx="5271549" cy="2460744"/>
        </p:xfrm>
        <a:graphic>
          <a:graphicData uri="http://schemas.openxmlformats.org/drawingml/2006/table">
            <a:tbl>
              <a:tblPr firstRow="1" bandRow="1">
                <a:tableStyleId>{5C22544A-7EE6-4342-B048-85BDC9FD1C3A}</a:tableStyleId>
              </a:tblPr>
              <a:tblGrid>
                <a:gridCol w="2650269">
                  <a:extLst>
                    <a:ext uri="{9D8B030D-6E8A-4147-A177-3AD203B41FA5}">
                      <a16:colId xmlns:a16="http://schemas.microsoft.com/office/drawing/2014/main" val="1713291588"/>
                    </a:ext>
                  </a:extLst>
                </a:gridCol>
                <a:gridCol w="2621280">
                  <a:extLst>
                    <a:ext uri="{9D8B030D-6E8A-4147-A177-3AD203B41FA5}">
                      <a16:colId xmlns:a16="http://schemas.microsoft.com/office/drawing/2014/main" val="3548403619"/>
                    </a:ext>
                  </a:extLst>
                </a:gridCol>
              </a:tblGrid>
              <a:tr h="0">
                <a:tc>
                  <a:txBody>
                    <a:bodyPr/>
                    <a:lstStyle/>
                    <a:p>
                      <a:r>
                        <a:rPr lang="en-US" sz="1000" dirty="0"/>
                        <a:t>SFM Asset</a:t>
                      </a:r>
                    </a:p>
                  </a:txBody>
                  <a:tcPr/>
                </a:tc>
                <a:tc>
                  <a:txBody>
                    <a:bodyPr/>
                    <a:lstStyle/>
                    <a:p>
                      <a:r>
                        <a:rPr lang="en-US" sz="1000" dirty="0"/>
                        <a:t>IFM Asset</a:t>
                      </a:r>
                    </a:p>
                  </a:txBody>
                  <a:tcPr/>
                </a:tc>
                <a:extLst>
                  <a:ext uri="{0D108BD9-81ED-4DB2-BD59-A6C34878D82A}">
                    <a16:rowId xmlns:a16="http://schemas.microsoft.com/office/drawing/2014/main" val="2599310792"/>
                  </a:ext>
                </a:extLst>
              </a:tr>
              <a:tr h="224532">
                <a:tc>
                  <a:txBody>
                    <a:bodyPr/>
                    <a:lstStyle/>
                    <a:p>
                      <a:r>
                        <a:rPr lang="en-US" sz="1000" b="1" dirty="0"/>
                        <a:t>Equipment Type - </a:t>
                      </a:r>
                      <a:r>
                        <a:rPr lang="en-US" sz="1000" b="0" dirty="0"/>
                        <a:t>Roof Top Unit</a:t>
                      </a:r>
                    </a:p>
                  </a:txBody>
                  <a:tcPr/>
                </a:tc>
                <a:tc>
                  <a:txBody>
                    <a:bodyPr/>
                    <a:lstStyle/>
                    <a:p>
                      <a:r>
                        <a:rPr lang="en-US" sz="1000" b="1" dirty="0"/>
                        <a:t>Position Type -  </a:t>
                      </a:r>
                      <a:r>
                        <a:rPr lang="en-US" sz="1000" b="0" dirty="0"/>
                        <a:t>D3050.02 (Air Conditioner, Packaged Unit)</a:t>
                      </a:r>
                    </a:p>
                  </a:txBody>
                  <a:tcPr/>
                </a:tc>
                <a:extLst>
                  <a:ext uri="{0D108BD9-81ED-4DB2-BD59-A6C34878D82A}">
                    <a16:rowId xmlns:a16="http://schemas.microsoft.com/office/drawing/2014/main" val="3024384071"/>
                  </a:ext>
                </a:extLst>
              </a:tr>
              <a:tr h="44906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1" dirty="0" err="1"/>
                        <a:t>Nav_Name</a:t>
                      </a:r>
                      <a:r>
                        <a:rPr lang="en-US" sz="1000" b="1" dirty="0"/>
                        <a:t> – </a:t>
                      </a:r>
                      <a:r>
                        <a:rPr lang="en-US" sz="1000" b="0" dirty="0"/>
                        <a:t>RTU-4</a:t>
                      </a:r>
                      <a:endParaRPr lang="en-US" sz="1000" b="1"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b="1" dirty="0" err="1"/>
                        <a:t>Equipment_Name</a:t>
                      </a:r>
                      <a:r>
                        <a:rPr lang="en-US" sz="1000" b="1" dirty="0"/>
                        <a:t> -  </a:t>
                      </a:r>
                      <a:r>
                        <a:rPr lang="en-US" sz="1000" b="0" dirty="0"/>
                        <a:t>RTU-4</a:t>
                      </a:r>
                    </a:p>
                  </a:txBody>
                  <a:tcPr/>
                </a:tc>
                <a:tc>
                  <a:txBody>
                    <a:bodyPr/>
                    <a:lstStyle/>
                    <a:p>
                      <a:r>
                        <a:rPr lang="en-US" sz="1000" b="1" dirty="0"/>
                        <a:t>Position name – </a:t>
                      </a:r>
                      <a:r>
                        <a:rPr lang="en-US" sz="1000" b="0" dirty="0"/>
                        <a:t>RTU-4</a:t>
                      </a:r>
                    </a:p>
                    <a:p>
                      <a:r>
                        <a:rPr lang="en-US" sz="1000" b="1" dirty="0"/>
                        <a:t>Asset Name </a:t>
                      </a:r>
                      <a:r>
                        <a:rPr lang="en-US" sz="1000" b="0" dirty="0"/>
                        <a:t>-  RTU-4(RTU-4)</a:t>
                      </a:r>
                    </a:p>
                  </a:txBody>
                  <a:tcPr/>
                </a:tc>
                <a:extLst>
                  <a:ext uri="{0D108BD9-81ED-4DB2-BD59-A6C34878D82A}">
                    <a16:rowId xmlns:a16="http://schemas.microsoft.com/office/drawing/2014/main" val="633798941"/>
                  </a:ext>
                </a:extLst>
              </a:tr>
              <a:tr h="224532">
                <a:tc>
                  <a:txBody>
                    <a:bodyPr/>
                    <a:lstStyle/>
                    <a:p>
                      <a:r>
                        <a:rPr lang="en-US" sz="1000" b="1" dirty="0" err="1"/>
                        <a:t>Equipment_Make</a:t>
                      </a:r>
                      <a:r>
                        <a:rPr lang="en-US" sz="1000" b="1" dirty="0"/>
                        <a:t> - </a:t>
                      </a:r>
                      <a:r>
                        <a:rPr lang="en-US" sz="1000" b="0" dirty="0"/>
                        <a:t>Trane</a:t>
                      </a:r>
                    </a:p>
                  </a:txBody>
                  <a:tcPr/>
                </a:tc>
                <a:tc>
                  <a:txBody>
                    <a:bodyPr/>
                    <a:lstStyle/>
                    <a:p>
                      <a:r>
                        <a:rPr lang="en-US" sz="1000" b="1" dirty="0"/>
                        <a:t>Manufacturer - </a:t>
                      </a:r>
                      <a:r>
                        <a:rPr lang="en-US" sz="1000" b="0" dirty="0"/>
                        <a:t>Trane</a:t>
                      </a:r>
                    </a:p>
                  </a:txBody>
                  <a:tcPr/>
                </a:tc>
                <a:extLst>
                  <a:ext uri="{0D108BD9-81ED-4DB2-BD59-A6C34878D82A}">
                    <a16:rowId xmlns:a16="http://schemas.microsoft.com/office/drawing/2014/main" val="3471013263"/>
                  </a:ext>
                </a:extLst>
              </a:tr>
              <a:tr h="224532">
                <a:tc>
                  <a:txBody>
                    <a:bodyPr/>
                    <a:lstStyle/>
                    <a:p>
                      <a:r>
                        <a:rPr lang="en-US" sz="1000" b="1" dirty="0" err="1"/>
                        <a:t>Equipment_Model_Number</a:t>
                      </a:r>
                      <a:r>
                        <a:rPr lang="en-US" sz="1000" b="1" dirty="0"/>
                        <a:t> - </a:t>
                      </a:r>
                      <a:r>
                        <a:rPr lang="en-US" sz="1000" b="0" dirty="0"/>
                        <a:t>WSC048H3R0A290001</a:t>
                      </a:r>
                    </a:p>
                  </a:txBody>
                  <a:tcPr/>
                </a:tc>
                <a:tc>
                  <a:txBody>
                    <a:bodyPr/>
                    <a:lstStyle/>
                    <a:p>
                      <a:r>
                        <a:rPr lang="en-US" sz="1000" b="1" dirty="0"/>
                        <a:t>Model - </a:t>
                      </a:r>
                      <a:r>
                        <a:rPr lang="en-US" sz="1000" b="0" dirty="0"/>
                        <a:t>WSC048H3R0A290001</a:t>
                      </a:r>
                    </a:p>
                  </a:txBody>
                  <a:tcPr/>
                </a:tc>
                <a:extLst>
                  <a:ext uri="{0D108BD9-81ED-4DB2-BD59-A6C34878D82A}">
                    <a16:rowId xmlns:a16="http://schemas.microsoft.com/office/drawing/2014/main" val="2466397732"/>
                  </a:ext>
                </a:extLst>
              </a:tr>
              <a:tr h="224532">
                <a:tc>
                  <a:txBody>
                    <a:bodyPr/>
                    <a:lstStyle/>
                    <a:p>
                      <a:r>
                        <a:rPr lang="en-US" sz="1000" b="1" dirty="0"/>
                        <a:t>Equipment </a:t>
                      </a:r>
                      <a:r>
                        <a:rPr lang="en-US" sz="1000" b="1" dirty="0" err="1"/>
                        <a:t>Serial_Number</a:t>
                      </a:r>
                      <a:r>
                        <a:rPr lang="en-US" sz="1000" b="1" dirty="0"/>
                        <a:t>  - </a:t>
                      </a:r>
                      <a:r>
                        <a:rPr lang="en-US" sz="1000" b="0" dirty="0"/>
                        <a:t>224114440L</a:t>
                      </a:r>
                    </a:p>
                  </a:txBody>
                  <a:tcPr/>
                </a:tc>
                <a:tc>
                  <a:txBody>
                    <a:bodyPr/>
                    <a:lstStyle/>
                    <a:p>
                      <a:r>
                        <a:rPr lang="en-US" sz="1000" b="1" dirty="0"/>
                        <a:t>Serial Number - </a:t>
                      </a:r>
                      <a:r>
                        <a:rPr lang="en-US" sz="1000" b="0" dirty="0"/>
                        <a:t>224114440L</a:t>
                      </a:r>
                    </a:p>
                  </a:txBody>
                  <a:tcPr/>
                </a:tc>
                <a:extLst>
                  <a:ext uri="{0D108BD9-81ED-4DB2-BD59-A6C34878D82A}">
                    <a16:rowId xmlns:a16="http://schemas.microsoft.com/office/drawing/2014/main" val="780661850"/>
                  </a:ext>
                </a:extLst>
              </a:tr>
              <a:tr h="224532">
                <a:tc>
                  <a:txBody>
                    <a:bodyPr/>
                    <a:lstStyle/>
                    <a:p>
                      <a:r>
                        <a:rPr lang="en-US" sz="1000" b="1" dirty="0"/>
                        <a:t>Country, State, City ---  </a:t>
                      </a:r>
                      <a:r>
                        <a:rPr lang="en-US" sz="1000" b="0" dirty="0"/>
                        <a:t>US, FL,</a:t>
                      </a:r>
                      <a:r>
                        <a:rPr lang="en-US" sz="1000" b="1" dirty="0"/>
                        <a:t> </a:t>
                      </a:r>
                      <a:r>
                        <a:rPr lang="en-US" sz="1000" b="0" dirty="0"/>
                        <a:t>Naples</a:t>
                      </a:r>
                      <a:endParaRPr lang="en-US" sz="1000" b="1" dirty="0"/>
                    </a:p>
                  </a:txBody>
                  <a:tcPr/>
                </a:tc>
                <a:tc>
                  <a:txBody>
                    <a:bodyPr/>
                    <a:lstStyle/>
                    <a:p>
                      <a:r>
                        <a:rPr lang="en-US" sz="1000" b="1" dirty="0"/>
                        <a:t>Region – </a:t>
                      </a:r>
                      <a:r>
                        <a:rPr lang="en-US" sz="1000" b="0" dirty="0"/>
                        <a:t>US, FL,</a:t>
                      </a:r>
                      <a:r>
                        <a:rPr lang="en-US" sz="1000" b="1" dirty="0"/>
                        <a:t> </a:t>
                      </a:r>
                      <a:r>
                        <a:rPr lang="en-US" sz="1000" b="0" dirty="0"/>
                        <a:t>Naples</a:t>
                      </a:r>
                    </a:p>
                  </a:txBody>
                  <a:tcPr/>
                </a:tc>
                <a:extLst>
                  <a:ext uri="{0D108BD9-81ED-4DB2-BD59-A6C34878D82A}">
                    <a16:rowId xmlns:a16="http://schemas.microsoft.com/office/drawing/2014/main" val="4121694875"/>
                  </a:ext>
                </a:extLst>
              </a:tr>
              <a:tr h="224532">
                <a:tc>
                  <a:txBody>
                    <a:bodyPr/>
                    <a:lstStyle/>
                    <a:p>
                      <a:r>
                        <a:rPr lang="en-US" sz="1000" b="1" dirty="0">
                          <a:solidFill>
                            <a:srgbClr val="FF0000"/>
                          </a:solidFill>
                        </a:rPr>
                        <a:t>Site - </a:t>
                      </a:r>
                      <a:r>
                        <a:rPr lang="en-US" sz="1000" b="0" dirty="0">
                          <a:solidFill>
                            <a:srgbClr val="FF0000"/>
                          </a:solidFill>
                        </a:rPr>
                        <a:t>FL103682 - 2100 Tamiami Trail N</a:t>
                      </a:r>
                    </a:p>
                  </a:txBody>
                  <a:tcPr/>
                </a:tc>
                <a:tc>
                  <a:txBody>
                    <a:bodyPr/>
                    <a:lstStyle/>
                    <a:p>
                      <a:r>
                        <a:rPr lang="en-US" sz="1000" b="1" dirty="0">
                          <a:solidFill>
                            <a:srgbClr val="FF0000"/>
                          </a:solidFill>
                        </a:rPr>
                        <a:t>Building – </a:t>
                      </a:r>
                      <a:r>
                        <a:rPr lang="en-US" sz="1000" b="0" dirty="0">
                          <a:solidFill>
                            <a:srgbClr val="FF0000"/>
                          </a:solidFill>
                        </a:rPr>
                        <a:t>Naples</a:t>
                      </a:r>
                      <a:r>
                        <a:rPr lang="en-US" sz="1000" b="1" dirty="0">
                          <a:solidFill>
                            <a:srgbClr val="FF0000"/>
                          </a:solidFill>
                        </a:rPr>
                        <a:t> </a:t>
                      </a:r>
                      <a:r>
                        <a:rPr lang="en-US" sz="1000" b="0" dirty="0">
                          <a:solidFill>
                            <a:srgbClr val="FF0000"/>
                          </a:solidFill>
                        </a:rPr>
                        <a:t>Garden</a:t>
                      </a:r>
                    </a:p>
                  </a:txBody>
                  <a:tcPr/>
                </a:tc>
                <a:extLst>
                  <a:ext uri="{0D108BD9-81ED-4DB2-BD59-A6C34878D82A}">
                    <a16:rowId xmlns:a16="http://schemas.microsoft.com/office/drawing/2014/main" val="250341676"/>
                  </a:ext>
                </a:extLst>
              </a:tr>
            </a:tbl>
          </a:graphicData>
        </a:graphic>
      </p:graphicFrame>
      <p:graphicFrame>
        <p:nvGraphicFramePr>
          <p:cNvPr id="8" name="Table 7">
            <a:extLst>
              <a:ext uri="{FF2B5EF4-FFF2-40B4-BE49-F238E27FC236}">
                <a16:creationId xmlns:a16="http://schemas.microsoft.com/office/drawing/2014/main" id="{17BDEAE7-CFC7-70CE-4E6A-DA9EF5927A0B}"/>
              </a:ext>
            </a:extLst>
          </p:cNvPr>
          <p:cNvGraphicFramePr>
            <a:graphicFrameLocks noGrp="1"/>
          </p:cNvGraphicFramePr>
          <p:nvPr>
            <p:extLst>
              <p:ext uri="{D42A27DB-BD31-4B8C-83A1-F6EECF244321}">
                <p14:modId xmlns:p14="http://schemas.microsoft.com/office/powerpoint/2010/main" val="4215072823"/>
              </p:ext>
            </p:extLst>
          </p:nvPr>
        </p:nvGraphicFramePr>
        <p:xfrm>
          <a:off x="5745480" y="3961114"/>
          <a:ext cx="6132609" cy="2460746"/>
        </p:xfrm>
        <a:graphic>
          <a:graphicData uri="http://schemas.openxmlformats.org/drawingml/2006/table">
            <a:tbl>
              <a:tblPr firstRow="1" bandRow="1">
                <a:tableStyleId>{5C22544A-7EE6-4342-B048-85BDC9FD1C3A}</a:tableStyleId>
              </a:tblPr>
              <a:tblGrid>
                <a:gridCol w="3083167">
                  <a:extLst>
                    <a:ext uri="{9D8B030D-6E8A-4147-A177-3AD203B41FA5}">
                      <a16:colId xmlns:a16="http://schemas.microsoft.com/office/drawing/2014/main" val="1713291588"/>
                    </a:ext>
                  </a:extLst>
                </a:gridCol>
                <a:gridCol w="3049442">
                  <a:extLst>
                    <a:ext uri="{9D8B030D-6E8A-4147-A177-3AD203B41FA5}">
                      <a16:colId xmlns:a16="http://schemas.microsoft.com/office/drawing/2014/main" val="3548403619"/>
                    </a:ext>
                  </a:extLst>
                </a:gridCol>
              </a:tblGrid>
              <a:tr h="259939">
                <a:tc>
                  <a:txBody>
                    <a:bodyPr/>
                    <a:lstStyle/>
                    <a:p>
                      <a:r>
                        <a:rPr lang="en-US" sz="1000" dirty="0"/>
                        <a:t>SFM Asset</a:t>
                      </a:r>
                    </a:p>
                  </a:txBody>
                  <a:tcPr/>
                </a:tc>
                <a:tc>
                  <a:txBody>
                    <a:bodyPr/>
                    <a:lstStyle/>
                    <a:p>
                      <a:r>
                        <a:rPr lang="en-US" sz="1000" dirty="0"/>
                        <a:t>IFM Asset</a:t>
                      </a:r>
                    </a:p>
                  </a:txBody>
                  <a:tcPr/>
                </a:tc>
                <a:extLst>
                  <a:ext uri="{0D108BD9-81ED-4DB2-BD59-A6C34878D82A}">
                    <a16:rowId xmlns:a16="http://schemas.microsoft.com/office/drawing/2014/main" val="2599310792"/>
                  </a:ext>
                </a:extLst>
              </a:tr>
              <a:tr h="422400">
                <a:tc>
                  <a:txBody>
                    <a:bodyPr/>
                    <a:lstStyle/>
                    <a:p>
                      <a:r>
                        <a:rPr lang="en-US" sz="1000" b="1" dirty="0"/>
                        <a:t>Equipment Type - </a:t>
                      </a:r>
                      <a:r>
                        <a:rPr lang="en-US" sz="1000" b="0" dirty="0"/>
                        <a:t>CRAC</a:t>
                      </a:r>
                    </a:p>
                  </a:txBody>
                  <a:tcPr/>
                </a:tc>
                <a:tc>
                  <a:txBody>
                    <a:bodyPr/>
                    <a:lstStyle/>
                    <a:p>
                      <a:r>
                        <a:rPr lang="en-US" sz="1000" b="1" dirty="0"/>
                        <a:t>Position Type - </a:t>
                      </a:r>
                      <a:r>
                        <a:rPr lang="en-US" sz="1000" b="0" dirty="0"/>
                        <a:t>Air Conditioner, Computer Room (D3030.02)</a:t>
                      </a:r>
                    </a:p>
                  </a:txBody>
                  <a:tcPr/>
                </a:tc>
                <a:extLst>
                  <a:ext uri="{0D108BD9-81ED-4DB2-BD59-A6C34878D82A}">
                    <a16:rowId xmlns:a16="http://schemas.microsoft.com/office/drawing/2014/main" val="3024384071"/>
                  </a:ext>
                </a:extLst>
              </a:tr>
              <a:tr h="47871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1" dirty="0" err="1"/>
                        <a:t>Nav_Name</a:t>
                      </a:r>
                      <a:r>
                        <a:rPr lang="en-US" sz="1000" b="1" dirty="0"/>
                        <a:t> –  Comp</a:t>
                      </a:r>
                      <a:r>
                        <a:rPr lang="en-US" sz="1000" b="0" dirty="0"/>
                        <a:t>uter Room 001</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b="1" dirty="0" err="1"/>
                        <a:t>Equipment_Name</a:t>
                      </a:r>
                      <a:r>
                        <a:rPr lang="en-US" sz="1000" b="1" dirty="0"/>
                        <a:t> – </a:t>
                      </a:r>
                      <a:r>
                        <a:rPr lang="en-US" sz="1000" b="0" dirty="0"/>
                        <a:t>Computer Room 001</a:t>
                      </a:r>
                    </a:p>
                  </a:txBody>
                  <a:tcPr/>
                </a:tc>
                <a:tc>
                  <a:txBody>
                    <a:bodyPr/>
                    <a:lstStyle/>
                    <a:p>
                      <a:r>
                        <a:rPr lang="en-US" sz="1000" b="1" dirty="0"/>
                        <a:t>Position name –  </a:t>
                      </a:r>
                      <a:r>
                        <a:rPr lang="en-US" sz="1000" b="0" dirty="0"/>
                        <a:t>Computer Room 001_CRAC</a:t>
                      </a:r>
                    </a:p>
                    <a:p>
                      <a:r>
                        <a:rPr lang="en-US" sz="1000" b="1" dirty="0"/>
                        <a:t>Asset Name </a:t>
                      </a:r>
                      <a:r>
                        <a:rPr lang="en-US" sz="1000" b="0" dirty="0"/>
                        <a:t>-  Computer Room 001_CRAC</a:t>
                      </a:r>
                    </a:p>
                  </a:txBody>
                  <a:tcPr/>
                </a:tc>
                <a:extLst>
                  <a:ext uri="{0D108BD9-81ED-4DB2-BD59-A6C34878D82A}">
                    <a16:rowId xmlns:a16="http://schemas.microsoft.com/office/drawing/2014/main" val="633798941"/>
                  </a:ext>
                </a:extLst>
              </a:tr>
              <a:tr h="259939">
                <a:tc>
                  <a:txBody>
                    <a:bodyPr/>
                    <a:lstStyle/>
                    <a:p>
                      <a:r>
                        <a:rPr lang="en-US" sz="1000" b="1" dirty="0" err="1"/>
                        <a:t>Equipment_Make</a:t>
                      </a:r>
                      <a:r>
                        <a:rPr lang="en-US" sz="1000" b="1" dirty="0"/>
                        <a:t> - </a:t>
                      </a:r>
                      <a:r>
                        <a:rPr lang="en-US" sz="1000" b="0" dirty="0"/>
                        <a:t>Trane</a:t>
                      </a:r>
                    </a:p>
                  </a:txBody>
                  <a:tcPr/>
                </a:tc>
                <a:tc>
                  <a:txBody>
                    <a:bodyPr/>
                    <a:lstStyle/>
                    <a:p>
                      <a:r>
                        <a:rPr lang="en-US" sz="1000" b="1" dirty="0"/>
                        <a:t>Manufacturer - </a:t>
                      </a:r>
                      <a:r>
                        <a:rPr lang="en-US" sz="1000" b="0" dirty="0"/>
                        <a:t>Trane</a:t>
                      </a:r>
                    </a:p>
                  </a:txBody>
                  <a:tcPr/>
                </a:tc>
                <a:extLst>
                  <a:ext uri="{0D108BD9-81ED-4DB2-BD59-A6C34878D82A}">
                    <a16:rowId xmlns:a16="http://schemas.microsoft.com/office/drawing/2014/main" val="3471013263"/>
                  </a:ext>
                </a:extLst>
              </a:tr>
              <a:tr h="259939">
                <a:tc>
                  <a:txBody>
                    <a:bodyPr/>
                    <a:lstStyle/>
                    <a:p>
                      <a:r>
                        <a:rPr lang="en-US" sz="1000" b="1" dirty="0" err="1"/>
                        <a:t>Equipment_Model_Number</a:t>
                      </a:r>
                      <a:r>
                        <a:rPr lang="en-US" sz="1000" b="1" dirty="0"/>
                        <a:t> – </a:t>
                      </a:r>
                      <a:r>
                        <a:rPr lang="en-US" sz="1000" b="0" dirty="0"/>
                        <a:t>TRA0012</a:t>
                      </a:r>
                    </a:p>
                  </a:txBody>
                  <a:tcPr/>
                </a:tc>
                <a:tc>
                  <a:txBody>
                    <a:bodyPr/>
                    <a:lstStyle/>
                    <a:p>
                      <a:r>
                        <a:rPr lang="en-US" sz="1000" b="1" dirty="0"/>
                        <a:t>Model – </a:t>
                      </a:r>
                      <a:r>
                        <a:rPr lang="en-US" sz="1000" b="0" dirty="0"/>
                        <a:t>TRA00(12)</a:t>
                      </a:r>
                    </a:p>
                  </a:txBody>
                  <a:tcPr/>
                </a:tc>
                <a:extLst>
                  <a:ext uri="{0D108BD9-81ED-4DB2-BD59-A6C34878D82A}">
                    <a16:rowId xmlns:a16="http://schemas.microsoft.com/office/drawing/2014/main" val="2466397732"/>
                  </a:ext>
                </a:extLst>
              </a:tr>
              <a:tr h="259939">
                <a:tc>
                  <a:txBody>
                    <a:bodyPr/>
                    <a:lstStyle/>
                    <a:p>
                      <a:r>
                        <a:rPr lang="en-US" sz="1000" b="1" dirty="0"/>
                        <a:t>Equipment </a:t>
                      </a:r>
                      <a:r>
                        <a:rPr lang="en-US" sz="1000" b="1" dirty="0" err="1"/>
                        <a:t>Serial_Number</a:t>
                      </a:r>
                      <a:r>
                        <a:rPr lang="en-US" sz="1000" b="1" dirty="0"/>
                        <a:t>  - </a:t>
                      </a:r>
                      <a:r>
                        <a:rPr lang="en-US" sz="1000" b="0" dirty="0"/>
                        <a:t>NXC100123</a:t>
                      </a:r>
                    </a:p>
                  </a:txBody>
                  <a:tcPr/>
                </a:tc>
                <a:tc>
                  <a:txBody>
                    <a:bodyPr/>
                    <a:lstStyle/>
                    <a:p>
                      <a:r>
                        <a:rPr lang="en-US" sz="1000" b="1" dirty="0"/>
                        <a:t>Serial Number - </a:t>
                      </a:r>
                      <a:r>
                        <a:rPr lang="en-US" sz="1000" b="0" dirty="0"/>
                        <a:t>NXC100123</a:t>
                      </a:r>
                    </a:p>
                  </a:txBody>
                  <a:tcPr/>
                </a:tc>
                <a:extLst>
                  <a:ext uri="{0D108BD9-81ED-4DB2-BD59-A6C34878D82A}">
                    <a16:rowId xmlns:a16="http://schemas.microsoft.com/office/drawing/2014/main" val="780661850"/>
                  </a:ext>
                </a:extLst>
              </a:tr>
              <a:tr h="259939">
                <a:tc>
                  <a:txBody>
                    <a:bodyPr/>
                    <a:lstStyle/>
                    <a:p>
                      <a:r>
                        <a:rPr lang="en-US" sz="1000" b="1" dirty="0"/>
                        <a:t>Country, State, City ---  </a:t>
                      </a:r>
                      <a:r>
                        <a:rPr lang="en-US" sz="1000" b="0" dirty="0"/>
                        <a:t>US, FL,</a:t>
                      </a:r>
                      <a:r>
                        <a:rPr lang="en-US" sz="1000" b="1" dirty="0"/>
                        <a:t> </a:t>
                      </a:r>
                      <a:r>
                        <a:rPr lang="en-US" sz="1000" b="0" dirty="0"/>
                        <a:t>Naples</a:t>
                      </a:r>
                      <a:endParaRPr lang="en-US" sz="1000" b="1" dirty="0"/>
                    </a:p>
                  </a:txBody>
                  <a:tcPr/>
                </a:tc>
                <a:tc>
                  <a:txBody>
                    <a:bodyPr/>
                    <a:lstStyle/>
                    <a:p>
                      <a:r>
                        <a:rPr lang="en-US" sz="1000" b="1" dirty="0"/>
                        <a:t>Region - </a:t>
                      </a:r>
                      <a:r>
                        <a:rPr lang="en-US" sz="1000" b="0" dirty="0"/>
                        <a:t>US, FL,</a:t>
                      </a:r>
                      <a:r>
                        <a:rPr lang="en-US" sz="1000" b="1" dirty="0"/>
                        <a:t> </a:t>
                      </a:r>
                      <a:r>
                        <a:rPr lang="en-US" sz="1000" b="0" dirty="0"/>
                        <a:t>Naples</a:t>
                      </a:r>
                    </a:p>
                  </a:txBody>
                  <a:tcPr/>
                </a:tc>
                <a:extLst>
                  <a:ext uri="{0D108BD9-81ED-4DB2-BD59-A6C34878D82A}">
                    <a16:rowId xmlns:a16="http://schemas.microsoft.com/office/drawing/2014/main" val="4121694875"/>
                  </a:ext>
                </a:extLst>
              </a:tr>
              <a:tr h="259939">
                <a:tc>
                  <a:txBody>
                    <a:bodyPr/>
                    <a:lstStyle/>
                    <a:p>
                      <a:r>
                        <a:rPr lang="en-US" sz="1000" b="1" dirty="0">
                          <a:solidFill>
                            <a:srgbClr val="FF0000"/>
                          </a:solidFill>
                        </a:rPr>
                        <a:t>Site – </a:t>
                      </a:r>
                      <a:r>
                        <a:rPr lang="en-US" sz="1000" b="0" dirty="0">
                          <a:solidFill>
                            <a:srgbClr val="FF0000"/>
                          </a:solidFill>
                        </a:rPr>
                        <a:t>3600 Garden Ave, FL </a:t>
                      </a:r>
                    </a:p>
                  </a:txBody>
                  <a:tcPr/>
                </a:tc>
                <a:tc>
                  <a:txBody>
                    <a:bodyPr/>
                    <a:lstStyle/>
                    <a:p>
                      <a:r>
                        <a:rPr lang="en-US" sz="1000" b="1" dirty="0">
                          <a:solidFill>
                            <a:srgbClr val="FF0000"/>
                          </a:solidFill>
                        </a:rPr>
                        <a:t>Building – </a:t>
                      </a:r>
                      <a:r>
                        <a:rPr lang="en-US" sz="1000" b="0" dirty="0">
                          <a:solidFill>
                            <a:srgbClr val="FF0000"/>
                          </a:solidFill>
                        </a:rPr>
                        <a:t>Building</a:t>
                      </a:r>
                      <a:r>
                        <a:rPr lang="en-US" sz="1000" b="1" dirty="0">
                          <a:solidFill>
                            <a:srgbClr val="FF0000"/>
                          </a:solidFill>
                        </a:rPr>
                        <a:t> </a:t>
                      </a:r>
                      <a:r>
                        <a:rPr lang="en-US" sz="1000" b="0" dirty="0">
                          <a:solidFill>
                            <a:srgbClr val="FF0000"/>
                          </a:solidFill>
                        </a:rPr>
                        <a:t>1</a:t>
                      </a:r>
                    </a:p>
                  </a:txBody>
                  <a:tcPr/>
                </a:tc>
                <a:extLst>
                  <a:ext uri="{0D108BD9-81ED-4DB2-BD59-A6C34878D82A}">
                    <a16:rowId xmlns:a16="http://schemas.microsoft.com/office/drawing/2014/main" val="250341676"/>
                  </a:ext>
                </a:extLst>
              </a:tr>
            </a:tbl>
          </a:graphicData>
        </a:graphic>
      </p:graphicFrame>
    </p:spTree>
    <p:extLst>
      <p:ext uri="{BB962C8B-B14F-4D97-AF65-F5344CB8AC3E}">
        <p14:creationId xmlns:p14="http://schemas.microsoft.com/office/powerpoint/2010/main" val="353515791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784045-656A-D3D8-ABC6-1BFCB5A2539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20BB856-F284-99F3-9014-258FA9372B84}"/>
              </a:ext>
            </a:extLst>
          </p:cNvPr>
          <p:cNvSpPr txBox="1"/>
          <p:nvPr/>
        </p:nvSpPr>
        <p:spPr>
          <a:xfrm>
            <a:off x="367251" y="693420"/>
            <a:ext cx="10393514" cy="369332"/>
          </a:xfrm>
          <a:prstGeom prst="rect">
            <a:avLst/>
          </a:prstGeom>
          <a:noFill/>
        </p:spPr>
        <p:txBody>
          <a:bodyPr wrap="square" rtlCol="0">
            <a:spAutoFit/>
          </a:bodyPr>
          <a:lstStyle/>
          <a:p>
            <a:r>
              <a:rPr lang="en-US" b="1" dirty="0">
                <a:solidFill>
                  <a:schemeClr val="accent6">
                    <a:lumMod val="50000"/>
                  </a:schemeClr>
                </a:solidFill>
                <a:latin typeface="Calibre Medium" panose="020B0603030202060203" pitchFamily="34" charset="0"/>
              </a:rPr>
              <a:t>Perfect Match – Approach 2 </a:t>
            </a:r>
            <a:r>
              <a:rPr lang="en-US" sz="1200" b="1" dirty="0">
                <a:solidFill>
                  <a:schemeClr val="accent6">
                    <a:lumMod val="50000"/>
                  </a:schemeClr>
                </a:solidFill>
                <a:latin typeface="Calibre Medium" panose="020B0603030202060203" pitchFamily="34" charset="0"/>
              </a:rPr>
              <a:t>(Building/site in Consideration and Make/Model/Serial not in Consideration)</a:t>
            </a:r>
          </a:p>
        </p:txBody>
      </p:sp>
      <p:sp>
        <p:nvSpPr>
          <p:cNvPr id="3" name="Rectangle: Rounded Corners 2">
            <a:extLst>
              <a:ext uri="{FF2B5EF4-FFF2-40B4-BE49-F238E27FC236}">
                <a16:creationId xmlns:a16="http://schemas.microsoft.com/office/drawing/2014/main" id="{5616D32A-0898-2D52-DFEB-8314691355BF}"/>
              </a:ext>
            </a:extLst>
          </p:cNvPr>
          <p:cNvSpPr/>
          <p:nvPr/>
        </p:nvSpPr>
        <p:spPr>
          <a:xfrm>
            <a:off x="332961" y="1362224"/>
            <a:ext cx="2433100" cy="355267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400" b="1" dirty="0">
                <a:solidFill>
                  <a:schemeClr val="bg2"/>
                </a:solidFill>
                <a:latin typeface="Amasis MT Pro Black" panose="020F0502020204030204" pitchFamily="18" charset="0"/>
              </a:rPr>
              <a:t>Approach 2</a:t>
            </a:r>
          </a:p>
          <a:p>
            <a:pPr marL="285750" indent="-285750">
              <a:buFont typeface="Arial" panose="020B0604020202020204" pitchFamily="34" charset="0"/>
              <a:buChar char="•"/>
            </a:pPr>
            <a:endParaRPr lang="en-US" sz="1400" dirty="0"/>
          </a:p>
          <a:p>
            <a:pPr marL="285750" indent="-285750">
              <a:buFont typeface="Arial" panose="020B0604020202020204" pitchFamily="34" charset="0"/>
              <a:buChar char="•"/>
            </a:pPr>
            <a:r>
              <a:rPr lang="en-US" sz="1400" dirty="0"/>
              <a:t>Asset Type/ Position Type</a:t>
            </a:r>
          </a:p>
          <a:p>
            <a:pPr marL="285750" indent="-285750">
              <a:buFont typeface="Arial" panose="020B0604020202020204" pitchFamily="34" charset="0"/>
              <a:buChar char="•"/>
            </a:pPr>
            <a:r>
              <a:rPr lang="en-US" sz="1400" dirty="0"/>
              <a:t>Asset Name</a:t>
            </a:r>
          </a:p>
          <a:p>
            <a:pPr marL="285750" indent="-285750">
              <a:buFont typeface="Arial" panose="020B0604020202020204" pitchFamily="34" charset="0"/>
              <a:buChar char="•"/>
            </a:pPr>
            <a:r>
              <a:rPr lang="en-US" sz="1400" dirty="0"/>
              <a:t>Asset Location</a:t>
            </a:r>
          </a:p>
          <a:p>
            <a:pPr marL="742950" lvl="1" indent="-285750">
              <a:buFont typeface="Arial" panose="020B0604020202020204" pitchFamily="34" charset="0"/>
              <a:buChar char="•"/>
            </a:pPr>
            <a:r>
              <a:rPr lang="en-US" sz="1400" dirty="0"/>
              <a:t>Country</a:t>
            </a:r>
          </a:p>
          <a:p>
            <a:pPr marL="742950" lvl="1" indent="-285750">
              <a:buFont typeface="Arial" panose="020B0604020202020204" pitchFamily="34" charset="0"/>
              <a:buChar char="•"/>
            </a:pPr>
            <a:r>
              <a:rPr lang="en-US" sz="1400" dirty="0"/>
              <a:t>State</a:t>
            </a:r>
          </a:p>
          <a:p>
            <a:pPr marL="742950" lvl="1" indent="-285750">
              <a:buFont typeface="Arial" panose="020B0604020202020204" pitchFamily="34" charset="0"/>
              <a:buChar char="•"/>
            </a:pPr>
            <a:r>
              <a:rPr lang="en-US" sz="1400" dirty="0"/>
              <a:t>City</a:t>
            </a:r>
          </a:p>
          <a:p>
            <a:pPr marL="742950" lvl="1" indent="-285750">
              <a:buFont typeface="Arial" panose="020B0604020202020204" pitchFamily="34" charset="0"/>
              <a:buChar char="•"/>
            </a:pPr>
            <a:r>
              <a:rPr lang="en-US" sz="1400" dirty="0"/>
              <a:t>Region</a:t>
            </a:r>
          </a:p>
          <a:p>
            <a:pPr marL="742950" lvl="1" indent="-285750">
              <a:buFont typeface="Arial" panose="020B0604020202020204" pitchFamily="34" charset="0"/>
              <a:buChar char="•"/>
            </a:pPr>
            <a:r>
              <a:rPr lang="en-US" sz="1400" dirty="0"/>
              <a:t>Building/Site</a:t>
            </a:r>
          </a:p>
          <a:p>
            <a:pPr marL="285750" indent="-285750">
              <a:buFont typeface="Arial" panose="020B0604020202020204" pitchFamily="34" charset="0"/>
              <a:buChar char="•"/>
            </a:pPr>
            <a:endParaRPr lang="en-US" dirty="0"/>
          </a:p>
        </p:txBody>
      </p:sp>
      <p:sp>
        <p:nvSpPr>
          <p:cNvPr id="4" name="TextBox 3">
            <a:extLst>
              <a:ext uri="{FF2B5EF4-FFF2-40B4-BE49-F238E27FC236}">
                <a16:creationId xmlns:a16="http://schemas.microsoft.com/office/drawing/2014/main" id="{9B9C6ADD-B969-7552-2C48-DDF8939412A3}"/>
              </a:ext>
            </a:extLst>
          </p:cNvPr>
          <p:cNvSpPr txBox="1"/>
          <p:nvPr/>
        </p:nvSpPr>
        <p:spPr>
          <a:xfrm>
            <a:off x="3116580" y="1191339"/>
            <a:ext cx="8742459" cy="3323987"/>
          </a:xfrm>
          <a:prstGeom prst="rect">
            <a:avLst/>
          </a:prstGeom>
          <a:noFill/>
        </p:spPr>
        <p:txBody>
          <a:bodyPr wrap="square" rtlCol="0">
            <a:spAutoFit/>
          </a:bodyPr>
          <a:lstStyle/>
          <a:p>
            <a:pPr algn="just"/>
            <a:r>
              <a:rPr lang="en-US" sz="1400" b="1" i="1" dirty="0">
                <a:solidFill>
                  <a:schemeClr val="accent6">
                    <a:lumMod val="50000"/>
                  </a:schemeClr>
                </a:solidFill>
              </a:rPr>
              <a:t>Conditions –</a:t>
            </a:r>
          </a:p>
          <a:p>
            <a:pPr algn="just"/>
            <a:endParaRPr lang="en-US" sz="1400" b="1" i="1" dirty="0">
              <a:solidFill>
                <a:schemeClr val="accent6">
                  <a:lumMod val="50000"/>
                </a:schemeClr>
              </a:solidFill>
            </a:endParaRPr>
          </a:p>
          <a:p>
            <a:pPr algn="just"/>
            <a:r>
              <a:rPr lang="en-US" sz="1400" dirty="0"/>
              <a:t>	The Equipment type in SFM should match perfectly with Position Type in IFM </a:t>
            </a:r>
          </a:p>
          <a:p>
            <a:pPr algn="just"/>
            <a:r>
              <a:rPr lang="en-US" sz="1400" dirty="0"/>
              <a:t>AND</a:t>
            </a:r>
          </a:p>
          <a:p>
            <a:pPr algn="just"/>
            <a:r>
              <a:rPr lang="en-US" sz="1400" dirty="0"/>
              <a:t>	 The </a:t>
            </a:r>
            <a:r>
              <a:rPr lang="en-US" sz="1400" dirty="0" err="1"/>
              <a:t>Nav_Name</a:t>
            </a:r>
            <a:r>
              <a:rPr lang="en-US" sz="1400" dirty="0"/>
              <a:t> in SFM matches (90%) with Asset Name in IFM HUB                   	          OR</a:t>
            </a:r>
          </a:p>
          <a:p>
            <a:pPr algn="just"/>
            <a:r>
              <a:rPr lang="en-US" sz="1400" dirty="0"/>
              <a:t>	 The </a:t>
            </a:r>
            <a:r>
              <a:rPr lang="en-US" sz="1400" dirty="0" err="1"/>
              <a:t>Nav_Name</a:t>
            </a:r>
            <a:r>
              <a:rPr lang="en-US" sz="1400" dirty="0"/>
              <a:t> in SFM matches (90%) with Position Name in IFM Hub              	          OR</a:t>
            </a:r>
          </a:p>
          <a:p>
            <a:pPr algn="just"/>
            <a:r>
              <a:rPr lang="en-US" sz="1400" dirty="0"/>
              <a:t>	 The </a:t>
            </a:r>
            <a:r>
              <a:rPr lang="en-US" sz="1400" dirty="0" err="1"/>
              <a:t>Equipment_Name</a:t>
            </a:r>
            <a:r>
              <a:rPr lang="en-US" sz="1400" dirty="0"/>
              <a:t> in SFM matches (90%) with Asset Name in IFM HUB    	          OR </a:t>
            </a:r>
          </a:p>
          <a:p>
            <a:pPr algn="just"/>
            <a:r>
              <a:rPr lang="en-US" sz="1400" dirty="0"/>
              <a:t>	 The </a:t>
            </a:r>
            <a:r>
              <a:rPr lang="en-US" sz="1400" dirty="0" err="1"/>
              <a:t>Equipment_Name</a:t>
            </a:r>
            <a:r>
              <a:rPr lang="en-US" sz="1400" dirty="0"/>
              <a:t> in SFM matches (90%) with Position name in IFM Hub</a:t>
            </a:r>
          </a:p>
          <a:p>
            <a:pPr algn="just"/>
            <a:r>
              <a:rPr lang="en-US" sz="1400" dirty="0"/>
              <a:t>AND</a:t>
            </a:r>
          </a:p>
          <a:p>
            <a:pPr algn="just"/>
            <a:r>
              <a:rPr lang="en-US" sz="1400" dirty="0"/>
              <a:t>	The combination of Country, State, City in SFM matches (90%) with Region Name in IFM</a:t>
            </a:r>
          </a:p>
          <a:p>
            <a:pPr algn="just"/>
            <a:endParaRPr lang="en-US" sz="1400" dirty="0"/>
          </a:p>
          <a:p>
            <a:pPr algn="just"/>
            <a:r>
              <a:rPr lang="en-US" sz="1400" dirty="0"/>
              <a:t>AND</a:t>
            </a:r>
          </a:p>
          <a:p>
            <a:pPr algn="just"/>
            <a:r>
              <a:rPr lang="en-US" sz="1400" dirty="0"/>
              <a:t>	The Site name in SFM matches (75%) with Building Name in IFM Hub</a:t>
            </a:r>
          </a:p>
          <a:p>
            <a:pPr marL="171450" indent="-171450" algn="just">
              <a:buFont typeface="Arial" panose="020B0604020202020204" pitchFamily="34" charset="0"/>
              <a:buChar char="•"/>
            </a:pPr>
            <a:endParaRPr lang="en-US" sz="1400" dirty="0"/>
          </a:p>
          <a:p>
            <a:pPr algn="just"/>
            <a:endParaRPr lang="en-US" sz="1400" dirty="0"/>
          </a:p>
        </p:txBody>
      </p:sp>
    </p:spTree>
    <p:extLst>
      <p:ext uri="{BB962C8B-B14F-4D97-AF65-F5344CB8AC3E}">
        <p14:creationId xmlns:p14="http://schemas.microsoft.com/office/powerpoint/2010/main" val="304740465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BD2D89-463E-3C32-2A8B-67A71B81508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752A6D-9D8C-4C95-4690-6EC5D60CE67B}"/>
              </a:ext>
            </a:extLst>
          </p:cNvPr>
          <p:cNvSpPr txBox="1"/>
          <p:nvPr/>
        </p:nvSpPr>
        <p:spPr>
          <a:xfrm>
            <a:off x="367251" y="693420"/>
            <a:ext cx="6361209" cy="369332"/>
          </a:xfrm>
          <a:prstGeom prst="rect">
            <a:avLst/>
          </a:prstGeom>
          <a:noFill/>
        </p:spPr>
        <p:txBody>
          <a:bodyPr wrap="square" rtlCol="0">
            <a:spAutoFit/>
          </a:bodyPr>
          <a:lstStyle/>
          <a:p>
            <a:r>
              <a:rPr lang="en-US" b="1" dirty="0">
                <a:solidFill>
                  <a:schemeClr val="accent6">
                    <a:lumMod val="50000"/>
                  </a:schemeClr>
                </a:solidFill>
                <a:latin typeface="Calibre Medium" panose="020B0603030202060203" pitchFamily="34" charset="0"/>
              </a:rPr>
              <a:t>Sample Matches on Perfect Match - Approach 2</a:t>
            </a:r>
          </a:p>
        </p:txBody>
      </p:sp>
      <p:graphicFrame>
        <p:nvGraphicFramePr>
          <p:cNvPr id="8" name="Table 7">
            <a:extLst>
              <a:ext uri="{FF2B5EF4-FFF2-40B4-BE49-F238E27FC236}">
                <a16:creationId xmlns:a16="http://schemas.microsoft.com/office/drawing/2014/main" id="{81A293F2-C28C-8489-9E2B-99C6EDEEDCF8}"/>
              </a:ext>
            </a:extLst>
          </p:cNvPr>
          <p:cNvGraphicFramePr>
            <a:graphicFrameLocks noGrp="1"/>
          </p:cNvGraphicFramePr>
          <p:nvPr>
            <p:extLst>
              <p:ext uri="{D42A27DB-BD31-4B8C-83A1-F6EECF244321}">
                <p14:modId xmlns:p14="http://schemas.microsoft.com/office/powerpoint/2010/main" val="1207086081"/>
              </p:ext>
            </p:extLst>
          </p:nvPr>
        </p:nvGraphicFramePr>
        <p:xfrm>
          <a:off x="595851" y="1301734"/>
          <a:ext cx="8212869" cy="2460746"/>
        </p:xfrm>
        <a:graphic>
          <a:graphicData uri="http://schemas.openxmlformats.org/drawingml/2006/table">
            <a:tbl>
              <a:tblPr firstRow="1" bandRow="1">
                <a:tableStyleId>{5C22544A-7EE6-4342-B048-85BDC9FD1C3A}</a:tableStyleId>
              </a:tblPr>
              <a:tblGrid>
                <a:gridCol w="4129017">
                  <a:extLst>
                    <a:ext uri="{9D8B030D-6E8A-4147-A177-3AD203B41FA5}">
                      <a16:colId xmlns:a16="http://schemas.microsoft.com/office/drawing/2014/main" val="1713291588"/>
                    </a:ext>
                  </a:extLst>
                </a:gridCol>
                <a:gridCol w="4083852">
                  <a:extLst>
                    <a:ext uri="{9D8B030D-6E8A-4147-A177-3AD203B41FA5}">
                      <a16:colId xmlns:a16="http://schemas.microsoft.com/office/drawing/2014/main" val="3548403619"/>
                    </a:ext>
                  </a:extLst>
                </a:gridCol>
              </a:tblGrid>
              <a:tr h="259939">
                <a:tc>
                  <a:txBody>
                    <a:bodyPr/>
                    <a:lstStyle/>
                    <a:p>
                      <a:r>
                        <a:rPr lang="en-US" sz="1000" dirty="0"/>
                        <a:t>SFM Asset</a:t>
                      </a:r>
                    </a:p>
                  </a:txBody>
                  <a:tcPr/>
                </a:tc>
                <a:tc>
                  <a:txBody>
                    <a:bodyPr/>
                    <a:lstStyle/>
                    <a:p>
                      <a:r>
                        <a:rPr lang="en-US" sz="1000" dirty="0"/>
                        <a:t>IFM Asset</a:t>
                      </a:r>
                    </a:p>
                  </a:txBody>
                  <a:tcPr/>
                </a:tc>
                <a:extLst>
                  <a:ext uri="{0D108BD9-81ED-4DB2-BD59-A6C34878D82A}">
                    <a16:rowId xmlns:a16="http://schemas.microsoft.com/office/drawing/2014/main" val="2599310792"/>
                  </a:ext>
                </a:extLst>
              </a:tr>
              <a:tr h="422400">
                <a:tc>
                  <a:txBody>
                    <a:bodyPr/>
                    <a:lstStyle/>
                    <a:p>
                      <a:r>
                        <a:rPr lang="en-US" sz="1000" b="1" dirty="0"/>
                        <a:t>Equipment Type – </a:t>
                      </a:r>
                      <a:r>
                        <a:rPr lang="en-US" sz="1000" b="0" dirty="0"/>
                        <a:t>Fan Coil Unit</a:t>
                      </a:r>
                    </a:p>
                  </a:txBody>
                  <a:tcPr/>
                </a:tc>
                <a:tc>
                  <a:txBody>
                    <a:bodyPr/>
                    <a:lstStyle/>
                    <a:p>
                      <a:r>
                        <a:rPr lang="en-US" sz="1000" b="1" dirty="0"/>
                        <a:t>Position Type - </a:t>
                      </a:r>
                      <a:r>
                        <a:rPr lang="en-US" sz="1000" b="0" dirty="0"/>
                        <a:t>Fan Coil Unit (D3050.03)</a:t>
                      </a:r>
                    </a:p>
                  </a:txBody>
                  <a:tcPr/>
                </a:tc>
                <a:extLst>
                  <a:ext uri="{0D108BD9-81ED-4DB2-BD59-A6C34878D82A}">
                    <a16:rowId xmlns:a16="http://schemas.microsoft.com/office/drawing/2014/main" val="3024384071"/>
                  </a:ext>
                </a:extLst>
              </a:tr>
              <a:tr h="47871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1" dirty="0" err="1"/>
                        <a:t>Nav_Name</a:t>
                      </a:r>
                      <a:r>
                        <a:rPr lang="en-US" sz="1000" b="1" dirty="0"/>
                        <a:t> –  </a:t>
                      </a:r>
                      <a:r>
                        <a:rPr lang="en-US" sz="1000" b="0" dirty="0" err="1"/>
                        <a:t>FCU_Daikin_Upstairs</a:t>
                      </a:r>
                      <a:endParaRPr lang="en-US" sz="1000" b="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b="1" dirty="0" err="1"/>
                        <a:t>Equipment_Name</a:t>
                      </a:r>
                      <a:r>
                        <a:rPr lang="en-US" sz="1000" b="1" dirty="0"/>
                        <a:t> – </a:t>
                      </a:r>
                      <a:r>
                        <a:rPr lang="en-US" sz="1000" b="0" dirty="0"/>
                        <a:t>Computer Room 001</a:t>
                      </a:r>
                    </a:p>
                  </a:txBody>
                  <a:tcPr/>
                </a:tc>
                <a:tc>
                  <a:txBody>
                    <a:bodyPr/>
                    <a:lstStyle/>
                    <a:p>
                      <a:r>
                        <a:rPr lang="en-US" sz="1000" b="1" dirty="0"/>
                        <a:t>Position name –  </a:t>
                      </a:r>
                      <a:r>
                        <a:rPr lang="en-US" sz="1000" b="0" dirty="0"/>
                        <a:t>FCU_Daikin_Upstairs12</a:t>
                      </a:r>
                    </a:p>
                    <a:p>
                      <a:r>
                        <a:rPr lang="en-US" sz="1000" b="1" dirty="0"/>
                        <a:t>Asset Name </a:t>
                      </a:r>
                      <a:r>
                        <a:rPr lang="en-US" sz="1000" b="0" dirty="0"/>
                        <a:t>- FCU_Daikin_Upstairs12_1</a:t>
                      </a:r>
                    </a:p>
                  </a:txBody>
                  <a:tcPr/>
                </a:tc>
                <a:extLst>
                  <a:ext uri="{0D108BD9-81ED-4DB2-BD59-A6C34878D82A}">
                    <a16:rowId xmlns:a16="http://schemas.microsoft.com/office/drawing/2014/main" val="633798941"/>
                  </a:ext>
                </a:extLst>
              </a:tr>
              <a:tr h="259939">
                <a:tc>
                  <a:txBody>
                    <a:bodyPr/>
                    <a:lstStyle/>
                    <a:p>
                      <a:r>
                        <a:rPr lang="en-US" sz="1000" b="1" dirty="0" err="1"/>
                        <a:t>Equipment_Make</a:t>
                      </a:r>
                      <a:r>
                        <a:rPr lang="en-US" sz="1000" b="1" dirty="0"/>
                        <a:t> - </a:t>
                      </a:r>
                      <a:r>
                        <a:rPr lang="en-US" sz="1000" b="0" dirty="0"/>
                        <a:t>Daikin</a:t>
                      </a:r>
                    </a:p>
                  </a:txBody>
                  <a:tcPr/>
                </a:tc>
                <a:tc>
                  <a:txBody>
                    <a:bodyPr/>
                    <a:lstStyle/>
                    <a:p>
                      <a:r>
                        <a:rPr lang="en-US" sz="1000" b="1" dirty="0"/>
                        <a:t>Manufacturer – </a:t>
                      </a:r>
                      <a:r>
                        <a:rPr lang="en-US" sz="1000" b="0" dirty="0"/>
                        <a:t>Daikin Inc</a:t>
                      </a:r>
                    </a:p>
                  </a:txBody>
                  <a:tcPr/>
                </a:tc>
                <a:extLst>
                  <a:ext uri="{0D108BD9-81ED-4DB2-BD59-A6C34878D82A}">
                    <a16:rowId xmlns:a16="http://schemas.microsoft.com/office/drawing/2014/main" val="3471013263"/>
                  </a:ext>
                </a:extLst>
              </a:tr>
              <a:tr h="259939">
                <a:tc>
                  <a:txBody>
                    <a:bodyPr/>
                    <a:lstStyle/>
                    <a:p>
                      <a:r>
                        <a:rPr lang="en-US" sz="1000" b="1" dirty="0" err="1">
                          <a:solidFill>
                            <a:srgbClr val="FF0000"/>
                          </a:solidFill>
                        </a:rPr>
                        <a:t>Equipment_Model_Number</a:t>
                      </a:r>
                      <a:r>
                        <a:rPr lang="en-US" sz="1000" b="1" dirty="0">
                          <a:solidFill>
                            <a:srgbClr val="FF0000"/>
                          </a:solidFill>
                        </a:rPr>
                        <a:t> – </a:t>
                      </a:r>
                      <a:r>
                        <a:rPr lang="en-US" sz="1000" b="0" dirty="0">
                          <a:solidFill>
                            <a:srgbClr val="FF0000"/>
                          </a:solidFill>
                        </a:rPr>
                        <a:t>Unknown</a:t>
                      </a:r>
                    </a:p>
                  </a:txBody>
                  <a:tcPr/>
                </a:tc>
                <a:tc>
                  <a:txBody>
                    <a:bodyPr/>
                    <a:lstStyle/>
                    <a:p>
                      <a:r>
                        <a:rPr lang="en-US" sz="1000" b="1" dirty="0">
                          <a:solidFill>
                            <a:srgbClr val="FF0000"/>
                          </a:solidFill>
                        </a:rPr>
                        <a:t>Model – </a:t>
                      </a:r>
                      <a:r>
                        <a:rPr lang="en-US" sz="1000" b="0" dirty="0">
                          <a:solidFill>
                            <a:srgbClr val="FF0000"/>
                          </a:solidFill>
                        </a:rPr>
                        <a:t>DAI Fan Coil</a:t>
                      </a:r>
                    </a:p>
                  </a:txBody>
                  <a:tcPr/>
                </a:tc>
                <a:extLst>
                  <a:ext uri="{0D108BD9-81ED-4DB2-BD59-A6C34878D82A}">
                    <a16:rowId xmlns:a16="http://schemas.microsoft.com/office/drawing/2014/main" val="2466397732"/>
                  </a:ext>
                </a:extLst>
              </a:tr>
              <a:tr h="259939">
                <a:tc>
                  <a:txBody>
                    <a:bodyPr/>
                    <a:lstStyle/>
                    <a:p>
                      <a:r>
                        <a:rPr lang="en-US" sz="1000" b="1" dirty="0">
                          <a:solidFill>
                            <a:srgbClr val="FF0000"/>
                          </a:solidFill>
                        </a:rPr>
                        <a:t>Equipment </a:t>
                      </a:r>
                      <a:r>
                        <a:rPr lang="en-US" sz="1000" b="1" dirty="0" err="1">
                          <a:solidFill>
                            <a:srgbClr val="FF0000"/>
                          </a:solidFill>
                        </a:rPr>
                        <a:t>Serial_Number</a:t>
                      </a:r>
                      <a:r>
                        <a:rPr lang="en-US" sz="1000" b="1" dirty="0">
                          <a:solidFill>
                            <a:srgbClr val="FF0000"/>
                          </a:solidFill>
                        </a:rPr>
                        <a:t>  - </a:t>
                      </a:r>
                      <a:r>
                        <a:rPr lang="en-US" sz="1000" b="0" dirty="0">
                          <a:solidFill>
                            <a:srgbClr val="FF0000"/>
                          </a:solidFill>
                        </a:rPr>
                        <a:t>Null</a:t>
                      </a:r>
                    </a:p>
                  </a:txBody>
                  <a:tcPr/>
                </a:tc>
                <a:tc>
                  <a:txBody>
                    <a:bodyPr/>
                    <a:lstStyle/>
                    <a:p>
                      <a:r>
                        <a:rPr lang="en-US" sz="1000" b="1" dirty="0">
                          <a:solidFill>
                            <a:srgbClr val="FF0000"/>
                          </a:solidFill>
                        </a:rPr>
                        <a:t>Serial Number - </a:t>
                      </a:r>
                      <a:r>
                        <a:rPr lang="en-US" sz="1000" b="0" dirty="0">
                          <a:solidFill>
                            <a:srgbClr val="FF0000"/>
                          </a:solidFill>
                        </a:rPr>
                        <a:t>DAIFCU9001</a:t>
                      </a:r>
                      <a:endParaRPr lang="en-US" sz="1000" b="1" dirty="0">
                        <a:solidFill>
                          <a:srgbClr val="FF0000"/>
                        </a:solidFill>
                      </a:endParaRPr>
                    </a:p>
                  </a:txBody>
                  <a:tcPr/>
                </a:tc>
                <a:extLst>
                  <a:ext uri="{0D108BD9-81ED-4DB2-BD59-A6C34878D82A}">
                    <a16:rowId xmlns:a16="http://schemas.microsoft.com/office/drawing/2014/main" val="780661850"/>
                  </a:ext>
                </a:extLst>
              </a:tr>
              <a:tr h="259939">
                <a:tc>
                  <a:txBody>
                    <a:bodyPr/>
                    <a:lstStyle/>
                    <a:p>
                      <a:r>
                        <a:rPr lang="en-US" sz="1000" b="1" dirty="0"/>
                        <a:t>Country, State, City ---  </a:t>
                      </a:r>
                      <a:r>
                        <a:rPr lang="en-US" sz="1000" b="0" dirty="0"/>
                        <a:t>US, FL,</a:t>
                      </a:r>
                      <a:r>
                        <a:rPr lang="en-US" sz="1000" b="1" dirty="0"/>
                        <a:t> </a:t>
                      </a:r>
                      <a:r>
                        <a:rPr lang="en-US" sz="1000" b="0" dirty="0"/>
                        <a:t>Naples</a:t>
                      </a:r>
                      <a:endParaRPr lang="en-US" sz="1000" b="1" dirty="0"/>
                    </a:p>
                  </a:txBody>
                  <a:tcPr/>
                </a:tc>
                <a:tc>
                  <a:txBody>
                    <a:bodyPr/>
                    <a:lstStyle/>
                    <a:p>
                      <a:r>
                        <a:rPr lang="en-US" sz="1000" b="1" dirty="0"/>
                        <a:t>Region - </a:t>
                      </a:r>
                      <a:r>
                        <a:rPr lang="en-US" sz="1000" b="0" dirty="0"/>
                        <a:t>US, FL,</a:t>
                      </a:r>
                      <a:r>
                        <a:rPr lang="en-US" sz="1000" b="1" dirty="0"/>
                        <a:t> </a:t>
                      </a:r>
                      <a:r>
                        <a:rPr lang="en-US" sz="1000" b="0" dirty="0"/>
                        <a:t>Naples</a:t>
                      </a:r>
                    </a:p>
                  </a:txBody>
                  <a:tcPr/>
                </a:tc>
                <a:extLst>
                  <a:ext uri="{0D108BD9-81ED-4DB2-BD59-A6C34878D82A}">
                    <a16:rowId xmlns:a16="http://schemas.microsoft.com/office/drawing/2014/main" val="4121694875"/>
                  </a:ext>
                </a:extLst>
              </a:tr>
              <a:tr h="259939">
                <a:tc>
                  <a:txBody>
                    <a:bodyPr/>
                    <a:lstStyle/>
                    <a:p>
                      <a:r>
                        <a:rPr lang="en-US" sz="1000" b="1" dirty="0"/>
                        <a:t>Site – </a:t>
                      </a:r>
                      <a:r>
                        <a:rPr lang="en-US" sz="1000" b="0" dirty="0"/>
                        <a:t>301 Woods Park Dr</a:t>
                      </a:r>
                    </a:p>
                  </a:txBody>
                  <a:tcPr/>
                </a:tc>
                <a:tc>
                  <a:txBody>
                    <a:bodyPr/>
                    <a:lstStyle/>
                    <a:p>
                      <a:r>
                        <a:rPr lang="en-US" sz="1000" b="1" dirty="0"/>
                        <a:t>Building – </a:t>
                      </a:r>
                      <a:r>
                        <a:rPr lang="en-US" sz="1000" b="0" dirty="0"/>
                        <a:t>Woods Park Ave 301, FL</a:t>
                      </a:r>
                    </a:p>
                  </a:txBody>
                  <a:tcPr/>
                </a:tc>
                <a:extLst>
                  <a:ext uri="{0D108BD9-81ED-4DB2-BD59-A6C34878D82A}">
                    <a16:rowId xmlns:a16="http://schemas.microsoft.com/office/drawing/2014/main" val="250341676"/>
                  </a:ext>
                </a:extLst>
              </a:tr>
            </a:tbl>
          </a:graphicData>
        </a:graphic>
      </p:graphicFrame>
      <p:graphicFrame>
        <p:nvGraphicFramePr>
          <p:cNvPr id="4" name="Table 3">
            <a:extLst>
              <a:ext uri="{FF2B5EF4-FFF2-40B4-BE49-F238E27FC236}">
                <a16:creationId xmlns:a16="http://schemas.microsoft.com/office/drawing/2014/main" id="{7945B140-C372-70CF-C197-2050913CD981}"/>
              </a:ext>
            </a:extLst>
          </p:cNvPr>
          <p:cNvGraphicFramePr>
            <a:graphicFrameLocks noGrp="1"/>
          </p:cNvGraphicFramePr>
          <p:nvPr>
            <p:extLst>
              <p:ext uri="{D42A27DB-BD31-4B8C-83A1-F6EECF244321}">
                <p14:modId xmlns:p14="http://schemas.microsoft.com/office/powerpoint/2010/main" val="3066829339"/>
              </p:ext>
            </p:extLst>
          </p:nvPr>
        </p:nvGraphicFramePr>
        <p:xfrm>
          <a:off x="595851" y="4001462"/>
          <a:ext cx="8212869" cy="2460746"/>
        </p:xfrm>
        <a:graphic>
          <a:graphicData uri="http://schemas.openxmlformats.org/drawingml/2006/table">
            <a:tbl>
              <a:tblPr firstRow="1" bandRow="1">
                <a:tableStyleId>{5C22544A-7EE6-4342-B048-85BDC9FD1C3A}</a:tableStyleId>
              </a:tblPr>
              <a:tblGrid>
                <a:gridCol w="4129017">
                  <a:extLst>
                    <a:ext uri="{9D8B030D-6E8A-4147-A177-3AD203B41FA5}">
                      <a16:colId xmlns:a16="http://schemas.microsoft.com/office/drawing/2014/main" val="1713291588"/>
                    </a:ext>
                  </a:extLst>
                </a:gridCol>
                <a:gridCol w="4083852">
                  <a:extLst>
                    <a:ext uri="{9D8B030D-6E8A-4147-A177-3AD203B41FA5}">
                      <a16:colId xmlns:a16="http://schemas.microsoft.com/office/drawing/2014/main" val="3548403619"/>
                    </a:ext>
                  </a:extLst>
                </a:gridCol>
              </a:tblGrid>
              <a:tr h="259939">
                <a:tc>
                  <a:txBody>
                    <a:bodyPr/>
                    <a:lstStyle/>
                    <a:p>
                      <a:r>
                        <a:rPr lang="en-US" sz="1000" dirty="0"/>
                        <a:t>SFM Asset</a:t>
                      </a:r>
                    </a:p>
                  </a:txBody>
                  <a:tcPr/>
                </a:tc>
                <a:tc>
                  <a:txBody>
                    <a:bodyPr/>
                    <a:lstStyle/>
                    <a:p>
                      <a:r>
                        <a:rPr lang="en-US" sz="1000" dirty="0"/>
                        <a:t>IFM Asset</a:t>
                      </a:r>
                    </a:p>
                  </a:txBody>
                  <a:tcPr/>
                </a:tc>
                <a:extLst>
                  <a:ext uri="{0D108BD9-81ED-4DB2-BD59-A6C34878D82A}">
                    <a16:rowId xmlns:a16="http://schemas.microsoft.com/office/drawing/2014/main" val="2599310792"/>
                  </a:ext>
                </a:extLst>
              </a:tr>
              <a:tr h="422400">
                <a:tc>
                  <a:txBody>
                    <a:bodyPr/>
                    <a:lstStyle/>
                    <a:p>
                      <a:r>
                        <a:rPr lang="en-US" sz="1000" b="1" dirty="0"/>
                        <a:t>Equipment Type - </a:t>
                      </a:r>
                      <a:r>
                        <a:rPr lang="en-US" sz="1000" b="0" dirty="0"/>
                        <a:t>Heater</a:t>
                      </a:r>
                    </a:p>
                  </a:txBody>
                  <a:tcPr/>
                </a:tc>
                <a:tc>
                  <a:txBody>
                    <a:bodyPr/>
                    <a:lstStyle/>
                    <a:p>
                      <a:r>
                        <a:rPr lang="en-US" sz="1000" b="1" dirty="0"/>
                        <a:t>Position Type - </a:t>
                      </a:r>
                      <a:r>
                        <a:rPr lang="en-US" sz="1000" b="0" dirty="0"/>
                        <a:t>Heater (D3020.09)</a:t>
                      </a:r>
                    </a:p>
                  </a:txBody>
                  <a:tcPr/>
                </a:tc>
                <a:extLst>
                  <a:ext uri="{0D108BD9-81ED-4DB2-BD59-A6C34878D82A}">
                    <a16:rowId xmlns:a16="http://schemas.microsoft.com/office/drawing/2014/main" val="3024384071"/>
                  </a:ext>
                </a:extLst>
              </a:tr>
              <a:tr h="47871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1" dirty="0" err="1"/>
                        <a:t>Nav_Name</a:t>
                      </a:r>
                      <a:r>
                        <a:rPr lang="en-US" sz="1000" b="1" dirty="0"/>
                        <a:t> –  </a:t>
                      </a:r>
                      <a:r>
                        <a:rPr lang="en-US" sz="1000" b="0" dirty="0"/>
                        <a:t>Heater unit Top Floor</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b="1" dirty="0" err="1"/>
                        <a:t>Equipment_Name</a:t>
                      </a:r>
                      <a:r>
                        <a:rPr lang="en-US" sz="1000" b="1" dirty="0"/>
                        <a:t> – </a:t>
                      </a:r>
                      <a:r>
                        <a:rPr lang="en-US" sz="1000" b="0" dirty="0"/>
                        <a:t>Heater unit Top Floor</a:t>
                      </a:r>
                    </a:p>
                  </a:txBody>
                  <a:tcPr/>
                </a:tc>
                <a:tc>
                  <a:txBody>
                    <a:bodyPr/>
                    <a:lstStyle/>
                    <a:p>
                      <a:r>
                        <a:rPr lang="en-US" sz="1000" b="1" dirty="0"/>
                        <a:t>Position name –  </a:t>
                      </a:r>
                      <a:r>
                        <a:rPr lang="en-US" sz="1000" b="0" dirty="0"/>
                        <a:t>Heater unit 001_Top Floor</a:t>
                      </a:r>
                    </a:p>
                    <a:p>
                      <a:r>
                        <a:rPr lang="en-US" sz="1000" b="1" dirty="0"/>
                        <a:t>Asset Name </a:t>
                      </a:r>
                      <a:r>
                        <a:rPr lang="en-US" sz="1000" b="0" dirty="0"/>
                        <a:t>- Heater unit Top Floor (Heater)</a:t>
                      </a:r>
                    </a:p>
                  </a:txBody>
                  <a:tcPr/>
                </a:tc>
                <a:extLst>
                  <a:ext uri="{0D108BD9-81ED-4DB2-BD59-A6C34878D82A}">
                    <a16:rowId xmlns:a16="http://schemas.microsoft.com/office/drawing/2014/main" val="633798941"/>
                  </a:ext>
                </a:extLst>
              </a:tr>
              <a:tr h="259939">
                <a:tc>
                  <a:txBody>
                    <a:bodyPr/>
                    <a:lstStyle/>
                    <a:p>
                      <a:r>
                        <a:rPr lang="en-US" sz="1000" b="1" dirty="0" err="1">
                          <a:solidFill>
                            <a:srgbClr val="FF0000"/>
                          </a:solidFill>
                        </a:rPr>
                        <a:t>Equipment_Make</a:t>
                      </a:r>
                      <a:r>
                        <a:rPr lang="en-US" sz="1000" b="1" dirty="0">
                          <a:solidFill>
                            <a:srgbClr val="FF0000"/>
                          </a:solidFill>
                        </a:rPr>
                        <a:t> - </a:t>
                      </a:r>
                      <a:r>
                        <a:rPr lang="en-US" sz="1000" b="0" dirty="0">
                          <a:solidFill>
                            <a:srgbClr val="FF0000"/>
                          </a:solidFill>
                        </a:rPr>
                        <a:t>Unk</a:t>
                      </a:r>
                    </a:p>
                  </a:txBody>
                  <a:tcPr/>
                </a:tc>
                <a:tc>
                  <a:txBody>
                    <a:bodyPr/>
                    <a:lstStyle/>
                    <a:p>
                      <a:r>
                        <a:rPr lang="en-US" sz="1000" b="1" dirty="0">
                          <a:solidFill>
                            <a:srgbClr val="FF0000"/>
                          </a:solidFill>
                        </a:rPr>
                        <a:t>Manufacturer – </a:t>
                      </a:r>
                      <a:r>
                        <a:rPr lang="en-US" sz="1000" b="0" dirty="0">
                          <a:solidFill>
                            <a:srgbClr val="FF0000"/>
                          </a:solidFill>
                        </a:rPr>
                        <a:t>Daikin</a:t>
                      </a:r>
                      <a:r>
                        <a:rPr lang="en-US" sz="1000" b="1" dirty="0">
                          <a:solidFill>
                            <a:srgbClr val="FF0000"/>
                          </a:solidFill>
                        </a:rPr>
                        <a:t> </a:t>
                      </a:r>
                      <a:endParaRPr lang="en-US" sz="1000" b="0" dirty="0">
                        <a:solidFill>
                          <a:srgbClr val="FF0000"/>
                        </a:solidFill>
                      </a:endParaRPr>
                    </a:p>
                  </a:txBody>
                  <a:tcPr/>
                </a:tc>
                <a:extLst>
                  <a:ext uri="{0D108BD9-81ED-4DB2-BD59-A6C34878D82A}">
                    <a16:rowId xmlns:a16="http://schemas.microsoft.com/office/drawing/2014/main" val="3471013263"/>
                  </a:ext>
                </a:extLst>
              </a:tr>
              <a:tr h="259939">
                <a:tc>
                  <a:txBody>
                    <a:bodyPr/>
                    <a:lstStyle/>
                    <a:p>
                      <a:r>
                        <a:rPr lang="en-US" sz="1000" b="1" dirty="0" err="1">
                          <a:solidFill>
                            <a:srgbClr val="FF0000"/>
                          </a:solidFill>
                        </a:rPr>
                        <a:t>Equipment_Model_Number</a:t>
                      </a:r>
                      <a:r>
                        <a:rPr lang="en-US" sz="1000" b="1" dirty="0">
                          <a:solidFill>
                            <a:srgbClr val="FF0000"/>
                          </a:solidFill>
                        </a:rPr>
                        <a:t> </a:t>
                      </a:r>
                      <a:r>
                        <a:rPr lang="en-US" sz="1000" b="0" dirty="0">
                          <a:solidFill>
                            <a:srgbClr val="FF0000"/>
                          </a:solidFill>
                        </a:rPr>
                        <a:t>– Daikin0NBCv1</a:t>
                      </a:r>
                    </a:p>
                  </a:txBody>
                  <a:tcPr/>
                </a:tc>
                <a:tc>
                  <a:txBody>
                    <a:bodyPr/>
                    <a:lstStyle/>
                    <a:p>
                      <a:r>
                        <a:rPr lang="en-US" sz="1000" b="1" dirty="0">
                          <a:solidFill>
                            <a:srgbClr val="FF0000"/>
                          </a:solidFill>
                        </a:rPr>
                        <a:t>Model – </a:t>
                      </a:r>
                      <a:r>
                        <a:rPr lang="en-US" sz="1000" b="0" dirty="0">
                          <a:solidFill>
                            <a:srgbClr val="FF0000"/>
                          </a:solidFill>
                        </a:rPr>
                        <a:t>DNBCv1</a:t>
                      </a:r>
                    </a:p>
                  </a:txBody>
                  <a:tcPr/>
                </a:tc>
                <a:extLst>
                  <a:ext uri="{0D108BD9-81ED-4DB2-BD59-A6C34878D82A}">
                    <a16:rowId xmlns:a16="http://schemas.microsoft.com/office/drawing/2014/main" val="2466397732"/>
                  </a:ext>
                </a:extLst>
              </a:tr>
              <a:tr h="259939">
                <a:tc>
                  <a:txBody>
                    <a:bodyPr/>
                    <a:lstStyle/>
                    <a:p>
                      <a:r>
                        <a:rPr lang="en-US" sz="1000" b="1" dirty="0">
                          <a:solidFill>
                            <a:srgbClr val="FF0000"/>
                          </a:solidFill>
                        </a:rPr>
                        <a:t>Equipment </a:t>
                      </a:r>
                      <a:r>
                        <a:rPr lang="en-US" sz="1000" b="1" dirty="0" err="1">
                          <a:solidFill>
                            <a:srgbClr val="FF0000"/>
                          </a:solidFill>
                        </a:rPr>
                        <a:t>Serial_Number</a:t>
                      </a:r>
                      <a:r>
                        <a:rPr lang="en-US" sz="1000" b="1" dirty="0">
                          <a:solidFill>
                            <a:srgbClr val="FF0000"/>
                          </a:solidFill>
                        </a:rPr>
                        <a:t>  - </a:t>
                      </a:r>
                      <a:r>
                        <a:rPr lang="en-US" sz="1000" b="0" dirty="0">
                          <a:solidFill>
                            <a:srgbClr val="FF0000"/>
                          </a:solidFill>
                        </a:rPr>
                        <a:t>Unknown</a:t>
                      </a:r>
                    </a:p>
                  </a:txBody>
                  <a:tcPr/>
                </a:tc>
                <a:tc>
                  <a:txBody>
                    <a:bodyPr/>
                    <a:lstStyle/>
                    <a:p>
                      <a:r>
                        <a:rPr lang="en-US" sz="1000" b="1" dirty="0">
                          <a:solidFill>
                            <a:srgbClr val="FF0000"/>
                          </a:solidFill>
                        </a:rPr>
                        <a:t>Serial Number – </a:t>
                      </a:r>
                      <a:r>
                        <a:rPr lang="en-US" sz="1000" b="0" dirty="0">
                          <a:solidFill>
                            <a:srgbClr val="FF0000"/>
                          </a:solidFill>
                        </a:rPr>
                        <a:t>0001Heater</a:t>
                      </a:r>
                    </a:p>
                  </a:txBody>
                  <a:tcPr/>
                </a:tc>
                <a:extLst>
                  <a:ext uri="{0D108BD9-81ED-4DB2-BD59-A6C34878D82A}">
                    <a16:rowId xmlns:a16="http://schemas.microsoft.com/office/drawing/2014/main" val="780661850"/>
                  </a:ext>
                </a:extLst>
              </a:tr>
              <a:tr h="259939">
                <a:tc>
                  <a:txBody>
                    <a:bodyPr/>
                    <a:lstStyle/>
                    <a:p>
                      <a:r>
                        <a:rPr lang="en-US" sz="1000" b="1" dirty="0"/>
                        <a:t>Country, State, City --- </a:t>
                      </a:r>
                      <a:r>
                        <a:rPr lang="en-US" sz="1000" b="0" dirty="0"/>
                        <a:t>US, NY, New York City</a:t>
                      </a:r>
                    </a:p>
                  </a:txBody>
                  <a:tcPr/>
                </a:tc>
                <a:tc>
                  <a:txBody>
                    <a:bodyPr/>
                    <a:lstStyle/>
                    <a:p>
                      <a:r>
                        <a:rPr lang="en-US" sz="1000" b="1" dirty="0"/>
                        <a:t>Region - </a:t>
                      </a:r>
                      <a:r>
                        <a:rPr lang="en-US" sz="1000" b="0" dirty="0"/>
                        <a:t>US, NY, New York City</a:t>
                      </a:r>
                    </a:p>
                  </a:txBody>
                  <a:tcPr/>
                </a:tc>
                <a:extLst>
                  <a:ext uri="{0D108BD9-81ED-4DB2-BD59-A6C34878D82A}">
                    <a16:rowId xmlns:a16="http://schemas.microsoft.com/office/drawing/2014/main" val="4121694875"/>
                  </a:ext>
                </a:extLst>
              </a:tr>
              <a:tr h="259939">
                <a:tc>
                  <a:txBody>
                    <a:bodyPr/>
                    <a:lstStyle/>
                    <a:p>
                      <a:r>
                        <a:rPr lang="en-US" sz="1000" b="1" dirty="0"/>
                        <a:t>Site – </a:t>
                      </a:r>
                      <a:r>
                        <a:rPr lang="en-US" sz="1000" b="0" dirty="0"/>
                        <a:t>1 Griffin Rd N</a:t>
                      </a:r>
                    </a:p>
                  </a:txBody>
                  <a:tcPr/>
                </a:tc>
                <a:tc>
                  <a:txBody>
                    <a:bodyPr/>
                    <a:lstStyle/>
                    <a:p>
                      <a:r>
                        <a:rPr lang="en-US" sz="1000" b="1" dirty="0"/>
                        <a:t>Building – </a:t>
                      </a:r>
                      <a:r>
                        <a:rPr lang="en-US" sz="1000" b="0" dirty="0"/>
                        <a:t>Griffen Road</a:t>
                      </a:r>
                    </a:p>
                  </a:txBody>
                  <a:tcPr/>
                </a:tc>
                <a:extLst>
                  <a:ext uri="{0D108BD9-81ED-4DB2-BD59-A6C34878D82A}">
                    <a16:rowId xmlns:a16="http://schemas.microsoft.com/office/drawing/2014/main" val="250341676"/>
                  </a:ext>
                </a:extLst>
              </a:tr>
            </a:tbl>
          </a:graphicData>
        </a:graphic>
      </p:graphicFrame>
    </p:spTree>
    <p:extLst>
      <p:ext uri="{BB962C8B-B14F-4D97-AF65-F5344CB8AC3E}">
        <p14:creationId xmlns:p14="http://schemas.microsoft.com/office/powerpoint/2010/main" val="180455140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C65063-3ED9-F465-FE2C-FBDEC518772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A44C85A-2E5E-8C3B-63E5-5F234CBC877C}"/>
              </a:ext>
            </a:extLst>
          </p:cNvPr>
          <p:cNvSpPr txBox="1"/>
          <p:nvPr/>
        </p:nvSpPr>
        <p:spPr>
          <a:xfrm>
            <a:off x="367251" y="693420"/>
            <a:ext cx="6361209" cy="369332"/>
          </a:xfrm>
          <a:prstGeom prst="rect">
            <a:avLst/>
          </a:prstGeom>
          <a:noFill/>
        </p:spPr>
        <p:txBody>
          <a:bodyPr wrap="square" rtlCol="0">
            <a:spAutoFit/>
          </a:bodyPr>
          <a:lstStyle/>
          <a:p>
            <a:r>
              <a:rPr lang="en-US" b="1" dirty="0">
                <a:solidFill>
                  <a:schemeClr val="accent6">
                    <a:lumMod val="50000"/>
                  </a:schemeClr>
                </a:solidFill>
                <a:latin typeface="Calibre Medium" panose="020B0603030202060203" pitchFamily="34" charset="0"/>
              </a:rPr>
              <a:t>Perfect Match – Approach 3 </a:t>
            </a:r>
            <a:r>
              <a:rPr lang="en-US" sz="1200" b="1" dirty="0">
                <a:solidFill>
                  <a:schemeClr val="accent6">
                    <a:lumMod val="50000"/>
                  </a:schemeClr>
                </a:solidFill>
                <a:latin typeface="Calibre Medium" panose="020B0603030202060203" pitchFamily="34" charset="0"/>
              </a:rPr>
              <a:t>(Asset Name not in Consideration)</a:t>
            </a:r>
          </a:p>
        </p:txBody>
      </p:sp>
      <p:sp>
        <p:nvSpPr>
          <p:cNvPr id="3" name="Rectangle: Rounded Corners 2">
            <a:extLst>
              <a:ext uri="{FF2B5EF4-FFF2-40B4-BE49-F238E27FC236}">
                <a16:creationId xmlns:a16="http://schemas.microsoft.com/office/drawing/2014/main" id="{6400E828-D7B9-AA59-E4CD-8002DD091EC4}"/>
              </a:ext>
            </a:extLst>
          </p:cNvPr>
          <p:cNvSpPr/>
          <p:nvPr/>
        </p:nvSpPr>
        <p:spPr>
          <a:xfrm>
            <a:off x="264381" y="1320879"/>
            <a:ext cx="2433100" cy="355267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400" b="1" dirty="0">
                <a:solidFill>
                  <a:schemeClr val="bg2"/>
                </a:solidFill>
                <a:latin typeface="Amasis MT Pro Black" panose="020F0502020204030204" pitchFamily="18" charset="0"/>
              </a:rPr>
              <a:t>Approach 3</a:t>
            </a:r>
          </a:p>
          <a:p>
            <a:pPr algn="ctr"/>
            <a:endParaRPr lang="en-US" sz="1400" dirty="0"/>
          </a:p>
          <a:p>
            <a:pPr marL="285750" indent="-285750">
              <a:buFont typeface="Arial" panose="020B0604020202020204" pitchFamily="34" charset="0"/>
              <a:buChar char="•"/>
            </a:pPr>
            <a:r>
              <a:rPr lang="en-US" sz="1400" dirty="0"/>
              <a:t>Asset Type/ Position Type</a:t>
            </a:r>
          </a:p>
          <a:p>
            <a:pPr marL="285750" indent="-285750">
              <a:buFont typeface="Arial" panose="020B0604020202020204" pitchFamily="34" charset="0"/>
              <a:buChar char="•"/>
            </a:pPr>
            <a:r>
              <a:rPr lang="en-US" sz="1400" dirty="0"/>
              <a:t>Asset Properties </a:t>
            </a:r>
          </a:p>
          <a:p>
            <a:pPr marL="742950" lvl="1" indent="-285750">
              <a:buFont typeface="Arial" panose="020B0604020202020204" pitchFamily="34" charset="0"/>
              <a:buChar char="•"/>
            </a:pPr>
            <a:r>
              <a:rPr lang="en-US" sz="1400" dirty="0"/>
              <a:t>Manufacturer</a:t>
            </a:r>
          </a:p>
          <a:p>
            <a:pPr marL="742950" lvl="1" indent="-285750">
              <a:buFont typeface="Arial" panose="020B0604020202020204" pitchFamily="34" charset="0"/>
              <a:buChar char="•"/>
            </a:pPr>
            <a:r>
              <a:rPr lang="en-US" sz="1400" dirty="0"/>
              <a:t>Model</a:t>
            </a:r>
          </a:p>
          <a:p>
            <a:pPr marL="742950" lvl="1" indent="-285750">
              <a:buFont typeface="Arial" panose="020B0604020202020204" pitchFamily="34" charset="0"/>
              <a:buChar char="•"/>
            </a:pPr>
            <a:r>
              <a:rPr lang="en-US" sz="1400" dirty="0"/>
              <a:t>Serial</a:t>
            </a:r>
          </a:p>
          <a:p>
            <a:pPr marL="285750" indent="-285750">
              <a:buFont typeface="Arial" panose="020B0604020202020204" pitchFamily="34" charset="0"/>
              <a:buChar char="•"/>
            </a:pPr>
            <a:r>
              <a:rPr lang="en-US" sz="1400" dirty="0"/>
              <a:t>Asset Location</a:t>
            </a:r>
          </a:p>
          <a:p>
            <a:pPr marL="742950" lvl="1" indent="-285750">
              <a:buFont typeface="Arial" panose="020B0604020202020204" pitchFamily="34" charset="0"/>
              <a:buChar char="•"/>
            </a:pPr>
            <a:r>
              <a:rPr lang="en-US" sz="1400" dirty="0"/>
              <a:t>Country</a:t>
            </a:r>
          </a:p>
          <a:p>
            <a:pPr marL="742950" lvl="1" indent="-285750">
              <a:buFont typeface="Arial" panose="020B0604020202020204" pitchFamily="34" charset="0"/>
              <a:buChar char="•"/>
            </a:pPr>
            <a:r>
              <a:rPr lang="en-US" sz="1400" dirty="0"/>
              <a:t>State</a:t>
            </a:r>
          </a:p>
          <a:p>
            <a:pPr marL="742950" lvl="1" indent="-285750">
              <a:buFont typeface="Arial" panose="020B0604020202020204" pitchFamily="34" charset="0"/>
              <a:buChar char="•"/>
            </a:pPr>
            <a:r>
              <a:rPr lang="en-US" sz="1400" dirty="0"/>
              <a:t>City</a:t>
            </a:r>
          </a:p>
          <a:p>
            <a:pPr marL="742950" lvl="1" indent="-285750">
              <a:buFont typeface="Arial" panose="020B0604020202020204" pitchFamily="34" charset="0"/>
              <a:buChar char="•"/>
            </a:pPr>
            <a:r>
              <a:rPr lang="en-US" sz="1400" dirty="0"/>
              <a:t>Region</a:t>
            </a:r>
          </a:p>
          <a:p>
            <a:pPr marL="742950" lvl="1" indent="-285750">
              <a:buFont typeface="Arial" panose="020B0604020202020204" pitchFamily="34" charset="0"/>
              <a:buChar char="•"/>
            </a:pPr>
            <a:r>
              <a:rPr lang="en-US" sz="1400" dirty="0"/>
              <a:t>Building/Site</a:t>
            </a:r>
          </a:p>
          <a:p>
            <a:pPr marL="285750" indent="-285750">
              <a:buFont typeface="Arial" panose="020B0604020202020204" pitchFamily="34" charset="0"/>
              <a:buChar char="•"/>
            </a:pPr>
            <a:endParaRPr lang="en-US" dirty="0"/>
          </a:p>
        </p:txBody>
      </p:sp>
      <p:sp>
        <p:nvSpPr>
          <p:cNvPr id="4" name="TextBox 3">
            <a:extLst>
              <a:ext uri="{FF2B5EF4-FFF2-40B4-BE49-F238E27FC236}">
                <a16:creationId xmlns:a16="http://schemas.microsoft.com/office/drawing/2014/main" id="{F8AA5BDB-4B6E-C61D-7743-261655A6F8A0}"/>
              </a:ext>
            </a:extLst>
          </p:cNvPr>
          <p:cNvSpPr txBox="1"/>
          <p:nvPr/>
        </p:nvSpPr>
        <p:spPr>
          <a:xfrm>
            <a:off x="3116580" y="1191339"/>
            <a:ext cx="8742459" cy="3754874"/>
          </a:xfrm>
          <a:prstGeom prst="rect">
            <a:avLst/>
          </a:prstGeom>
          <a:noFill/>
        </p:spPr>
        <p:txBody>
          <a:bodyPr wrap="square" rtlCol="0">
            <a:spAutoFit/>
          </a:bodyPr>
          <a:lstStyle/>
          <a:p>
            <a:pPr algn="just"/>
            <a:r>
              <a:rPr lang="en-US" sz="1400" b="1" i="1" dirty="0">
                <a:solidFill>
                  <a:schemeClr val="accent6">
                    <a:lumMod val="50000"/>
                  </a:schemeClr>
                </a:solidFill>
              </a:rPr>
              <a:t>Conditions –</a:t>
            </a:r>
          </a:p>
          <a:p>
            <a:pPr algn="just"/>
            <a:endParaRPr lang="en-US" sz="1400" b="1" i="1" dirty="0">
              <a:solidFill>
                <a:schemeClr val="accent6">
                  <a:lumMod val="50000"/>
                </a:schemeClr>
              </a:solidFill>
            </a:endParaRPr>
          </a:p>
          <a:p>
            <a:pPr algn="just"/>
            <a:r>
              <a:rPr lang="en-US" sz="1400" dirty="0"/>
              <a:t>	The Equipment type in SFM should match perfectly with Position Type in IFM              OR</a:t>
            </a:r>
          </a:p>
          <a:p>
            <a:pPr algn="just"/>
            <a:r>
              <a:rPr lang="en-US" sz="1400" dirty="0"/>
              <a:t>	The Equipment Type in SFM is blank/null/ other                                                                           OR</a:t>
            </a:r>
          </a:p>
          <a:p>
            <a:pPr algn="just"/>
            <a:r>
              <a:rPr lang="en-US" sz="1400" dirty="0"/>
              <a:t>	The Equipment type in SFM matches with Position type in IFM one step up level. </a:t>
            </a:r>
          </a:p>
          <a:p>
            <a:pPr algn="just"/>
            <a:r>
              <a:rPr lang="en-US" sz="1400" dirty="0"/>
              <a:t>AND</a:t>
            </a:r>
          </a:p>
          <a:p>
            <a:r>
              <a:rPr lang="en-US" sz="1400" dirty="0"/>
              <a:t>	The </a:t>
            </a:r>
            <a:r>
              <a:rPr lang="en-US" sz="1400" dirty="0" err="1"/>
              <a:t>Equipment_make</a:t>
            </a:r>
            <a:r>
              <a:rPr lang="en-US" sz="1400" dirty="0"/>
              <a:t> in SFM matches (95%) with Manufacturer in IFM HUB                  	           </a:t>
            </a:r>
          </a:p>
          <a:p>
            <a:r>
              <a:rPr lang="en-US" sz="1400" dirty="0"/>
              <a:t>AND</a:t>
            </a:r>
          </a:p>
          <a:p>
            <a:r>
              <a:rPr lang="en-US" sz="1400" dirty="0"/>
              <a:t>	The </a:t>
            </a:r>
            <a:r>
              <a:rPr lang="en-US" sz="1400" dirty="0" err="1"/>
              <a:t>Equipment_Model_Number</a:t>
            </a:r>
            <a:r>
              <a:rPr lang="en-US" sz="1400" dirty="0"/>
              <a:t> in SFM matches (95%) with Model in IFM Hub                         </a:t>
            </a:r>
          </a:p>
          <a:p>
            <a:r>
              <a:rPr lang="en-US" sz="1400" dirty="0"/>
              <a:t>AND</a:t>
            </a:r>
          </a:p>
          <a:p>
            <a:pPr algn="just"/>
            <a:r>
              <a:rPr lang="en-US" sz="1400" dirty="0"/>
              <a:t>	The </a:t>
            </a:r>
            <a:r>
              <a:rPr lang="en-US" sz="1400" dirty="0" err="1"/>
              <a:t>Equipment_Serial_Number</a:t>
            </a:r>
            <a:r>
              <a:rPr lang="en-US" sz="1400" dirty="0"/>
              <a:t> in SFM matches (100%) with Serial Number in IFM HUB </a:t>
            </a:r>
          </a:p>
          <a:p>
            <a:pPr algn="just"/>
            <a:r>
              <a:rPr lang="en-US" sz="1400" dirty="0"/>
              <a:t>AND</a:t>
            </a:r>
          </a:p>
          <a:p>
            <a:pPr algn="just"/>
            <a:r>
              <a:rPr lang="en-US" sz="1400" dirty="0"/>
              <a:t>	The combination of Country, State, City in SFM matches (90%) with Region Name in IFM</a:t>
            </a:r>
          </a:p>
          <a:p>
            <a:pPr algn="just"/>
            <a:r>
              <a:rPr lang="en-US" sz="1400" dirty="0"/>
              <a:t>AND</a:t>
            </a:r>
          </a:p>
          <a:p>
            <a:pPr algn="just"/>
            <a:r>
              <a:rPr lang="en-US" sz="1400" dirty="0"/>
              <a:t>	The Site name in SFM matches (75%) with Building Name in IFM Hub</a:t>
            </a:r>
          </a:p>
          <a:p>
            <a:pPr marL="171450" indent="-171450" algn="just">
              <a:buFont typeface="Arial" panose="020B0604020202020204" pitchFamily="34" charset="0"/>
              <a:buChar char="•"/>
            </a:pPr>
            <a:endParaRPr lang="en-US" sz="1400" dirty="0"/>
          </a:p>
          <a:p>
            <a:pPr algn="just"/>
            <a:endParaRPr lang="en-US" sz="1400" dirty="0"/>
          </a:p>
        </p:txBody>
      </p:sp>
    </p:spTree>
    <p:extLst>
      <p:ext uri="{BB962C8B-B14F-4D97-AF65-F5344CB8AC3E}">
        <p14:creationId xmlns:p14="http://schemas.microsoft.com/office/powerpoint/2010/main" val="150805440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3E2C8C-AFDB-702E-5EFF-C2288FCC0FD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43AAB62-F774-FCCD-63A9-35D9C896084A}"/>
              </a:ext>
            </a:extLst>
          </p:cNvPr>
          <p:cNvSpPr txBox="1"/>
          <p:nvPr/>
        </p:nvSpPr>
        <p:spPr>
          <a:xfrm>
            <a:off x="367251" y="693420"/>
            <a:ext cx="6361209" cy="369332"/>
          </a:xfrm>
          <a:prstGeom prst="rect">
            <a:avLst/>
          </a:prstGeom>
          <a:noFill/>
        </p:spPr>
        <p:txBody>
          <a:bodyPr wrap="square" rtlCol="0">
            <a:spAutoFit/>
          </a:bodyPr>
          <a:lstStyle/>
          <a:p>
            <a:r>
              <a:rPr lang="en-US" b="1" dirty="0">
                <a:solidFill>
                  <a:schemeClr val="accent6">
                    <a:lumMod val="50000"/>
                  </a:schemeClr>
                </a:solidFill>
                <a:latin typeface="Calibre Medium" panose="020B0603030202060203" pitchFamily="34" charset="0"/>
              </a:rPr>
              <a:t>Sample Matches on Perfect Match – Approach 3 </a:t>
            </a:r>
          </a:p>
        </p:txBody>
      </p:sp>
      <p:graphicFrame>
        <p:nvGraphicFramePr>
          <p:cNvPr id="8" name="Table 7">
            <a:extLst>
              <a:ext uri="{FF2B5EF4-FFF2-40B4-BE49-F238E27FC236}">
                <a16:creationId xmlns:a16="http://schemas.microsoft.com/office/drawing/2014/main" id="{3A620993-24D0-5678-CB2B-18682866A20F}"/>
              </a:ext>
            </a:extLst>
          </p:cNvPr>
          <p:cNvGraphicFramePr>
            <a:graphicFrameLocks noGrp="1"/>
          </p:cNvGraphicFramePr>
          <p:nvPr>
            <p:extLst>
              <p:ext uri="{D42A27DB-BD31-4B8C-83A1-F6EECF244321}">
                <p14:modId xmlns:p14="http://schemas.microsoft.com/office/powerpoint/2010/main" val="338886154"/>
              </p:ext>
            </p:extLst>
          </p:nvPr>
        </p:nvGraphicFramePr>
        <p:xfrm>
          <a:off x="595851" y="1301734"/>
          <a:ext cx="8212869" cy="2351193"/>
        </p:xfrm>
        <a:graphic>
          <a:graphicData uri="http://schemas.openxmlformats.org/drawingml/2006/table">
            <a:tbl>
              <a:tblPr firstRow="1" bandRow="1">
                <a:tableStyleId>{5C22544A-7EE6-4342-B048-85BDC9FD1C3A}</a:tableStyleId>
              </a:tblPr>
              <a:tblGrid>
                <a:gridCol w="4129017">
                  <a:extLst>
                    <a:ext uri="{9D8B030D-6E8A-4147-A177-3AD203B41FA5}">
                      <a16:colId xmlns:a16="http://schemas.microsoft.com/office/drawing/2014/main" val="1713291588"/>
                    </a:ext>
                  </a:extLst>
                </a:gridCol>
                <a:gridCol w="4083852">
                  <a:extLst>
                    <a:ext uri="{9D8B030D-6E8A-4147-A177-3AD203B41FA5}">
                      <a16:colId xmlns:a16="http://schemas.microsoft.com/office/drawing/2014/main" val="3548403619"/>
                    </a:ext>
                  </a:extLst>
                </a:gridCol>
              </a:tblGrid>
              <a:tr h="259939">
                <a:tc>
                  <a:txBody>
                    <a:bodyPr/>
                    <a:lstStyle/>
                    <a:p>
                      <a:r>
                        <a:rPr lang="en-US" sz="1000" dirty="0"/>
                        <a:t>SFM Asset</a:t>
                      </a:r>
                    </a:p>
                  </a:txBody>
                  <a:tcPr/>
                </a:tc>
                <a:tc>
                  <a:txBody>
                    <a:bodyPr/>
                    <a:lstStyle/>
                    <a:p>
                      <a:r>
                        <a:rPr lang="en-US" sz="1000" dirty="0"/>
                        <a:t>IFM Asset</a:t>
                      </a:r>
                    </a:p>
                  </a:txBody>
                  <a:tcPr/>
                </a:tc>
                <a:extLst>
                  <a:ext uri="{0D108BD9-81ED-4DB2-BD59-A6C34878D82A}">
                    <a16:rowId xmlns:a16="http://schemas.microsoft.com/office/drawing/2014/main" val="2599310792"/>
                  </a:ext>
                </a:extLst>
              </a:tr>
              <a:tr h="312847">
                <a:tc>
                  <a:txBody>
                    <a:bodyPr/>
                    <a:lstStyle/>
                    <a:p>
                      <a:r>
                        <a:rPr lang="en-US" sz="1000" b="1" dirty="0"/>
                        <a:t>Equipment Type – </a:t>
                      </a:r>
                      <a:r>
                        <a:rPr lang="en-US" sz="1000" b="0" dirty="0"/>
                        <a:t>Evaporator</a:t>
                      </a:r>
                    </a:p>
                  </a:txBody>
                  <a:tcPr/>
                </a:tc>
                <a:tc>
                  <a:txBody>
                    <a:bodyPr/>
                    <a:lstStyle/>
                    <a:p>
                      <a:r>
                        <a:rPr lang="en-US" sz="1000" b="1" dirty="0"/>
                        <a:t>Position Type - </a:t>
                      </a:r>
                      <a:r>
                        <a:rPr lang="en-US" sz="1000" b="0" dirty="0"/>
                        <a:t>Evaporator (D3030.09)</a:t>
                      </a:r>
                    </a:p>
                  </a:txBody>
                  <a:tcPr/>
                </a:tc>
                <a:extLst>
                  <a:ext uri="{0D108BD9-81ED-4DB2-BD59-A6C34878D82A}">
                    <a16:rowId xmlns:a16="http://schemas.microsoft.com/office/drawing/2014/main" val="3024384071"/>
                  </a:ext>
                </a:extLst>
              </a:tr>
              <a:tr h="47871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1" dirty="0" err="1">
                          <a:solidFill>
                            <a:srgbClr val="FF0000"/>
                          </a:solidFill>
                        </a:rPr>
                        <a:t>Nav_Name</a:t>
                      </a:r>
                      <a:r>
                        <a:rPr lang="en-US" sz="1000" b="1" dirty="0">
                          <a:solidFill>
                            <a:srgbClr val="FF0000"/>
                          </a:solidFill>
                        </a:rPr>
                        <a:t> –  </a:t>
                      </a:r>
                      <a:r>
                        <a:rPr lang="en-US" sz="1000" b="0" dirty="0" err="1">
                          <a:solidFill>
                            <a:srgbClr val="FF0000"/>
                          </a:solidFill>
                        </a:rPr>
                        <a:t>Evaporator_Basement</a:t>
                      </a:r>
                      <a:r>
                        <a:rPr lang="en-US" sz="1000" b="0" dirty="0">
                          <a:solidFill>
                            <a:srgbClr val="FF0000"/>
                          </a:solidFill>
                        </a:rPr>
                        <a:t> room_Unit1</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b="1" dirty="0" err="1">
                          <a:solidFill>
                            <a:srgbClr val="FF0000"/>
                          </a:solidFill>
                        </a:rPr>
                        <a:t>Equipment_Name</a:t>
                      </a:r>
                      <a:r>
                        <a:rPr lang="en-US" sz="1000" b="1" dirty="0">
                          <a:solidFill>
                            <a:srgbClr val="FF0000"/>
                          </a:solidFill>
                        </a:rPr>
                        <a:t> –  </a:t>
                      </a:r>
                      <a:r>
                        <a:rPr lang="en-US" sz="1000" b="0" dirty="0" err="1">
                          <a:solidFill>
                            <a:srgbClr val="FF0000"/>
                          </a:solidFill>
                        </a:rPr>
                        <a:t>Evaporator_Basement</a:t>
                      </a:r>
                      <a:r>
                        <a:rPr lang="en-US" sz="1000" b="0" dirty="0">
                          <a:solidFill>
                            <a:srgbClr val="FF0000"/>
                          </a:solidFill>
                        </a:rPr>
                        <a:t> room_Unit1</a:t>
                      </a:r>
                    </a:p>
                  </a:txBody>
                  <a:tcPr/>
                </a:tc>
                <a:tc>
                  <a:txBody>
                    <a:bodyPr/>
                    <a:lstStyle/>
                    <a:p>
                      <a:r>
                        <a:rPr lang="en-US" sz="1000" b="1" dirty="0">
                          <a:solidFill>
                            <a:srgbClr val="FF0000"/>
                          </a:solidFill>
                        </a:rPr>
                        <a:t>Position name –  </a:t>
                      </a:r>
                      <a:r>
                        <a:rPr lang="en-US" sz="1000" b="0" dirty="0" err="1">
                          <a:solidFill>
                            <a:srgbClr val="FF0000"/>
                          </a:solidFill>
                        </a:rPr>
                        <a:t>EVP_Base_Building</a:t>
                      </a:r>
                      <a:endParaRPr lang="en-US" sz="1000" b="0" dirty="0">
                        <a:solidFill>
                          <a:srgbClr val="FF0000"/>
                        </a:solidFill>
                      </a:endParaRPr>
                    </a:p>
                    <a:p>
                      <a:r>
                        <a:rPr lang="en-US" sz="1000" b="1" dirty="0">
                          <a:solidFill>
                            <a:srgbClr val="FF0000"/>
                          </a:solidFill>
                        </a:rPr>
                        <a:t>Asset Name </a:t>
                      </a:r>
                      <a:r>
                        <a:rPr lang="en-US" sz="1000" b="0" dirty="0">
                          <a:solidFill>
                            <a:srgbClr val="FF0000"/>
                          </a:solidFill>
                        </a:rPr>
                        <a:t>- </a:t>
                      </a:r>
                      <a:r>
                        <a:rPr lang="en-US" sz="1000" b="0" dirty="0" err="1">
                          <a:solidFill>
                            <a:srgbClr val="FF0000"/>
                          </a:solidFill>
                        </a:rPr>
                        <a:t>EVP_Base</a:t>
                      </a:r>
                      <a:endParaRPr lang="en-US" sz="1000" b="0" dirty="0">
                        <a:solidFill>
                          <a:srgbClr val="FF0000"/>
                        </a:solidFill>
                      </a:endParaRPr>
                    </a:p>
                  </a:txBody>
                  <a:tcPr/>
                </a:tc>
                <a:extLst>
                  <a:ext uri="{0D108BD9-81ED-4DB2-BD59-A6C34878D82A}">
                    <a16:rowId xmlns:a16="http://schemas.microsoft.com/office/drawing/2014/main" val="633798941"/>
                  </a:ext>
                </a:extLst>
              </a:tr>
              <a:tr h="259939">
                <a:tc>
                  <a:txBody>
                    <a:bodyPr/>
                    <a:lstStyle/>
                    <a:p>
                      <a:r>
                        <a:rPr lang="en-US" sz="1000" b="1" dirty="0" err="1"/>
                        <a:t>Equipment_Make</a:t>
                      </a:r>
                      <a:r>
                        <a:rPr lang="en-US" sz="1000" b="1" dirty="0"/>
                        <a:t> - </a:t>
                      </a:r>
                      <a:r>
                        <a:rPr lang="en-US" sz="1000" b="0" dirty="0"/>
                        <a:t>Trane</a:t>
                      </a:r>
                    </a:p>
                  </a:txBody>
                  <a:tcPr/>
                </a:tc>
                <a:tc>
                  <a:txBody>
                    <a:bodyPr/>
                    <a:lstStyle/>
                    <a:p>
                      <a:r>
                        <a:rPr lang="en-US" sz="1000" b="1" dirty="0"/>
                        <a:t>Manufacturer – </a:t>
                      </a:r>
                      <a:r>
                        <a:rPr lang="en-US" sz="1000" b="0" dirty="0"/>
                        <a:t>Trane</a:t>
                      </a:r>
                    </a:p>
                  </a:txBody>
                  <a:tcPr/>
                </a:tc>
                <a:extLst>
                  <a:ext uri="{0D108BD9-81ED-4DB2-BD59-A6C34878D82A}">
                    <a16:rowId xmlns:a16="http://schemas.microsoft.com/office/drawing/2014/main" val="3471013263"/>
                  </a:ext>
                </a:extLst>
              </a:tr>
              <a:tr h="259939">
                <a:tc>
                  <a:txBody>
                    <a:bodyPr/>
                    <a:lstStyle/>
                    <a:p>
                      <a:r>
                        <a:rPr lang="en-US" sz="1000" b="1" dirty="0" err="1">
                          <a:solidFill>
                            <a:schemeClr val="tx1"/>
                          </a:solidFill>
                        </a:rPr>
                        <a:t>Equipment_Model_Number</a:t>
                      </a:r>
                      <a:r>
                        <a:rPr lang="en-US" sz="1000" b="1" dirty="0">
                          <a:solidFill>
                            <a:schemeClr val="tx1"/>
                          </a:solidFill>
                        </a:rPr>
                        <a:t> – </a:t>
                      </a:r>
                      <a:r>
                        <a:rPr lang="en-US" sz="1000" b="0" dirty="0">
                          <a:solidFill>
                            <a:schemeClr val="tx1"/>
                          </a:solidFill>
                        </a:rPr>
                        <a:t>TRNVZCQW</a:t>
                      </a:r>
                    </a:p>
                  </a:txBody>
                  <a:tcPr/>
                </a:tc>
                <a:tc>
                  <a:txBody>
                    <a:bodyPr/>
                    <a:lstStyle/>
                    <a:p>
                      <a:r>
                        <a:rPr lang="en-US" sz="1000" b="1" dirty="0">
                          <a:solidFill>
                            <a:schemeClr val="tx1"/>
                          </a:solidFill>
                        </a:rPr>
                        <a:t>Model – </a:t>
                      </a:r>
                      <a:r>
                        <a:rPr lang="en-US" sz="1000" b="0" dirty="0">
                          <a:solidFill>
                            <a:schemeClr val="tx1"/>
                          </a:solidFill>
                        </a:rPr>
                        <a:t>TRNVZCQW</a:t>
                      </a:r>
                    </a:p>
                  </a:txBody>
                  <a:tcPr/>
                </a:tc>
                <a:extLst>
                  <a:ext uri="{0D108BD9-81ED-4DB2-BD59-A6C34878D82A}">
                    <a16:rowId xmlns:a16="http://schemas.microsoft.com/office/drawing/2014/main" val="2466397732"/>
                  </a:ext>
                </a:extLst>
              </a:tr>
              <a:tr h="259939">
                <a:tc>
                  <a:txBody>
                    <a:bodyPr/>
                    <a:lstStyle/>
                    <a:p>
                      <a:r>
                        <a:rPr lang="en-US" sz="1000" b="1" dirty="0">
                          <a:solidFill>
                            <a:schemeClr val="tx1"/>
                          </a:solidFill>
                        </a:rPr>
                        <a:t>Equipment </a:t>
                      </a:r>
                      <a:r>
                        <a:rPr lang="en-US" sz="1000" b="1" dirty="0" err="1">
                          <a:solidFill>
                            <a:schemeClr val="tx1"/>
                          </a:solidFill>
                        </a:rPr>
                        <a:t>Serial_Number</a:t>
                      </a:r>
                      <a:r>
                        <a:rPr lang="en-US" sz="1000" b="1" dirty="0">
                          <a:solidFill>
                            <a:schemeClr val="tx1"/>
                          </a:solidFill>
                        </a:rPr>
                        <a:t>  - </a:t>
                      </a:r>
                      <a:r>
                        <a:rPr lang="en-US" sz="1000" b="0" dirty="0">
                          <a:solidFill>
                            <a:schemeClr val="tx1"/>
                          </a:solidFill>
                        </a:rPr>
                        <a:t>BZ123NBZ1</a:t>
                      </a:r>
                    </a:p>
                  </a:txBody>
                  <a:tcPr/>
                </a:tc>
                <a:tc>
                  <a:txBody>
                    <a:bodyPr/>
                    <a:lstStyle/>
                    <a:p>
                      <a:r>
                        <a:rPr lang="en-US" sz="1000" b="1" dirty="0">
                          <a:solidFill>
                            <a:schemeClr val="tx1"/>
                          </a:solidFill>
                        </a:rPr>
                        <a:t>Serial Number - </a:t>
                      </a:r>
                      <a:r>
                        <a:rPr lang="en-US" sz="1000" b="0" dirty="0">
                          <a:solidFill>
                            <a:schemeClr val="tx1"/>
                          </a:solidFill>
                        </a:rPr>
                        <a:t>BZ123NBZ1</a:t>
                      </a:r>
                    </a:p>
                  </a:txBody>
                  <a:tcPr/>
                </a:tc>
                <a:extLst>
                  <a:ext uri="{0D108BD9-81ED-4DB2-BD59-A6C34878D82A}">
                    <a16:rowId xmlns:a16="http://schemas.microsoft.com/office/drawing/2014/main" val="780661850"/>
                  </a:ext>
                </a:extLst>
              </a:tr>
              <a:tr h="259939">
                <a:tc>
                  <a:txBody>
                    <a:bodyPr/>
                    <a:lstStyle/>
                    <a:p>
                      <a:r>
                        <a:rPr lang="en-US" sz="1000" b="1" dirty="0"/>
                        <a:t>Country, State, City --- </a:t>
                      </a:r>
                      <a:r>
                        <a:rPr lang="en-US" sz="1000" b="0" dirty="0"/>
                        <a:t>US, NC, Charlotte</a:t>
                      </a:r>
                    </a:p>
                  </a:txBody>
                  <a:tcPr/>
                </a:tc>
                <a:tc>
                  <a:txBody>
                    <a:bodyPr/>
                    <a:lstStyle/>
                    <a:p>
                      <a:r>
                        <a:rPr lang="en-US" sz="1000" b="1" dirty="0"/>
                        <a:t>Region - </a:t>
                      </a:r>
                      <a:r>
                        <a:rPr lang="en-US" sz="1000" b="0" dirty="0"/>
                        <a:t>US, NC, Charlotte</a:t>
                      </a:r>
                    </a:p>
                  </a:txBody>
                  <a:tcPr/>
                </a:tc>
                <a:extLst>
                  <a:ext uri="{0D108BD9-81ED-4DB2-BD59-A6C34878D82A}">
                    <a16:rowId xmlns:a16="http://schemas.microsoft.com/office/drawing/2014/main" val="4121694875"/>
                  </a:ext>
                </a:extLst>
              </a:tr>
              <a:tr h="259939">
                <a:tc>
                  <a:txBody>
                    <a:bodyPr/>
                    <a:lstStyle/>
                    <a:p>
                      <a:r>
                        <a:rPr lang="en-US" sz="1000" b="1" dirty="0"/>
                        <a:t>Site – </a:t>
                      </a:r>
                      <a:r>
                        <a:rPr lang="en-US" sz="1000" b="0" dirty="0"/>
                        <a:t>4000 Hollywood Boulevard</a:t>
                      </a:r>
                    </a:p>
                  </a:txBody>
                  <a:tcPr/>
                </a:tc>
                <a:tc>
                  <a:txBody>
                    <a:bodyPr/>
                    <a:lstStyle/>
                    <a:p>
                      <a:r>
                        <a:rPr lang="en-US" sz="1000" b="1" dirty="0"/>
                        <a:t>Building –  </a:t>
                      </a:r>
                      <a:r>
                        <a:rPr lang="en-US" sz="1000" b="0" dirty="0"/>
                        <a:t>Hollywood Boulevard</a:t>
                      </a:r>
                    </a:p>
                  </a:txBody>
                  <a:tcPr/>
                </a:tc>
                <a:extLst>
                  <a:ext uri="{0D108BD9-81ED-4DB2-BD59-A6C34878D82A}">
                    <a16:rowId xmlns:a16="http://schemas.microsoft.com/office/drawing/2014/main" val="250341676"/>
                  </a:ext>
                </a:extLst>
              </a:tr>
            </a:tbl>
          </a:graphicData>
        </a:graphic>
      </p:graphicFrame>
      <p:graphicFrame>
        <p:nvGraphicFramePr>
          <p:cNvPr id="4" name="Table 3">
            <a:extLst>
              <a:ext uri="{FF2B5EF4-FFF2-40B4-BE49-F238E27FC236}">
                <a16:creationId xmlns:a16="http://schemas.microsoft.com/office/drawing/2014/main" id="{55295F05-49E6-DA20-4B15-64909CF04BFE}"/>
              </a:ext>
            </a:extLst>
          </p:cNvPr>
          <p:cNvGraphicFramePr>
            <a:graphicFrameLocks noGrp="1"/>
          </p:cNvGraphicFramePr>
          <p:nvPr>
            <p:extLst>
              <p:ext uri="{D42A27DB-BD31-4B8C-83A1-F6EECF244321}">
                <p14:modId xmlns:p14="http://schemas.microsoft.com/office/powerpoint/2010/main" val="1707870161"/>
              </p:ext>
            </p:extLst>
          </p:nvPr>
        </p:nvGraphicFramePr>
        <p:xfrm>
          <a:off x="595851" y="4001462"/>
          <a:ext cx="8212869" cy="2460746"/>
        </p:xfrm>
        <a:graphic>
          <a:graphicData uri="http://schemas.openxmlformats.org/drawingml/2006/table">
            <a:tbl>
              <a:tblPr firstRow="1" bandRow="1">
                <a:tableStyleId>{5C22544A-7EE6-4342-B048-85BDC9FD1C3A}</a:tableStyleId>
              </a:tblPr>
              <a:tblGrid>
                <a:gridCol w="4129017">
                  <a:extLst>
                    <a:ext uri="{9D8B030D-6E8A-4147-A177-3AD203B41FA5}">
                      <a16:colId xmlns:a16="http://schemas.microsoft.com/office/drawing/2014/main" val="1713291588"/>
                    </a:ext>
                  </a:extLst>
                </a:gridCol>
                <a:gridCol w="4083852">
                  <a:extLst>
                    <a:ext uri="{9D8B030D-6E8A-4147-A177-3AD203B41FA5}">
                      <a16:colId xmlns:a16="http://schemas.microsoft.com/office/drawing/2014/main" val="3548403619"/>
                    </a:ext>
                  </a:extLst>
                </a:gridCol>
              </a:tblGrid>
              <a:tr h="259939">
                <a:tc>
                  <a:txBody>
                    <a:bodyPr/>
                    <a:lstStyle/>
                    <a:p>
                      <a:r>
                        <a:rPr lang="en-US" sz="1000" dirty="0"/>
                        <a:t>SFM Asset</a:t>
                      </a:r>
                    </a:p>
                  </a:txBody>
                  <a:tcPr/>
                </a:tc>
                <a:tc>
                  <a:txBody>
                    <a:bodyPr/>
                    <a:lstStyle/>
                    <a:p>
                      <a:r>
                        <a:rPr lang="en-US" sz="1000" dirty="0"/>
                        <a:t>IFM Asset</a:t>
                      </a:r>
                    </a:p>
                  </a:txBody>
                  <a:tcPr/>
                </a:tc>
                <a:extLst>
                  <a:ext uri="{0D108BD9-81ED-4DB2-BD59-A6C34878D82A}">
                    <a16:rowId xmlns:a16="http://schemas.microsoft.com/office/drawing/2014/main" val="2599310792"/>
                  </a:ext>
                </a:extLst>
              </a:tr>
              <a:tr h="422400">
                <a:tc>
                  <a:txBody>
                    <a:bodyPr/>
                    <a:lstStyle/>
                    <a:p>
                      <a:r>
                        <a:rPr lang="en-US" sz="1000" b="1" dirty="0">
                          <a:solidFill>
                            <a:srgbClr val="FF0000"/>
                          </a:solidFill>
                        </a:rPr>
                        <a:t>Equipment Type - </a:t>
                      </a:r>
                      <a:r>
                        <a:rPr lang="en-US" sz="1000" b="0" dirty="0">
                          <a:solidFill>
                            <a:srgbClr val="FF0000"/>
                          </a:solidFill>
                        </a:rPr>
                        <a:t>Null</a:t>
                      </a:r>
                    </a:p>
                  </a:txBody>
                  <a:tcPr/>
                </a:tc>
                <a:tc>
                  <a:txBody>
                    <a:bodyPr/>
                    <a:lstStyle/>
                    <a:p>
                      <a:r>
                        <a:rPr lang="en-US" sz="1000" b="1" dirty="0">
                          <a:solidFill>
                            <a:srgbClr val="FF0000"/>
                          </a:solidFill>
                        </a:rPr>
                        <a:t>Position Type - </a:t>
                      </a:r>
                      <a:r>
                        <a:rPr lang="en-US" sz="1000" b="0" dirty="0">
                          <a:solidFill>
                            <a:srgbClr val="FF0000"/>
                          </a:solidFill>
                        </a:rPr>
                        <a:t>Air Handling Unit  (D3040.02)</a:t>
                      </a:r>
                    </a:p>
                  </a:txBody>
                  <a:tcPr/>
                </a:tc>
                <a:extLst>
                  <a:ext uri="{0D108BD9-81ED-4DB2-BD59-A6C34878D82A}">
                    <a16:rowId xmlns:a16="http://schemas.microsoft.com/office/drawing/2014/main" val="3024384071"/>
                  </a:ext>
                </a:extLst>
              </a:tr>
              <a:tr h="47871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1" dirty="0" err="1">
                          <a:solidFill>
                            <a:srgbClr val="FF0000"/>
                          </a:solidFill>
                        </a:rPr>
                        <a:t>Nav_Name</a:t>
                      </a:r>
                      <a:r>
                        <a:rPr lang="en-US" sz="1000" b="1" dirty="0">
                          <a:solidFill>
                            <a:srgbClr val="FF0000"/>
                          </a:solidFill>
                        </a:rPr>
                        <a:t> –  </a:t>
                      </a:r>
                      <a:r>
                        <a:rPr lang="en-US" sz="1000" b="0" dirty="0">
                          <a:solidFill>
                            <a:srgbClr val="FF0000"/>
                          </a:solidFill>
                        </a:rPr>
                        <a:t>AHU_01</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b="1" dirty="0" err="1">
                          <a:solidFill>
                            <a:srgbClr val="FF0000"/>
                          </a:solidFill>
                        </a:rPr>
                        <a:t>Equipment_Name</a:t>
                      </a:r>
                      <a:r>
                        <a:rPr lang="en-US" sz="1000" b="1" dirty="0">
                          <a:solidFill>
                            <a:srgbClr val="FF0000"/>
                          </a:solidFill>
                        </a:rPr>
                        <a:t> – </a:t>
                      </a:r>
                      <a:r>
                        <a:rPr lang="en-US" sz="1000" b="0" dirty="0">
                          <a:solidFill>
                            <a:srgbClr val="FF0000"/>
                          </a:solidFill>
                        </a:rPr>
                        <a:t>AHU_01</a:t>
                      </a:r>
                    </a:p>
                  </a:txBody>
                  <a:tcPr/>
                </a:tc>
                <a:tc>
                  <a:txBody>
                    <a:bodyPr/>
                    <a:lstStyle/>
                    <a:p>
                      <a:r>
                        <a:rPr lang="en-US" sz="1000" b="1" dirty="0">
                          <a:solidFill>
                            <a:srgbClr val="FF0000"/>
                          </a:solidFill>
                        </a:rPr>
                        <a:t>Position name –  </a:t>
                      </a:r>
                      <a:r>
                        <a:rPr lang="en-US" sz="1000" b="0" dirty="0">
                          <a:solidFill>
                            <a:srgbClr val="FF0000"/>
                          </a:solidFill>
                        </a:rPr>
                        <a:t>Air Handling Unit_01_Top Room</a:t>
                      </a:r>
                    </a:p>
                    <a:p>
                      <a:r>
                        <a:rPr lang="en-US" sz="1000" b="1" dirty="0">
                          <a:solidFill>
                            <a:srgbClr val="FF0000"/>
                          </a:solidFill>
                        </a:rPr>
                        <a:t>Asset Name </a:t>
                      </a:r>
                      <a:r>
                        <a:rPr lang="en-US" sz="1000" b="0" dirty="0">
                          <a:solidFill>
                            <a:srgbClr val="FF0000"/>
                          </a:solidFill>
                        </a:rPr>
                        <a:t>- Air Handling Unit_01</a:t>
                      </a:r>
                    </a:p>
                  </a:txBody>
                  <a:tcPr/>
                </a:tc>
                <a:extLst>
                  <a:ext uri="{0D108BD9-81ED-4DB2-BD59-A6C34878D82A}">
                    <a16:rowId xmlns:a16="http://schemas.microsoft.com/office/drawing/2014/main" val="633798941"/>
                  </a:ext>
                </a:extLst>
              </a:tr>
              <a:tr h="259939">
                <a:tc>
                  <a:txBody>
                    <a:bodyPr/>
                    <a:lstStyle/>
                    <a:p>
                      <a:r>
                        <a:rPr lang="en-US" sz="1000" b="1" dirty="0" err="1"/>
                        <a:t>Equipment_Make</a:t>
                      </a:r>
                      <a:r>
                        <a:rPr lang="en-US" sz="1000" b="1" dirty="0"/>
                        <a:t> - </a:t>
                      </a:r>
                      <a:r>
                        <a:rPr lang="en-US" sz="1000" b="0" dirty="0"/>
                        <a:t>Daikin</a:t>
                      </a:r>
                    </a:p>
                  </a:txBody>
                  <a:tcPr/>
                </a:tc>
                <a:tc>
                  <a:txBody>
                    <a:bodyPr/>
                    <a:lstStyle/>
                    <a:p>
                      <a:r>
                        <a:rPr lang="en-US" sz="1000" b="1" dirty="0"/>
                        <a:t>Manufacturer - </a:t>
                      </a:r>
                      <a:r>
                        <a:rPr lang="en-US" sz="1000" b="0" dirty="0"/>
                        <a:t>Daikin</a:t>
                      </a:r>
                    </a:p>
                  </a:txBody>
                  <a:tcPr/>
                </a:tc>
                <a:extLst>
                  <a:ext uri="{0D108BD9-81ED-4DB2-BD59-A6C34878D82A}">
                    <a16:rowId xmlns:a16="http://schemas.microsoft.com/office/drawing/2014/main" val="3471013263"/>
                  </a:ext>
                </a:extLst>
              </a:tr>
              <a:tr h="259939">
                <a:tc>
                  <a:txBody>
                    <a:bodyPr/>
                    <a:lstStyle/>
                    <a:p>
                      <a:r>
                        <a:rPr lang="en-US" sz="1000" b="1" dirty="0" err="1"/>
                        <a:t>Equipment_Model_Number</a:t>
                      </a:r>
                      <a:r>
                        <a:rPr lang="en-US" sz="1000" b="1" dirty="0"/>
                        <a:t> – </a:t>
                      </a:r>
                      <a:r>
                        <a:rPr lang="en-US" sz="1000" b="0" dirty="0"/>
                        <a:t>NADS133</a:t>
                      </a:r>
                    </a:p>
                  </a:txBody>
                  <a:tcPr/>
                </a:tc>
                <a:tc>
                  <a:txBody>
                    <a:bodyPr/>
                    <a:lstStyle/>
                    <a:p>
                      <a:r>
                        <a:rPr lang="en-US" sz="1000" b="1" dirty="0"/>
                        <a:t>Model – </a:t>
                      </a:r>
                      <a:r>
                        <a:rPr lang="en-US" sz="1000" b="0" dirty="0"/>
                        <a:t>NADS133</a:t>
                      </a:r>
                    </a:p>
                  </a:txBody>
                  <a:tcPr/>
                </a:tc>
                <a:extLst>
                  <a:ext uri="{0D108BD9-81ED-4DB2-BD59-A6C34878D82A}">
                    <a16:rowId xmlns:a16="http://schemas.microsoft.com/office/drawing/2014/main" val="2466397732"/>
                  </a:ext>
                </a:extLst>
              </a:tr>
              <a:tr h="259939">
                <a:tc>
                  <a:txBody>
                    <a:bodyPr/>
                    <a:lstStyle/>
                    <a:p>
                      <a:r>
                        <a:rPr lang="en-US" sz="1000" b="1" dirty="0"/>
                        <a:t>Equipment </a:t>
                      </a:r>
                      <a:r>
                        <a:rPr lang="en-US" sz="1000" b="1" dirty="0" err="1"/>
                        <a:t>Serial_Number</a:t>
                      </a:r>
                      <a:r>
                        <a:rPr lang="en-US" sz="1000" b="1" dirty="0"/>
                        <a:t>  -</a:t>
                      </a:r>
                      <a:r>
                        <a:rPr lang="en-US" sz="1000" b="0" dirty="0"/>
                        <a:t>ZXC1245ADSA</a:t>
                      </a:r>
                    </a:p>
                  </a:txBody>
                  <a:tcPr/>
                </a:tc>
                <a:tc>
                  <a:txBody>
                    <a:bodyPr/>
                    <a:lstStyle/>
                    <a:p>
                      <a:r>
                        <a:rPr lang="en-US" sz="1000" b="1" dirty="0"/>
                        <a:t>Serial Number - </a:t>
                      </a:r>
                      <a:r>
                        <a:rPr lang="en-US" sz="1000" b="0" dirty="0"/>
                        <a:t>ZXC1245ADSA</a:t>
                      </a:r>
                    </a:p>
                  </a:txBody>
                  <a:tcPr/>
                </a:tc>
                <a:extLst>
                  <a:ext uri="{0D108BD9-81ED-4DB2-BD59-A6C34878D82A}">
                    <a16:rowId xmlns:a16="http://schemas.microsoft.com/office/drawing/2014/main" val="780661850"/>
                  </a:ext>
                </a:extLst>
              </a:tr>
              <a:tr h="259939">
                <a:tc>
                  <a:txBody>
                    <a:bodyPr/>
                    <a:lstStyle/>
                    <a:p>
                      <a:r>
                        <a:rPr lang="en-US" sz="1000" b="1" dirty="0"/>
                        <a:t>Country, State, City --- </a:t>
                      </a:r>
                      <a:r>
                        <a:rPr lang="en-US" sz="1000" b="0" dirty="0"/>
                        <a:t>US, TX, Dallas</a:t>
                      </a:r>
                    </a:p>
                  </a:txBody>
                  <a:tcPr/>
                </a:tc>
                <a:tc>
                  <a:txBody>
                    <a:bodyPr/>
                    <a:lstStyle/>
                    <a:p>
                      <a:r>
                        <a:rPr lang="en-US" sz="1000" b="1" dirty="0"/>
                        <a:t>Region - </a:t>
                      </a:r>
                      <a:r>
                        <a:rPr lang="en-US" sz="1000" b="0" dirty="0"/>
                        <a:t>US, TX, Dallas</a:t>
                      </a:r>
                    </a:p>
                  </a:txBody>
                  <a:tcPr/>
                </a:tc>
                <a:extLst>
                  <a:ext uri="{0D108BD9-81ED-4DB2-BD59-A6C34878D82A}">
                    <a16:rowId xmlns:a16="http://schemas.microsoft.com/office/drawing/2014/main" val="4121694875"/>
                  </a:ext>
                </a:extLst>
              </a:tr>
              <a:tr h="259939">
                <a:tc>
                  <a:txBody>
                    <a:bodyPr/>
                    <a:lstStyle/>
                    <a:p>
                      <a:r>
                        <a:rPr lang="en-US" sz="1000" b="1" dirty="0"/>
                        <a:t>Site – </a:t>
                      </a:r>
                      <a:r>
                        <a:rPr lang="en-US" sz="1000" b="0" dirty="0"/>
                        <a:t>300, Trailwood Dr</a:t>
                      </a:r>
                    </a:p>
                  </a:txBody>
                  <a:tcPr/>
                </a:tc>
                <a:tc>
                  <a:txBody>
                    <a:bodyPr/>
                    <a:lstStyle/>
                    <a:p>
                      <a:r>
                        <a:rPr lang="en-US" sz="1000" b="1" dirty="0"/>
                        <a:t>Building – </a:t>
                      </a:r>
                      <a:r>
                        <a:rPr lang="en-US" sz="1000" b="0" dirty="0" err="1"/>
                        <a:t>Traildwood</a:t>
                      </a:r>
                      <a:r>
                        <a:rPr lang="en-US" sz="1000" b="0" dirty="0"/>
                        <a:t> Dr Data Center</a:t>
                      </a:r>
                    </a:p>
                  </a:txBody>
                  <a:tcPr/>
                </a:tc>
                <a:extLst>
                  <a:ext uri="{0D108BD9-81ED-4DB2-BD59-A6C34878D82A}">
                    <a16:rowId xmlns:a16="http://schemas.microsoft.com/office/drawing/2014/main" val="250341676"/>
                  </a:ext>
                </a:extLst>
              </a:tr>
            </a:tbl>
          </a:graphicData>
        </a:graphic>
      </p:graphicFrame>
    </p:spTree>
    <p:extLst>
      <p:ext uri="{BB962C8B-B14F-4D97-AF65-F5344CB8AC3E}">
        <p14:creationId xmlns:p14="http://schemas.microsoft.com/office/powerpoint/2010/main" val="375320574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371FF4-D6BD-F849-D6B5-3D62DFFB181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4DD4D5F-8CE8-9A4C-9DCA-1EE0E6433D57}"/>
              </a:ext>
            </a:extLst>
          </p:cNvPr>
          <p:cNvSpPr txBox="1"/>
          <p:nvPr/>
        </p:nvSpPr>
        <p:spPr>
          <a:xfrm>
            <a:off x="297925" y="743694"/>
            <a:ext cx="6361209" cy="369332"/>
          </a:xfrm>
          <a:prstGeom prst="rect">
            <a:avLst/>
          </a:prstGeom>
          <a:noFill/>
        </p:spPr>
        <p:txBody>
          <a:bodyPr wrap="square" rtlCol="0">
            <a:spAutoFit/>
          </a:bodyPr>
          <a:lstStyle/>
          <a:p>
            <a:r>
              <a:rPr lang="en-US" b="1" dirty="0">
                <a:solidFill>
                  <a:schemeClr val="accent6">
                    <a:lumMod val="50000"/>
                  </a:schemeClr>
                </a:solidFill>
                <a:latin typeface="Calibre Medium" panose="020B0603030202060203" pitchFamily="34" charset="0"/>
              </a:rPr>
              <a:t>Approaches for Partial Match Condition</a:t>
            </a:r>
          </a:p>
        </p:txBody>
      </p:sp>
      <p:sp>
        <p:nvSpPr>
          <p:cNvPr id="4" name="TextBox 3">
            <a:extLst>
              <a:ext uri="{FF2B5EF4-FFF2-40B4-BE49-F238E27FC236}">
                <a16:creationId xmlns:a16="http://schemas.microsoft.com/office/drawing/2014/main" id="{B786C10F-2054-018F-C37D-FA52042E8B84}"/>
              </a:ext>
            </a:extLst>
          </p:cNvPr>
          <p:cNvSpPr txBox="1"/>
          <p:nvPr/>
        </p:nvSpPr>
        <p:spPr>
          <a:xfrm>
            <a:off x="297925" y="1128326"/>
            <a:ext cx="11596149" cy="2031325"/>
          </a:xfrm>
          <a:prstGeom prst="rect">
            <a:avLst/>
          </a:prstGeom>
          <a:noFill/>
        </p:spPr>
        <p:txBody>
          <a:bodyPr wrap="square">
            <a:spAutoFit/>
          </a:bodyPr>
          <a:lstStyle/>
          <a:p>
            <a:pPr algn="just"/>
            <a:r>
              <a:rPr lang="en-US" sz="1800" dirty="0">
                <a:solidFill>
                  <a:schemeClr val="bg2">
                    <a:lumMod val="25000"/>
                  </a:schemeClr>
                </a:solidFill>
                <a:latin typeface="Amasis MT Pro Medium" panose="02040604050005020304" pitchFamily="18" charset="0"/>
              </a:rPr>
              <a:t>We formulated 2 approaches for a perfect match of assets from Smart FM to IFM Hub data after matching the client</a:t>
            </a:r>
          </a:p>
          <a:p>
            <a:pPr algn="just"/>
            <a:endParaRPr lang="en-US" sz="1800" dirty="0"/>
          </a:p>
          <a:p>
            <a:pPr algn="just"/>
            <a:endParaRPr lang="en-US" sz="1800" dirty="0"/>
          </a:p>
          <a:p>
            <a:pPr algn="just"/>
            <a:endParaRPr lang="en-US" sz="1800" dirty="0"/>
          </a:p>
          <a:p>
            <a:pPr algn="just"/>
            <a:endParaRPr lang="en-US" sz="1800" dirty="0"/>
          </a:p>
          <a:p>
            <a:pPr algn="just"/>
            <a:endParaRPr lang="en-US" sz="1800" dirty="0"/>
          </a:p>
        </p:txBody>
      </p:sp>
      <p:sp>
        <p:nvSpPr>
          <p:cNvPr id="5" name="Rectangle: Rounded Corners 4">
            <a:extLst>
              <a:ext uri="{FF2B5EF4-FFF2-40B4-BE49-F238E27FC236}">
                <a16:creationId xmlns:a16="http://schemas.microsoft.com/office/drawing/2014/main" id="{846FD653-1767-386D-EABF-CD56ADF836CD}"/>
              </a:ext>
            </a:extLst>
          </p:cNvPr>
          <p:cNvSpPr/>
          <p:nvPr/>
        </p:nvSpPr>
        <p:spPr>
          <a:xfrm>
            <a:off x="297925" y="1980754"/>
            <a:ext cx="3214895" cy="413355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b="1" dirty="0">
                <a:solidFill>
                  <a:schemeClr val="bg2"/>
                </a:solidFill>
                <a:latin typeface="Amasis MT Pro Black" panose="020F0502020204030204" pitchFamily="18" charset="0"/>
              </a:rPr>
              <a:t>Approach 1</a:t>
            </a:r>
          </a:p>
          <a:p>
            <a:pPr marL="285750" indent="-285750">
              <a:buFont typeface="Arial" panose="020B0604020202020204" pitchFamily="34" charset="0"/>
              <a:buChar char="•"/>
            </a:pPr>
            <a:endParaRPr lang="en-US" sz="1000" dirty="0"/>
          </a:p>
          <a:p>
            <a:pPr marL="285750" indent="-285750">
              <a:buFont typeface="Arial" panose="020B0604020202020204" pitchFamily="34" charset="0"/>
              <a:buChar char="•"/>
            </a:pPr>
            <a:r>
              <a:rPr lang="en-US" sz="1600" dirty="0"/>
              <a:t>Asset Type/ Position Type</a:t>
            </a:r>
          </a:p>
          <a:p>
            <a:pPr marL="285750" indent="-285750">
              <a:buFont typeface="Arial" panose="020B0604020202020204" pitchFamily="34" charset="0"/>
              <a:buChar char="•"/>
            </a:pPr>
            <a:r>
              <a:rPr lang="en-US" sz="1600" dirty="0"/>
              <a:t>Asset Name</a:t>
            </a:r>
          </a:p>
          <a:p>
            <a:pPr marL="285750" indent="-285750">
              <a:buFont typeface="Arial" panose="020B0604020202020204" pitchFamily="34" charset="0"/>
              <a:buChar char="•"/>
            </a:pPr>
            <a:r>
              <a:rPr lang="en-US" sz="1600" dirty="0"/>
              <a:t>Asset Location</a:t>
            </a:r>
          </a:p>
          <a:p>
            <a:pPr marL="742950" lvl="1" indent="-285750">
              <a:buFont typeface="Arial" panose="020B0604020202020204" pitchFamily="34" charset="0"/>
              <a:buChar char="•"/>
            </a:pPr>
            <a:r>
              <a:rPr lang="en-US" sz="1600" dirty="0"/>
              <a:t>Country</a:t>
            </a:r>
          </a:p>
          <a:p>
            <a:pPr marL="742950" lvl="1" indent="-285750">
              <a:buFont typeface="Arial" panose="020B0604020202020204" pitchFamily="34" charset="0"/>
              <a:buChar char="•"/>
            </a:pPr>
            <a:r>
              <a:rPr lang="en-US" sz="1600" dirty="0"/>
              <a:t>State</a:t>
            </a:r>
          </a:p>
          <a:p>
            <a:pPr marL="742950" lvl="1" indent="-285750">
              <a:buFont typeface="Arial" panose="020B0604020202020204" pitchFamily="34" charset="0"/>
              <a:buChar char="•"/>
            </a:pPr>
            <a:r>
              <a:rPr lang="en-US" sz="1600" dirty="0"/>
              <a:t>City</a:t>
            </a:r>
          </a:p>
          <a:p>
            <a:pPr marL="742950" lvl="1" indent="-285750">
              <a:buFont typeface="Arial" panose="020B0604020202020204" pitchFamily="34" charset="0"/>
              <a:buChar char="•"/>
            </a:pPr>
            <a:r>
              <a:rPr lang="en-US" sz="1600" dirty="0"/>
              <a:t>Region</a:t>
            </a:r>
          </a:p>
          <a:p>
            <a:pPr marL="742950" lvl="1" indent="-285750">
              <a:buFont typeface="Arial" panose="020B0604020202020204" pitchFamily="34" charset="0"/>
              <a:buChar char="•"/>
            </a:pPr>
            <a:r>
              <a:rPr lang="en-US" sz="1600" dirty="0"/>
              <a:t>Building/ Site</a:t>
            </a:r>
          </a:p>
          <a:p>
            <a:pPr marL="285750" indent="-285750">
              <a:buFont typeface="Arial" panose="020B0604020202020204" pitchFamily="34" charset="0"/>
              <a:buChar char="•"/>
            </a:pPr>
            <a:endParaRPr lang="en-US" dirty="0"/>
          </a:p>
        </p:txBody>
      </p:sp>
      <p:sp>
        <p:nvSpPr>
          <p:cNvPr id="10" name="Rectangle: Rounded Corners 9">
            <a:extLst>
              <a:ext uri="{FF2B5EF4-FFF2-40B4-BE49-F238E27FC236}">
                <a16:creationId xmlns:a16="http://schemas.microsoft.com/office/drawing/2014/main" id="{3948EB85-D61F-954D-EC34-C8FB4D2F26CD}"/>
              </a:ext>
            </a:extLst>
          </p:cNvPr>
          <p:cNvSpPr/>
          <p:nvPr/>
        </p:nvSpPr>
        <p:spPr>
          <a:xfrm>
            <a:off x="4236719" y="1980754"/>
            <a:ext cx="3214895" cy="413355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b="1" dirty="0">
                <a:solidFill>
                  <a:schemeClr val="bg2"/>
                </a:solidFill>
                <a:latin typeface="Amasis MT Pro Black" panose="020F0502020204030204" pitchFamily="18" charset="0"/>
              </a:rPr>
              <a:t>Approach 2</a:t>
            </a:r>
          </a:p>
          <a:p>
            <a:pPr algn="ctr"/>
            <a:endParaRPr lang="en-US" sz="1000" dirty="0"/>
          </a:p>
          <a:p>
            <a:pPr marL="285750" indent="-285750">
              <a:buFont typeface="Arial" panose="020B0604020202020204" pitchFamily="34" charset="0"/>
              <a:buChar char="•"/>
            </a:pPr>
            <a:r>
              <a:rPr lang="en-US" sz="1600" dirty="0"/>
              <a:t>Asset Type/ Position Type</a:t>
            </a:r>
          </a:p>
          <a:p>
            <a:pPr marL="285750" indent="-285750">
              <a:buFont typeface="Arial" panose="020B0604020202020204" pitchFamily="34" charset="0"/>
              <a:buChar char="•"/>
            </a:pPr>
            <a:r>
              <a:rPr lang="en-US" sz="1600" dirty="0"/>
              <a:t>Asset Name</a:t>
            </a:r>
          </a:p>
          <a:p>
            <a:pPr marL="285750" indent="-285750">
              <a:buFont typeface="Arial" panose="020B0604020202020204" pitchFamily="34" charset="0"/>
              <a:buChar char="•"/>
            </a:pPr>
            <a:r>
              <a:rPr lang="en-US" sz="1600" dirty="0"/>
              <a:t>Asset Properties </a:t>
            </a:r>
          </a:p>
          <a:p>
            <a:pPr marL="742950" lvl="1" indent="-285750">
              <a:buFont typeface="Arial" panose="020B0604020202020204" pitchFamily="34" charset="0"/>
              <a:buChar char="•"/>
            </a:pPr>
            <a:r>
              <a:rPr lang="en-US" sz="1600" dirty="0"/>
              <a:t>Make/Manufacturer</a:t>
            </a:r>
          </a:p>
          <a:p>
            <a:pPr marL="742950" lvl="1" indent="-285750">
              <a:buFont typeface="Arial" panose="020B0604020202020204" pitchFamily="34" charset="0"/>
              <a:buChar char="•"/>
            </a:pPr>
            <a:r>
              <a:rPr lang="en-US" sz="1600" dirty="0"/>
              <a:t>Model</a:t>
            </a:r>
          </a:p>
          <a:p>
            <a:pPr marL="742950" lvl="1" indent="-285750">
              <a:buFont typeface="Arial" panose="020B0604020202020204" pitchFamily="34" charset="0"/>
              <a:buChar char="•"/>
            </a:pPr>
            <a:r>
              <a:rPr lang="en-US" sz="1600" dirty="0"/>
              <a:t>Serial</a:t>
            </a:r>
          </a:p>
          <a:p>
            <a:pPr marL="285750" indent="-285750">
              <a:buFont typeface="Arial" panose="020B0604020202020204" pitchFamily="34" charset="0"/>
              <a:buChar char="•"/>
            </a:pPr>
            <a:r>
              <a:rPr lang="en-US" sz="1600" dirty="0"/>
              <a:t>Asset Location</a:t>
            </a:r>
          </a:p>
          <a:p>
            <a:pPr marL="742950" lvl="1" indent="-285750">
              <a:buFont typeface="Arial" panose="020B0604020202020204" pitchFamily="34" charset="0"/>
              <a:buChar char="•"/>
            </a:pPr>
            <a:r>
              <a:rPr lang="en-US" sz="1600" dirty="0"/>
              <a:t>Country</a:t>
            </a:r>
          </a:p>
          <a:p>
            <a:pPr marL="742950" lvl="1" indent="-285750">
              <a:buFont typeface="Arial" panose="020B0604020202020204" pitchFamily="34" charset="0"/>
              <a:buChar char="•"/>
            </a:pPr>
            <a:r>
              <a:rPr lang="en-US" sz="1600" dirty="0"/>
              <a:t>State</a:t>
            </a:r>
          </a:p>
          <a:p>
            <a:pPr marL="742950" lvl="1" indent="-285750">
              <a:buFont typeface="Arial" panose="020B0604020202020204" pitchFamily="34" charset="0"/>
              <a:buChar char="•"/>
            </a:pPr>
            <a:r>
              <a:rPr lang="en-US" sz="1600" dirty="0"/>
              <a:t>City</a:t>
            </a:r>
          </a:p>
          <a:p>
            <a:pPr marL="742950" lvl="1" indent="-285750">
              <a:buFont typeface="Arial" panose="020B0604020202020204" pitchFamily="34" charset="0"/>
              <a:buChar char="•"/>
            </a:pPr>
            <a:r>
              <a:rPr lang="en-US" sz="1600" dirty="0"/>
              <a:t>Region</a:t>
            </a:r>
          </a:p>
          <a:p>
            <a:pPr marL="742950" lvl="1" indent="-285750">
              <a:buFont typeface="Arial" panose="020B0604020202020204" pitchFamily="34" charset="0"/>
              <a:buChar char="•"/>
            </a:pPr>
            <a:r>
              <a:rPr lang="en-US" sz="1600" dirty="0"/>
              <a:t>Building/Site</a:t>
            </a:r>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219344646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DCBE57-0AA0-710F-F5E1-691ECB4B80C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78E2F71-5E6F-6FDA-B948-BCD197532885}"/>
              </a:ext>
            </a:extLst>
          </p:cNvPr>
          <p:cNvSpPr txBox="1"/>
          <p:nvPr/>
        </p:nvSpPr>
        <p:spPr>
          <a:xfrm>
            <a:off x="367251" y="693420"/>
            <a:ext cx="6361209" cy="369332"/>
          </a:xfrm>
          <a:prstGeom prst="rect">
            <a:avLst/>
          </a:prstGeom>
          <a:noFill/>
        </p:spPr>
        <p:txBody>
          <a:bodyPr wrap="square" rtlCol="0">
            <a:spAutoFit/>
          </a:bodyPr>
          <a:lstStyle/>
          <a:p>
            <a:r>
              <a:rPr lang="en-US" b="1" dirty="0">
                <a:solidFill>
                  <a:schemeClr val="accent6">
                    <a:lumMod val="50000"/>
                  </a:schemeClr>
                </a:solidFill>
                <a:latin typeface="Calibre Medium" panose="020B0603030202060203" pitchFamily="34" charset="0"/>
              </a:rPr>
              <a:t>Partial Match – Approach 1 </a:t>
            </a:r>
            <a:r>
              <a:rPr lang="en-US" sz="1200" b="1" dirty="0">
                <a:solidFill>
                  <a:schemeClr val="accent6">
                    <a:lumMod val="50000"/>
                  </a:schemeClr>
                </a:solidFill>
                <a:latin typeface="Calibre Medium" panose="020B0603030202060203" pitchFamily="34" charset="0"/>
              </a:rPr>
              <a:t>(Building in Consideration)</a:t>
            </a:r>
          </a:p>
        </p:txBody>
      </p:sp>
      <p:sp>
        <p:nvSpPr>
          <p:cNvPr id="3" name="Rectangle: Rounded Corners 2">
            <a:extLst>
              <a:ext uri="{FF2B5EF4-FFF2-40B4-BE49-F238E27FC236}">
                <a16:creationId xmlns:a16="http://schemas.microsoft.com/office/drawing/2014/main" id="{8BCB6C8B-F242-F053-E726-4FCA1766A90E}"/>
              </a:ext>
            </a:extLst>
          </p:cNvPr>
          <p:cNvSpPr/>
          <p:nvPr/>
        </p:nvSpPr>
        <p:spPr>
          <a:xfrm>
            <a:off x="332961" y="1362224"/>
            <a:ext cx="2433100" cy="355267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400" b="1" dirty="0">
                <a:solidFill>
                  <a:schemeClr val="bg2"/>
                </a:solidFill>
                <a:latin typeface="Amasis MT Pro Black" panose="020F0502020204030204" pitchFamily="18" charset="0"/>
              </a:rPr>
              <a:t>Approach 1</a:t>
            </a:r>
          </a:p>
          <a:p>
            <a:pPr marL="285750" indent="-285750">
              <a:buFont typeface="Arial" panose="020B0604020202020204" pitchFamily="34" charset="0"/>
              <a:buChar char="•"/>
            </a:pPr>
            <a:endParaRPr lang="en-US" sz="1400" dirty="0"/>
          </a:p>
          <a:p>
            <a:pPr marL="285750" indent="-285750">
              <a:buFont typeface="Arial" panose="020B0604020202020204" pitchFamily="34" charset="0"/>
              <a:buChar char="•"/>
            </a:pPr>
            <a:r>
              <a:rPr lang="en-US" sz="1400" dirty="0"/>
              <a:t>Asset Type/ Position Type</a:t>
            </a:r>
          </a:p>
          <a:p>
            <a:pPr marL="285750" indent="-285750">
              <a:buFont typeface="Arial" panose="020B0604020202020204" pitchFamily="34" charset="0"/>
              <a:buChar char="•"/>
            </a:pPr>
            <a:r>
              <a:rPr lang="en-US" sz="1400" dirty="0"/>
              <a:t>Asset Name</a:t>
            </a:r>
          </a:p>
          <a:p>
            <a:pPr marL="285750" indent="-285750">
              <a:buFont typeface="Arial" panose="020B0604020202020204" pitchFamily="34" charset="0"/>
              <a:buChar char="•"/>
            </a:pPr>
            <a:r>
              <a:rPr lang="en-US" sz="1400" dirty="0"/>
              <a:t>Asset Location</a:t>
            </a:r>
          </a:p>
          <a:p>
            <a:pPr marL="742950" lvl="1" indent="-285750">
              <a:buFont typeface="Arial" panose="020B0604020202020204" pitchFamily="34" charset="0"/>
              <a:buChar char="•"/>
            </a:pPr>
            <a:r>
              <a:rPr lang="en-US" sz="1400" dirty="0"/>
              <a:t>Country</a:t>
            </a:r>
          </a:p>
          <a:p>
            <a:pPr marL="742950" lvl="1" indent="-285750">
              <a:buFont typeface="Arial" panose="020B0604020202020204" pitchFamily="34" charset="0"/>
              <a:buChar char="•"/>
            </a:pPr>
            <a:r>
              <a:rPr lang="en-US" sz="1400" dirty="0"/>
              <a:t>State</a:t>
            </a:r>
          </a:p>
          <a:p>
            <a:pPr marL="742950" lvl="1" indent="-285750">
              <a:buFont typeface="Arial" panose="020B0604020202020204" pitchFamily="34" charset="0"/>
              <a:buChar char="•"/>
            </a:pPr>
            <a:r>
              <a:rPr lang="en-US" sz="1400" dirty="0"/>
              <a:t>City</a:t>
            </a:r>
          </a:p>
          <a:p>
            <a:pPr marL="742950" lvl="1" indent="-285750">
              <a:buFont typeface="Arial" panose="020B0604020202020204" pitchFamily="34" charset="0"/>
              <a:buChar char="•"/>
            </a:pPr>
            <a:r>
              <a:rPr lang="en-US" sz="1400" dirty="0"/>
              <a:t>Region</a:t>
            </a:r>
          </a:p>
          <a:p>
            <a:pPr marL="742950" lvl="1" indent="-285750">
              <a:buFont typeface="Arial" panose="020B0604020202020204" pitchFamily="34" charset="0"/>
              <a:buChar char="•"/>
            </a:pPr>
            <a:r>
              <a:rPr lang="en-US" sz="1400" dirty="0"/>
              <a:t>Building/ Site</a:t>
            </a:r>
          </a:p>
          <a:p>
            <a:pPr marL="285750" indent="-285750">
              <a:buFont typeface="Arial" panose="020B0604020202020204" pitchFamily="34" charset="0"/>
              <a:buChar char="•"/>
            </a:pPr>
            <a:endParaRPr lang="en-US" dirty="0"/>
          </a:p>
        </p:txBody>
      </p:sp>
      <p:sp>
        <p:nvSpPr>
          <p:cNvPr id="4" name="TextBox 3">
            <a:extLst>
              <a:ext uri="{FF2B5EF4-FFF2-40B4-BE49-F238E27FC236}">
                <a16:creationId xmlns:a16="http://schemas.microsoft.com/office/drawing/2014/main" id="{408D4B7E-5C51-D682-19D6-1C3CFC9A4116}"/>
              </a:ext>
            </a:extLst>
          </p:cNvPr>
          <p:cNvSpPr txBox="1"/>
          <p:nvPr/>
        </p:nvSpPr>
        <p:spPr>
          <a:xfrm>
            <a:off x="3116580" y="1191339"/>
            <a:ext cx="8742459" cy="3323987"/>
          </a:xfrm>
          <a:prstGeom prst="rect">
            <a:avLst/>
          </a:prstGeom>
          <a:noFill/>
        </p:spPr>
        <p:txBody>
          <a:bodyPr wrap="square" rtlCol="0">
            <a:spAutoFit/>
          </a:bodyPr>
          <a:lstStyle/>
          <a:p>
            <a:pPr algn="just"/>
            <a:r>
              <a:rPr lang="en-US" sz="1400" b="1" i="1" dirty="0">
                <a:solidFill>
                  <a:schemeClr val="accent6">
                    <a:lumMod val="50000"/>
                  </a:schemeClr>
                </a:solidFill>
              </a:rPr>
              <a:t>Conditions –</a:t>
            </a:r>
          </a:p>
          <a:p>
            <a:pPr algn="just"/>
            <a:endParaRPr lang="en-US" sz="1400" b="1" i="1" dirty="0">
              <a:solidFill>
                <a:schemeClr val="accent6">
                  <a:lumMod val="50000"/>
                </a:schemeClr>
              </a:solidFill>
            </a:endParaRPr>
          </a:p>
          <a:p>
            <a:pPr algn="just"/>
            <a:r>
              <a:rPr lang="en-US" sz="1400" dirty="0"/>
              <a:t>	The Equipment type in SFM should match perfectly with Position Type in IFM </a:t>
            </a:r>
          </a:p>
          <a:p>
            <a:pPr algn="just"/>
            <a:r>
              <a:rPr lang="en-US" sz="1400" dirty="0"/>
              <a:t>AND</a:t>
            </a:r>
          </a:p>
          <a:p>
            <a:pPr algn="just"/>
            <a:r>
              <a:rPr lang="en-US" sz="1400" dirty="0"/>
              <a:t>	 The </a:t>
            </a:r>
            <a:r>
              <a:rPr lang="en-US" sz="1400" dirty="0" err="1"/>
              <a:t>Nav_Name</a:t>
            </a:r>
            <a:r>
              <a:rPr lang="en-US" sz="1400" dirty="0"/>
              <a:t> in SFM matches (50%) with Asset Name in IFM HUB                   	          OR</a:t>
            </a:r>
          </a:p>
          <a:p>
            <a:pPr algn="just"/>
            <a:r>
              <a:rPr lang="en-US" sz="1400" dirty="0"/>
              <a:t>	 The </a:t>
            </a:r>
            <a:r>
              <a:rPr lang="en-US" sz="1400" dirty="0" err="1"/>
              <a:t>Nav_Name</a:t>
            </a:r>
            <a:r>
              <a:rPr lang="en-US" sz="1400" dirty="0"/>
              <a:t> in SFM matches (50%) with Position Name in IFM Hub              	          OR</a:t>
            </a:r>
          </a:p>
          <a:p>
            <a:pPr algn="just"/>
            <a:r>
              <a:rPr lang="en-US" sz="1400" dirty="0"/>
              <a:t>	 The </a:t>
            </a:r>
            <a:r>
              <a:rPr lang="en-US" sz="1400" dirty="0" err="1"/>
              <a:t>Equipment_Name</a:t>
            </a:r>
            <a:r>
              <a:rPr lang="en-US" sz="1400" dirty="0"/>
              <a:t> in SFM matches (50%) with Asset Name in IFM HUB    	          OR </a:t>
            </a:r>
          </a:p>
          <a:p>
            <a:pPr algn="just"/>
            <a:r>
              <a:rPr lang="en-US" sz="1400" dirty="0"/>
              <a:t>	 The </a:t>
            </a:r>
            <a:r>
              <a:rPr lang="en-US" sz="1400" dirty="0" err="1"/>
              <a:t>Equipment_Name</a:t>
            </a:r>
            <a:r>
              <a:rPr lang="en-US" sz="1400" dirty="0"/>
              <a:t> in SFM matches (50%) with Position name in IFM Hub</a:t>
            </a:r>
          </a:p>
          <a:p>
            <a:pPr algn="just"/>
            <a:r>
              <a:rPr lang="en-US" sz="1400" dirty="0"/>
              <a:t>AND</a:t>
            </a:r>
          </a:p>
          <a:p>
            <a:pPr algn="just"/>
            <a:r>
              <a:rPr lang="en-US" sz="1400" dirty="0"/>
              <a:t>	The combination of Country, State, City in SFM matches (90%) with Region Name in IFM</a:t>
            </a:r>
          </a:p>
          <a:p>
            <a:pPr algn="just"/>
            <a:endParaRPr lang="en-US" sz="1400" dirty="0"/>
          </a:p>
          <a:p>
            <a:pPr algn="just"/>
            <a:r>
              <a:rPr lang="en-US" sz="1400" dirty="0"/>
              <a:t>AND</a:t>
            </a:r>
          </a:p>
          <a:p>
            <a:pPr algn="just"/>
            <a:r>
              <a:rPr lang="en-US" sz="1400" dirty="0"/>
              <a:t>	The Site name in SFM matches (50%) with Building Name in IFM Hub</a:t>
            </a:r>
          </a:p>
          <a:p>
            <a:pPr marL="171450" indent="-171450" algn="just">
              <a:buFont typeface="Arial" panose="020B0604020202020204" pitchFamily="34" charset="0"/>
              <a:buChar char="•"/>
            </a:pPr>
            <a:endParaRPr lang="en-US" sz="1400" dirty="0"/>
          </a:p>
          <a:p>
            <a:pPr algn="just"/>
            <a:endParaRPr lang="en-US" sz="1400" dirty="0"/>
          </a:p>
        </p:txBody>
      </p:sp>
    </p:spTree>
    <p:extLst>
      <p:ext uri="{BB962C8B-B14F-4D97-AF65-F5344CB8AC3E}">
        <p14:creationId xmlns:p14="http://schemas.microsoft.com/office/powerpoint/2010/main" val="376899549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F23C06-66F0-21F1-7934-79F1DF1765E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A5471CC-B6DF-4157-BDFA-E43C6272380A}"/>
              </a:ext>
            </a:extLst>
          </p:cNvPr>
          <p:cNvSpPr txBox="1"/>
          <p:nvPr/>
        </p:nvSpPr>
        <p:spPr>
          <a:xfrm>
            <a:off x="367251" y="693420"/>
            <a:ext cx="6361209" cy="369332"/>
          </a:xfrm>
          <a:prstGeom prst="rect">
            <a:avLst/>
          </a:prstGeom>
          <a:noFill/>
        </p:spPr>
        <p:txBody>
          <a:bodyPr wrap="square" rtlCol="0">
            <a:spAutoFit/>
          </a:bodyPr>
          <a:lstStyle/>
          <a:p>
            <a:r>
              <a:rPr lang="en-US" b="1" dirty="0">
                <a:solidFill>
                  <a:schemeClr val="accent6">
                    <a:lumMod val="50000"/>
                  </a:schemeClr>
                </a:solidFill>
                <a:latin typeface="Calibre Medium" panose="020B0603030202060203" pitchFamily="34" charset="0"/>
              </a:rPr>
              <a:t>Sample Matches on Partial Match - Approach 1</a:t>
            </a:r>
          </a:p>
        </p:txBody>
      </p:sp>
      <p:graphicFrame>
        <p:nvGraphicFramePr>
          <p:cNvPr id="8" name="Table 7">
            <a:extLst>
              <a:ext uri="{FF2B5EF4-FFF2-40B4-BE49-F238E27FC236}">
                <a16:creationId xmlns:a16="http://schemas.microsoft.com/office/drawing/2014/main" id="{69A27067-058D-27DA-6700-ABB79F0E6B72}"/>
              </a:ext>
            </a:extLst>
          </p:cNvPr>
          <p:cNvGraphicFramePr>
            <a:graphicFrameLocks noGrp="1"/>
          </p:cNvGraphicFramePr>
          <p:nvPr>
            <p:extLst>
              <p:ext uri="{D42A27DB-BD31-4B8C-83A1-F6EECF244321}">
                <p14:modId xmlns:p14="http://schemas.microsoft.com/office/powerpoint/2010/main" val="3386828673"/>
              </p:ext>
            </p:extLst>
          </p:nvPr>
        </p:nvGraphicFramePr>
        <p:xfrm>
          <a:off x="595851" y="1301734"/>
          <a:ext cx="8212869" cy="2525224"/>
        </p:xfrm>
        <a:graphic>
          <a:graphicData uri="http://schemas.openxmlformats.org/drawingml/2006/table">
            <a:tbl>
              <a:tblPr firstRow="1" bandRow="1">
                <a:tableStyleId>{5C22544A-7EE6-4342-B048-85BDC9FD1C3A}</a:tableStyleId>
              </a:tblPr>
              <a:tblGrid>
                <a:gridCol w="4129017">
                  <a:extLst>
                    <a:ext uri="{9D8B030D-6E8A-4147-A177-3AD203B41FA5}">
                      <a16:colId xmlns:a16="http://schemas.microsoft.com/office/drawing/2014/main" val="1713291588"/>
                    </a:ext>
                  </a:extLst>
                </a:gridCol>
                <a:gridCol w="4083852">
                  <a:extLst>
                    <a:ext uri="{9D8B030D-6E8A-4147-A177-3AD203B41FA5}">
                      <a16:colId xmlns:a16="http://schemas.microsoft.com/office/drawing/2014/main" val="3548403619"/>
                    </a:ext>
                  </a:extLst>
                </a:gridCol>
              </a:tblGrid>
              <a:tr h="259939">
                <a:tc>
                  <a:txBody>
                    <a:bodyPr/>
                    <a:lstStyle/>
                    <a:p>
                      <a:r>
                        <a:rPr lang="en-US" sz="1000" dirty="0"/>
                        <a:t>SFM Asset</a:t>
                      </a:r>
                    </a:p>
                  </a:txBody>
                  <a:tcPr/>
                </a:tc>
                <a:tc>
                  <a:txBody>
                    <a:bodyPr/>
                    <a:lstStyle/>
                    <a:p>
                      <a:r>
                        <a:rPr lang="en-US" sz="1000" dirty="0"/>
                        <a:t>IFM Asset</a:t>
                      </a:r>
                    </a:p>
                  </a:txBody>
                  <a:tcPr/>
                </a:tc>
                <a:extLst>
                  <a:ext uri="{0D108BD9-81ED-4DB2-BD59-A6C34878D82A}">
                    <a16:rowId xmlns:a16="http://schemas.microsoft.com/office/drawing/2014/main" val="2599310792"/>
                  </a:ext>
                </a:extLst>
              </a:tr>
              <a:tr h="422400">
                <a:tc>
                  <a:txBody>
                    <a:bodyPr/>
                    <a:lstStyle/>
                    <a:p>
                      <a:r>
                        <a:rPr lang="en-US" sz="1000" b="1" dirty="0"/>
                        <a:t>Equipment Type –  </a:t>
                      </a:r>
                      <a:r>
                        <a:rPr lang="en-US" sz="1000" b="0" dirty="0"/>
                        <a:t>Cooling Tower</a:t>
                      </a:r>
                    </a:p>
                  </a:txBody>
                  <a:tcPr/>
                </a:tc>
                <a:tc>
                  <a:txBody>
                    <a:bodyPr/>
                    <a:lstStyle/>
                    <a:p>
                      <a:r>
                        <a:rPr lang="en-US" sz="1000" b="1" dirty="0"/>
                        <a:t>Position Type - </a:t>
                      </a:r>
                      <a:r>
                        <a:rPr lang="en-US" sz="1000" b="0" dirty="0"/>
                        <a:t>Cooling Tower (D3030.06)</a:t>
                      </a:r>
                    </a:p>
                  </a:txBody>
                  <a:tcPr/>
                </a:tc>
                <a:extLst>
                  <a:ext uri="{0D108BD9-81ED-4DB2-BD59-A6C34878D82A}">
                    <a16:rowId xmlns:a16="http://schemas.microsoft.com/office/drawing/2014/main" val="3024384071"/>
                  </a:ext>
                </a:extLst>
              </a:tr>
              <a:tr h="47871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1" dirty="0" err="1">
                          <a:solidFill>
                            <a:schemeClr val="accent2"/>
                          </a:solidFill>
                        </a:rPr>
                        <a:t>Nav_Name</a:t>
                      </a:r>
                      <a:r>
                        <a:rPr lang="en-US" sz="1000" b="1" dirty="0">
                          <a:solidFill>
                            <a:schemeClr val="accent2"/>
                          </a:solidFill>
                        </a:rPr>
                        <a:t> – </a:t>
                      </a:r>
                      <a:r>
                        <a:rPr lang="en-US" sz="1000" b="0" dirty="0">
                          <a:solidFill>
                            <a:schemeClr val="accent2"/>
                          </a:solidFill>
                        </a:rPr>
                        <a:t>Tower 01, Cooling Unit Room</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b="1" dirty="0" err="1">
                          <a:solidFill>
                            <a:schemeClr val="accent2"/>
                          </a:solidFill>
                        </a:rPr>
                        <a:t>Equipment_Name</a:t>
                      </a:r>
                      <a:r>
                        <a:rPr lang="en-US" sz="1000" b="1" dirty="0">
                          <a:solidFill>
                            <a:schemeClr val="accent2"/>
                          </a:solidFill>
                        </a:rPr>
                        <a:t> –  </a:t>
                      </a:r>
                      <a:r>
                        <a:rPr lang="en-US" sz="1000" b="0" dirty="0">
                          <a:solidFill>
                            <a:schemeClr val="accent2"/>
                          </a:solidFill>
                        </a:rPr>
                        <a:t>Tower 01, Cooling Unit Room</a:t>
                      </a:r>
                    </a:p>
                  </a:txBody>
                  <a:tcPr/>
                </a:tc>
                <a:tc>
                  <a:txBody>
                    <a:bodyPr/>
                    <a:lstStyle/>
                    <a:p>
                      <a:r>
                        <a:rPr lang="en-US" sz="1000" b="1" dirty="0">
                          <a:solidFill>
                            <a:schemeClr val="accent2"/>
                          </a:solidFill>
                        </a:rPr>
                        <a:t>Position name –  </a:t>
                      </a:r>
                      <a:r>
                        <a:rPr lang="en-US" sz="1000" b="0" dirty="0">
                          <a:solidFill>
                            <a:schemeClr val="accent2"/>
                          </a:solidFill>
                        </a:rPr>
                        <a:t>CT, Cooling Tower</a:t>
                      </a:r>
                    </a:p>
                    <a:p>
                      <a:r>
                        <a:rPr lang="en-US" sz="1000" b="1" dirty="0">
                          <a:solidFill>
                            <a:schemeClr val="accent2"/>
                          </a:solidFill>
                        </a:rPr>
                        <a:t>Asset Name </a:t>
                      </a:r>
                      <a:r>
                        <a:rPr lang="en-US" sz="1000" b="0" dirty="0">
                          <a:solidFill>
                            <a:schemeClr val="accent2"/>
                          </a:solidFill>
                        </a:rPr>
                        <a:t>- CT, Cooling Tower 001</a:t>
                      </a:r>
                    </a:p>
                  </a:txBody>
                  <a:tcPr/>
                </a:tc>
                <a:extLst>
                  <a:ext uri="{0D108BD9-81ED-4DB2-BD59-A6C34878D82A}">
                    <a16:rowId xmlns:a16="http://schemas.microsoft.com/office/drawing/2014/main" val="633798941"/>
                  </a:ext>
                </a:extLst>
              </a:tr>
              <a:tr h="259939">
                <a:tc>
                  <a:txBody>
                    <a:bodyPr/>
                    <a:lstStyle/>
                    <a:p>
                      <a:r>
                        <a:rPr lang="en-US" sz="1000" b="1" dirty="0" err="1">
                          <a:solidFill>
                            <a:srgbClr val="FF0000"/>
                          </a:solidFill>
                        </a:rPr>
                        <a:t>Equipment_Make</a:t>
                      </a:r>
                      <a:r>
                        <a:rPr lang="en-US" sz="1000" b="1" dirty="0">
                          <a:solidFill>
                            <a:srgbClr val="FF0000"/>
                          </a:solidFill>
                        </a:rPr>
                        <a:t> - </a:t>
                      </a:r>
                      <a:r>
                        <a:rPr lang="en-US" sz="1000" b="0" dirty="0">
                          <a:solidFill>
                            <a:srgbClr val="FF0000"/>
                          </a:solidFill>
                        </a:rPr>
                        <a:t>Unk</a:t>
                      </a:r>
                    </a:p>
                  </a:txBody>
                  <a:tcPr/>
                </a:tc>
                <a:tc>
                  <a:txBody>
                    <a:bodyPr/>
                    <a:lstStyle/>
                    <a:p>
                      <a:r>
                        <a:rPr lang="en-US" sz="1000" b="1" dirty="0">
                          <a:solidFill>
                            <a:srgbClr val="FF0000"/>
                          </a:solidFill>
                        </a:rPr>
                        <a:t>Manufacturer – </a:t>
                      </a:r>
                      <a:r>
                        <a:rPr lang="en-US" sz="1000" b="0" dirty="0">
                          <a:solidFill>
                            <a:srgbClr val="FF0000"/>
                          </a:solidFill>
                        </a:rPr>
                        <a:t>Unknown</a:t>
                      </a:r>
                    </a:p>
                  </a:txBody>
                  <a:tcPr/>
                </a:tc>
                <a:extLst>
                  <a:ext uri="{0D108BD9-81ED-4DB2-BD59-A6C34878D82A}">
                    <a16:rowId xmlns:a16="http://schemas.microsoft.com/office/drawing/2014/main" val="3471013263"/>
                  </a:ext>
                </a:extLst>
              </a:tr>
              <a:tr h="287176">
                <a:tc>
                  <a:txBody>
                    <a:bodyPr/>
                    <a:lstStyle/>
                    <a:p>
                      <a:r>
                        <a:rPr lang="en-US" sz="1000" b="1" dirty="0" err="1">
                          <a:solidFill>
                            <a:srgbClr val="FF0000"/>
                          </a:solidFill>
                        </a:rPr>
                        <a:t>Equipment_Model_Number</a:t>
                      </a:r>
                      <a:r>
                        <a:rPr lang="en-US" sz="1000" b="1" dirty="0">
                          <a:solidFill>
                            <a:srgbClr val="FF0000"/>
                          </a:solidFill>
                        </a:rPr>
                        <a:t> – </a:t>
                      </a:r>
                      <a:r>
                        <a:rPr lang="en-US" sz="1000" b="0" dirty="0">
                          <a:solidFill>
                            <a:srgbClr val="FF0000"/>
                          </a:solidFill>
                        </a:rPr>
                        <a:t>00001</a:t>
                      </a:r>
                    </a:p>
                  </a:txBody>
                  <a:tcPr/>
                </a:tc>
                <a:tc>
                  <a:txBody>
                    <a:bodyPr/>
                    <a:lstStyle/>
                    <a:p>
                      <a:r>
                        <a:rPr lang="en-US" sz="1000" b="1" dirty="0">
                          <a:solidFill>
                            <a:srgbClr val="FF0000"/>
                          </a:solidFill>
                        </a:rPr>
                        <a:t>Model – </a:t>
                      </a:r>
                      <a:r>
                        <a:rPr lang="en-US" sz="1000" b="0" dirty="0">
                          <a:solidFill>
                            <a:srgbClr val="FF0000"/>
                          </a:solidFill>
                        </a:rPr>
                        <a:t>ZVBQQ</a:t>
                      </a:r>
                    </a:p>
                  </a:txBody>
                  <a:tcPr/>
                </a:tc>
                <a:extLst>
                  <a:ext uri="{0D108BD9-81ED-4DB2-BD59-A6C34878D82A}">
                    <a16:rowId xmlns:a16="http://schemas.microsoft.com/office/drawing/2014/main" val="2466397732"/>
                  </a:ext>
                </a:extLst>
              </a:tr>
              <a:tr h="297180">
                <a:tc>
                  <a:txBody>
                    <a:bodyPr/>
                    <a:lstStyle/>
                    <a:p>
                      <a:r>
                        <a:rPr lang="en-US" sz="1000" b="1" dirty="0">
                          <a:solidFill>
                            <a:srgbClr val="FF0000"/>
                          </a:solidFill>
                        </a:rPr>
                        <a:t>Equipment </a:t>
                      </a:r>
                      <a:r>
                        <a:rPr lang="en-US" sz="1000" b="1" dirty="0" err="1">
                          <a:solidFill>
                            <a:srgbClr val="FF0000"/>
                          </a:solidFill>
                        </a:rPr>
                        <a:t>Serial_Number</a:t>
                      </a:r>
                      <a:r>
                        <a:rPr lang="en-US" sz="1000" b="1" dirty="0">
                          <a:solidFill>
                            <a:srgbClr val="FF0000"/>
                          </a:solidFill>
                        </a:rPr>
                        <a:t>  - </a:t>
                      </a:r>
                      <a:endParaRPr lang="en-US" sz="1000" b="0" dirty="0">
                        <a:solidFill>
                          <a:srgbClr val="FF0000"/>
                        </a:solidFill>
                      </a:endParaRPr>
                    </a:p>
                  </a:txBody>
                  <a:tcPr/>
                </a:tc>
                <a:tc>
                  <a:txBody>
                    <a:bodyPr/>
                    <a:lstStyle/>
                    <a:p>
                      <a:r>
                        <a:rPr lang="en-US" sz="1000" b="1" dirty="0">
                          <a:solidFill>
                            <a:srgbClr val="FF0000"/>
                          </a:solidFill>
                        </a:rPr>
                        <a:t>Serial Number - </a:t>
                      </a:r>
                      <a:r>
                        <a:rPr lang="en-US" sz="1000" b="0" dirty="0">
                          <a:solidFill>
                            <a:srgbClr val="FF0000"/>
                          </a:solidFill>
                        </a:rPr>
                        <a:t>ABVZQEE</a:t>
                      </a:r>
                    </a:p>
                  </a:txBody>
                  <a:tcPr/>
                </a:tc>
                <a:extLst>
                  <a:ext uri="{0D108BD9-81ED-4DB2-BD59-A6C34878D82A}">
                    <a16:rowId xmlns:a16="http://schemas.microsoft.com/office/drawing/2014/main" val="780661850"/>
                  </a:ext>
                </a:extLst>
              </a:tr>
              <a:tr h="259939">
                <a:tc>
                  <a:txBody>
                    <a:bodyPr/>
                    <a:lstStyle/>
                    <a:p>
                      <a:r>
                        <a:rPr lang="en-US" sz="1000" b="1" dirty="0"/>
                        <a:t>Country, State, City --- </a:t>
                      </a:r>
                      <a:r>
                        <a:rPr lang="en-US" sz="1000" b="0" dirty="0"/>
                        <a:t>US, TX, Houston</a:t>
                      </a:r>
                    </a:p>
                  </a:txBody>
                  <a:tcPr/>
                </a:tc>
                <a:tc>
                  <a:txBody>
                    <a:bodyPr/>
                    <a:lstStyle/>
                    <a:p>
                      <a:r>
                        <a:rPr lang="en-US" sz="1000" b="1" dirty="0"/>
                        <a:t>Region - </a:t>
                      </a:r>
                      <a:r>
                        <a:rPr lang="en-US" sz="1000" b="0" dirty="0"/>
                        <a:t>US, TX, Houston</a:t>
                      </a:r>
                    </a:p>
                  </a:txBody>
                  <a:tcPr/>
                </a:tc>
                <a:extLst>
                  <a:ext uri="{0D108BD9-81ED-4DB2-BD59-A6C34878D82A}">
                    <a16:rowId xmlns:a16="http://schemas.microsoft.com/office/drawing/2014/main" val="4121694875"/>
                  </a:ext>
                </a:extLst>
              </a:tr>
              <a:tr h="259939">
                <a:tc>
                  <a:txBody>
                    <a:bodyPr/>
                    <a:lstStyle/>
                    <a:p>
                      <a:r>
                        <a:rPr lang="en-US" sz="1000" b="1" dirty="0">
                          <a:solidFill>
                            <a:schemeClr val="accent2"/>
                          </a:solidFill>
                        </a:rPr>
                        <a:t>Site – </a:t>
                      </a:r>
                      <a:r>
                        <a:rPr lang="en-US" sz="1000" b="0" dirty="0">
                          <a:solidFill>
                            <a:schemeClr val="accent2"/>
                          </a:solidFill>
                        </a:rPr>
                        <a:t>1900 North St., TX</a:t>
                      </a:r>
                    </a:p>
                  </a:txBody>
                  <a:tcPr/>
                </a:tc>
                <a:tc>
                  <a:txBody>
                    <a:bodyPr/>
                    <a:lstStyle/>
                    <a:p>
                      <a:r>
                        <a:rPr lang="en-US" sz="1000" b="1" dirty="0">
                          <a:solidFill>
                            <a:schemeClr val="accent2"/>
                          </a:solidFill>
                        </a:rPr>
                        <a:t>Building – </a:t>
                      </a:r>
                      <a:r>
                        <a:rPr lang="en-US" sz="1000" b="0" dirty="0">
                          <a:solidFill>
                            <a:schemeClr val="accent2"/>
                          </a:solidFill>
                        </a:rPr>
                        <a:t>1900 TX</a:t>
                      </a:r>
                    </a:p>
                  </a:txBody>
                  <a:tcPr/>
                </a:tc>
                <a:extLst>
                  <a:ext uri="{0D108BD9-81ED-4DB2-BD59-A6C34878D82A}">
                    <a16:rowId xmlns:a16="http://schemas.microsoft.com/office/drawing/2014/main" val="250341676"/>
                  </a:ext>
                </a:extLst>
              </a:tr>
            </a:tbl>
          </a:graphicData>
        </a:graphic>
      </p:graphicFrame>
      <p:graphicFrame>
        <p:nvGraphicFramePr>
          <p:cNvPr id="4" name="Table 3">
            <a:extLst>
              <a:ext uri="{FF2B5EF4-FFF2-40B4-BE49-F238E27FC236}">
                <a16:creationId xmlns:a16="http://schemas.microsoft.com/office/drawing/2014/main" id="{D773F176-D149-59C6-2BD4-FE84AC88D90B}"/>
              </a:ext>
            </a:extLst>
          </p:cNvPr>
          <p:cNvGraphicFramePr>
            <a:graphicFrameLocks noGrp="1"/>
          </p:cNvGraphicFramePr>
          <p:nvPr>
            <p:extLst>
              <p:ext uri="{D42A27DB-BD31-4B8C-83A1-F6EECF244321}">
                <p14:modId xmlns:p14="http://schemas.microsoft.com/office/powerpoint/2010/main" val="801813559"/>
              </p:ext>
            </p:extLst>
          </p:nvPr>
        </p:nvGraphicFramePr>
        <p:xfrm>
          <a:off x="595851" y="4001462"/>
          <a:ext cx="8212869" cy="2481785"/>
        </p:xfrm>
        <a:graphic>
          <a:graphicData uri="http://schemas.openxmlformats.org/drawingml/2006/table">
            <a:tbl>
              <a:tblPr firstRow="1" bandRow="1">
                <a:tableStyleId>{5C22544A-7EE6-4342-B048-85BDC9FD1C3A}</a:tableStyleId>
              </a:tblPr>
              <a:tblGrid>
                <a:gridCol w="4129017">
                  <a:extLst>
                    <a:ext uri="{9D8B030D-6E8A-4147-A177-3AD203B41FA5}">
                      <a16:colId xmlns:a16="http://schemas.microsoft.com/office/drawing/2014/main" val="1713291588"/>
                    </a:ext>
                  </a:extLst>
                </a:gridCol>
                <a:gridCol w="4083852">
                  <a:extLst>
                    <a:ext uri="{9D8B030D-6E8A-4147-A177-3AD203B41FA5}">
                      <a16:colId xmlns:a16="http://schemas.microsoft.com/office/drawing/2014/main" val="3548403619"/>
                    </a:ext>
                  </a:extLst>
                </a:gridCol>
              </a:tblGrid>
              <a:tr h="280978">
                <a:tc>
                  <a:txBody>
                    <a:bodyPr/>
                    <a:lstStyle/>
                    <a:p>
                      <a:r>
                        <a:rPr lang="en-US" sz="1000" dirty="0"/>
                        <a:t>SFM Asset</a:t>
                      </a:r>
                    </a:p>
                  </a:txBody>
                  <a:tcPr/>
                </a:tc>
                <a:tc>
                  <a:txBody>
                    <a:bodyPr/>
                    <a:lstStyle/>
                    <a:p>
                      <a:r>
                        <a:rPr lang="en-US" sz="1000" dirty="0"/>
                        <a:t>IFM Asset</a:t>
                      </a:r>
                    </a:p>
                  </a:txBody>
                  <a:tcPr/>
                </a:tc>
                <a:extLst>
                  <a:ext uri="{0D108BD9-81ED-4DB2-BD59-A6C34878D82A}">
                    <a16:rowId xmlns:a16="http://schemas.microsoft.com/office/drawing/2014/main" val="2599310792"/>
                  </a:ext>
                </a:extLst>
              </a:tr>
              <a:tr h="422400">
                <a:tc>
                  <a:txBody>
                    <a:bodyPr/>
                    <a:lstStyle/>
                    <a:p>
                      <a:r>
                        <a:rPr lang="en-US" sz="1000" b="1" dirty="0"/>
                        <a:t>Equipment Type – </a:t>
                      </a:r>
                      <a:r>
                        <a:rPr lang="en-US" sz="1000" b="0" dirty="0"/>
                        <a:t>Heat Pump</a:t>
                      </a:r>
                    </a:p>
                  </a:txBody>
                  <a:tcPr/>
                </a:tc>
                <a:tc>
                  <a:txBody>
                    <a:bodyPr/>
                    <a:lstStyle/>
                    <a:p>
                      <a:r>
                        <a:rPr lang="en-US" sz="1000" b="1" dirty="0"/>
                        <a:t>Position Type - </a:t>
                      </a:r>
                      <a:r>
                        <a:rPr lang="en-US" sz="1000" b="0" dirty="0"/>
                        <a:t>Air Conditioner, Heat Pump (D3050.01)</a:t>
                      </a:r>
                    </a:p>
                  </a:txBody>
                  <a:tcPr/>
                </a:tc>
                <a:extLst>
                  <a:ext uri="{0D108BD9-81ED-4DB2-BD59-A6C34878D82A}">
                    <a16:rowId xmlns:a16="http://schemas.microsoft.com/office/drawing/2014/main" val="3024384071"/>
                  </a:ext>
                </a:extLst>
              </a:tr>
              <a:tr h="47871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1" dirty="0" err="1">
                          <a:solidFill>
                            <a:schemeClr val="accent2"/>
                          </a:solidFill>
                        </a:rPr>
                        <a:t>Nav_Name</a:t>
                      </a:r>
                      <a:r>
                        <a:rPr lang="en-US" sz="1000" b="1" dirty="0">
                          <a:solidFill>
                            <a:schemeClr val="accent2"/>
                          </a:solidFill>
                        </a:rPr>
                        <a:t> –  </a:t>
                      </a:r>
                      <a:r>
                        <a:rPr lang="en-US" sz="1000" b="0" dirty="0">
                          <a:solidFill>
                            <a:schemeClr val="accent2"/>
                          </a:solidFill>
                        </a:rPr>
                        <a:t>Heat Pump Unit 1</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b="1" dirty="0" err="1">
                          <a:solidFill>
                            <a:schemeClr val="accent2"/>
                          </a:solidFill>
                        </a:rPr>
                        <a:t>Equipment_Name</a:t>
                      </a:r>
                      <a:r>
                        <a:rPr lang="en-US" sz="1000" b="1" dirty="0">
                          <a:solidFill>
                            <a:schemeClr val="accent2"/>
                          </a:solidFill>
                        </a:rPr>
                        <a:t> – </a:t>
                      </a:r>
                      <a:r>
                        <a:rPr lang="en-US" sz="1000" b="0" dirty="0">
                          <a:solidFill>
                            <a:schemeClr val="accent2"/>
                          </a:solidFill>
                        </a:rPr>
                        <a:t>Heat Pump Unit 1</a:t>
                      </a:r>
                    </a:p>
                  </a:txBody>
                  <a:tcPr/>
                </a:tc>
                <a:tc>
                  <a:txBody>
                    <a:bodyPr/>
                    <a:lstStyle/>
                    <a:p>
                      <a:r>
                        <a:rPr lang="en-US" sz="1000" b="1" dirty="0">
                          <a:solidFill>
                            <a:schemeClr val="accent2"/>
                          </a:solidFill>
                        </a:rPr>
                        <a:t>Position name –  </a:t>
                      </a:r>
                      <a:r>
                        <a:rPr lang="en-US" sz="1000" b="0" dirty="0">
                          <a:solidFill>
                            <a:schemeClr val="accent2"/>
                          </a:solidFill>
                        </a:rPr>
                        <a:t>Unit 1</a:t>
                      </a:r>
                    </a:p>
                    <a:p>
                      <a:r>
                        <a:rPr lang="en-US" sz="1000" b="1" dirty="0">
                          <a:solidFill>
                            <a:schemeClr val="accent2"/>
                          </a:solidFill>
                        </a:rPr>
                        <a:t>Asset Name </a:t>
                      </a:r>
                      <a:r>
                        <a:rPr lang="en-US" sz="1000" b="0" dirty="0">
                          <a:solidFill>
                            <a:schemeClr val="accent2"/>
                          </a:solidFill>
                        </a:rPr>
                        <a:t>– Unit 1Pump</a:t>
                      </a:r>
                    </a:p>
                  </a:txBody>
                  <a:tcPr/>
                </a:tc>
                <a:extLst>
                  <a:ext uri="{0D108BD9-81ED-4DB2-BD59-A6C34878D82A}">
                    <a16:rowId xmlns:a16="http://schemas.microsoft.com/office/drawing/2014/main" val="633798941"/>
                  </a:ext>
                </a:extLst>
              </a:tr>
              <a:tr h="259939">
                <a:tc>
                  <a:txBody>
                    <a:bodyPr/>
                    <a:lstStyle/>
                    <a:p>
                      <a:r>
                        <a:rPr lang="en-US" sz="1000" b="1" dirty="0" err="1">
                          <a:solidFill>
                            <a:srgbClr val="FF0000"/>
                          </a:solidFill>
                        </a:rPr>
                        <a:t>Equipment_Make</a:t>
                      </a:r>
                      <a:r>
                        <a:rPr lang="en-US" sz="1000" b="1" dirty="0">
                          <a:solidFill>
                            <a:srgbClr val="FF0000"/>
                          </a:solidFill>
                        </a:rPr>
                        <a:t> - </a:t>
                      </a:r>
                      <a:r>
                        <a:rPr lang="en-US" sz="1000" b="0" dirty="0">
                          <a:solidFill>
                            <a:srgbClr val="FF0000"/>
                          </a:solidFill>
                        </a:rPr>
                        <a:t>0000</a:t>
                      </a:r>
                    </a:p>
                  </a:txBody>
                  <a:tcPr/>
                </a:tc>
                <a:tc>
                  <a:txBody>
                    <a:bodyPr/>
                    <a:lstStyle/>
                    <a:p>
                      <a:r>
                        <a:rPr lang="en-US" sz="1000" b="1" dirty="0">
                          <a:solidFill>
                            <a:srgbClr val="FF0000"/>
                          </a:solidFill>
                        </a:rPr>
                        <a:t>Manufacturer –  </a:t>
                      </a:r>
                      <a:r>
                        <a:rPr lang="en-US" sz="1000" b="0" dirty="0">
                          <a:solidFill>
                            <a:srgbClr val="FF0000"/>
                          </a:solidFill>
                        </a:rPr>
                        <a:t>Daikin</a:t>
                      </a:r>
                    </a:p>
                  </a:txBody>
                  <a:tcPr/>
                </a:tc>
                <a:extLst>
                  <a:ext uri="{0D108BD9-81ED-4DB2-BD59-A6C34878D82A}">
                    <a16:rowId xmlns:a16="http://schemas.microsoft.com/office/drawing/2014/main" val="3471013263"/>
                  </a:ext>
                </a:extLst>
              </a:tr>
              <a:tr h="259939">
                <a:tc>
                  <a:txBody>
                    <a:bodyPr/>
                    <a:lstStyle/>
                    <a:p>
                      <a:r>
                        <a:rPr lang="en-US" sz="1000" b="1" dirty="0" err="1">
                          <a:solidFill>
                            <a:srgbClr val="FF0000"/>
                          </a:solidFill>
                        </a:rPr>
                        <a:t>Equipment_Model_Number</a:t>
                      </a:r>
                      <a:r>
                        <a:rPr lang="en-US" sz="1000" b="1" dirty="0">
                          <a:solidFill>
                            <a:srgbClr val="FF0000"/>
                          </a:solidFill>
                        </a:rPr>
                        <a:t> </a:t>
                      </a:r>
                      <a:r>
                        <a:rPr lang="en-US" sz="1000" b="0" dirty="0">
                          <a:solidFill>
                            <a:srgbClr val="FF0000"/>
                          </a:solidFill>
                        </a:rPr>
                        <a:t>– Unk</a:t>
                      </a:r>
                    </a:p>
                  </a:txBody>
                  <a:tcPr/>
                </a:tc>
                <a:tc>
                  <a:txBody>
                    <a:bodyPr/>
                    <a:lstStyle/>
                    <a:p>
                      <a:r>
                        <a:rPr lang="en-US" sz="1000" b="1" dirty="0">
                          <a:solidFill>
                            <a:srgbClr val="FF0000"/>
                          </a:solidFill>
                        </a:rPr>
                        <a:t>Model – </a:t>
                      </a:r>
                      <a:r>
                        <a:rPr lang="en-US" sz="1000" b="0" dirty="0">
                          <a:solidFill>
                            <a:srgbClr val="FF0000"/>
                          </a:solidFill>
                        </a:rPr>
                        <a:t>NZVVAQ</a:t>
                      </a:r>
                    </a:p>
                  </a:txBody>
                  <a:tcPr/>
                </a:tc>
                <a:extLst>
                  <a:ext uri="{0D108BD9-81ED-4DB2-BD59-A6C34878D82A}">
                    <a16:rowId xmlns:a16="http://schemas.microsoft.com/office/drawing/2014/main" val="2466397732"/>
                  </a:ext>
                </a:extLst>
              </a:tr>
              <a:tr h="259939">
                <a:tc>
                  <a:txBody>
                    <a:bodyPr/>
                    <a:lstStyle/>
                    <a:p>
                      <a:r>
                        <a:rPr lang="en-US" sz="1000" b="1" dirty="0">
                          <a:solidFill>
                            <a:srgbClr val="FF0000"/>
                          </a:solidFill>
                        </a:rPr>
                        <a:t>Equipment </a:t>
                      </a:r>
                      <a:r>
                        <a:rPr lang="en-US" sz="1000" b="1" dirty="0" err="1">
                          <a:solidFill>
                            <a:srgbClr val="FF0000"/>
                          </a:solidFill>
                        </a:rPr>
                        <a:t>Serial_Number</a:t>
                      </a:r>
                      <a:r>
                        <a:rPr lang="en-US" sz="1000" b="1" dirty="0">
                          <a:solidFill>
                            <a:srgbClr val="FF0000"/>
                          </a:solidFill>
                        </a:rPr>
                        <a:t>  - </a:t>
                      </a:r>
                      <a:endParaRPr lang="en-US" sz="1000" b="0" dirty="0">
                        <a:solidFill>
                          <a:srgbClr val="FF0000"/>
                        </a:solidFill>
                      </a:endParaRPr>
                    </a:p>
                  </a:txBody>
                  <a:tcPr/>
                </a:tc>
                <a:tc>
                  <a:txBody>
                    <a:bodyPr/>
                    <a:lstStyle/>
                    <a:p>
                      <a:r>
                        <a:rPr lang="en-US" sz="1000" b="1" dirty="0">
                          <a:solidFill>
                            <a:srgbClr val="FF0000"/>
                          </a:solidFill>
                        </a:rPr>
                        <a:t>Serial Number – </a:t>
                      </a:r>
                      <a:r>
                        <a:rPr lang="en-US" sz="1000" b="0" dirty="0">
                          <a:solidFill>
                            <a:srgbClr val="FF0000"/>
                          </a:solidFill>
                        </a:rPr>
                        <a:t>ABX123ZZ</a:t>
                      </a:r>
                    </a:p>
                  </a:txBody>
                  <a:tcPr/>
                </a:tc>
                <a:extLst>
                  <a:ext uri="{0D108BD9-81ED-4DB2-BD59-A6C34878D82A}">
                    <a16:rowId xmlns:a16="http://schemas.microsoft.com/office/drawing/2014/main" val="780661850"/>
                  </a:ext>
                </a:extLst>
              </a:tr>
              <a:tr h="259939">
                <a:tc>
                  <a:txBody>
                    <a:bodyPr/>
                    <a:lstStyle/>
                    <a:p>
                      <a:r>
                        <a:rPr lang="en-US" sz="1000" b="1" dirty="0"/>
                        <a:t>Country, State, City --- </a:t>
                      </a:r>
                      <a:r>
                        <a:rPr lang="en-US" sz="1000" b="0" dirty="0"/>
                        <a:t>US, NY, Clinton</a:t>
                      </a:r>
                    </a:p>
                  </a:txBody>
                  <a:tcPr/>
                </a:tc>
                <a:tc>
                  <a:txBody>
                    <a:bodyPr/>
                    <a:lstStyle/>
                    <a:p>
                      <a:r>
                        <a:rPr lang="en-US" sz="1000" b="1" dirty="0"/>
                        <a:t>Region - </a:t>
                      </a:r>
                      <a:r>
                        <a:rPr lang="en-US" sz="1000" b="0" dirty="0"/>
                        <a:t>US, NY, Clinton</a:t>
                      </a:r>
                    </a:p>
                  </a:txBody>
                  <a:tcPr/>
                </a:tc>
                <a:extLst>
                  <a:ext uri="{0D108BD9-81ED-4DB2-BD59-A6C34878D82A}">
                    <a16:rowId xmlns:a16="http://schemas.microsoft.com/office/drawing/2014/main" val="4121694875"/>
                  </a:ext>
                </a:extLst>
              </a:tr>
              <a:tr h="259939">
                <a:tc>
                  <a:txBody>
                    <a:bodyPr/>
                    <a:lstStyle/>
                    <a:p>
                      <a:r>
                        <a:rPr lang="en-US" sz="1000" b="1" dirty="0">
                          <a:solidFill>
                            <a:schemeClr val="accent2"/>
                          </a:solidFill>
                        </a:rPr>
                        <a:t>Site – </a:t>
                      </a:r>
                      <a:r>
                        <a:rPr lang="en-US" sz="1000" b="0" dirty="0">
                          <a:solidFill>
                            <a:schemeClr val="accent2"/>
                          </a:solidFill>
                        </a:rPr>
                        <a:t>3655 North Point Parkway</a:t>
                      </a:r>
                    </a:p>
                  </a:txBody>
                  <a:tcPr/>
                </a:tc>
                <a:tc>
                  <a:txBody>
                    <a:bodyPr/>
                    <a:lstStyle/>
                    <a:p>
                      <a:r>
                        <a:rPr lang="en-US" sz="1000" b="1" dirty="0">
                          <a:solidFill>
                            <a:schemeClr val="accent2"/>
                          </a:solidFill>
                        </a:rPr>
                        <a:t>Building – </a:t>
                      </a:r>
                      <a:r>
                        <a:rPr lang="en-US" sz="1000" b="0" dirty="0">
                          <a:solidFill>
                            <a:schemeClr val="accent2"/>
                          </a:solidFill>
                        </a:rPr>
                        <a:t>3655 North PP</a:t>
                      </a:r>
                    </a:p>
                  </a:txBody>
                  <a:tcPr/>
                </a:tc>
                <a:extLst>
                  <a:ext uri="{0D108BD9-81ED-4DB2-BD59-A6C34878D82A}">
                    <a16:rowId xmlns:a16="http://schemas.microsoft.com/office/drawing/2014/main" val="250341676"/>
                  </a:ext>
                </a:extLst>
              </a:tr>
            </a:tbl>
          </a:graphicData>
        </a:graphic>
      </p:graphicFrame>
    </p:spTree>
    <p:extLst>
      <p:ext uri="{BB962C8B-B14F-4D97-AF65-F5344CB8AC3E}">
        <p14:creationId xmlns:p14="http://schemas.microsoft.com/office/powerpoint/2010/main" val="316926291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B92A9E-4238-B732-4E59-D3C9C8688DA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0DA6DFA-2893-74A4-0D3B-7E03C15D566B}"/>
              </a:ext>
            </a:extLst>
          </p:cNvPr>
          <p:cNvSpPr txBox="1"/>
          <p:nvPr/>
        </p:nvSpPr>
        <p:spPr>
          <a:xfrm>
            <a:off x="367251" y="693420"/>
            <a:ext cx="6361209" cy="369332"/>
          </a:xfrm>
          <a:prstGeom prst="rect">
            <a:avLst/>
          </a:prstGeom>
          <a:noFill/>
        </p:spPr>
        <p:txBody>
          <a:bodyPr wrap="square" rtlCol="0">
            <a:spAutoFit/>
          </a:bodyPr>
          <a:lstStyle/>
          <a:p>
            <a:r>
              <a:rPr lang="en-US" b="1" dirty="0">
                <a:solidFill>
                  <a:schemeClr val="accent6">
                    <a:lumMod val="50000"/>
                  </a:schemeClr>
                </a:solidFill>
                <a:latin typeface="Calibre Medium" panose="020B0603030202060203" pitchFamily="34" charset="0"/>
              </a:rPr>
              <a:t>Partial Match – Approach 2 </a:t>
            </a:r>
            <a:r>
              <a:rPr lang="en-US" sz="1200" b="1" dirty="0">
                <a:solidFill>
                  <a:schemeClr val="accent6">
                    <a:lumMod val="50000"/>
                  </a:schemeClr>
                </a:solidFill>
                <a:latin typeface="Calibre Medium" panose="020B0603030202060203" pitchFamily="34" charset="0"/>
              </a:rPr>
              <a:t>(All parameters in consideration)</a:t>
            </a:r>
          </a:p>
        </p:txBody>
      </p:sp>
      <p:sp>
        <p:nvSpPr>
          <p:cNvPr id="3" name="Rectangle: Rounded Corners 2">
            <a:extLst>
              <a:ext uri="{FF2B5EF4-FFF2-40B4-BE49-F238E27FC236}">
                <a16:creationId xmlns:a16="http://schemas.microsoft.com/office/drawing/2014/main" id="{E8754F33-A2B2-B894-398E-7F56D25AA218}"/>
              </a:ext>
            </a:extLst>
          </p:cNvPr>
          <p:cNvSpPr/>
          <p:nvPr/>
        </p:nvSpPr>
        <p:spPr>
          <a:xfrm>
            <a:off x="332961" y="1362224"/>
            <a:ext cx="2433100" cy="364411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400" b="1" dirty="0">
                <a:solidFill>
                  <a:schemeClr val="bg2"/>
                </a:solidFill>
                <a:latin typeface="Amasis MT Pro Black" panose="020F0502020204030204" pitchFamily="18" charset="0"/>
              </a:rPr>
              <a:t>Approach 2</a:t>
            </a:r>
          </a:p>
          <a:p>
            <a:pPr algn="ctr"/>
            <a:endParaRPr lang="en-US" sz="1400" dirty="0"/>
          </a:p>
          <a:p>
            <a:pPr marL="285750" indent="-285750">
              <a:buFont typeface="Arial" panose="020B0604020202020204" pitchFamily="34" charset="0"/>
              <a:buChar char="•"/>
            </a:pPr>
            <a:r>
              <a:rPr lang="en-US" sz="1400" dirty="0"/>
              <a:t>Asset Type/ Position Type</a:t>
            </a:r>
          </a:p>
          <a:p>
            <a:pPr marL="285750" indent="-285750">
              <a:buFont typeface="Arial" panose="020B0604020202020204" pitchFamily="34" charset="0"/>
              <a:buChar char="•"/>
            </a:pPr>
            <a:r>
              <a:rPr lang="en-US" sz="1400" dirty="0"/>
              <a:t>Asset Name</a:t>
            </a:r>
          </a:p>
          <a:p>
            <a:pPr marL="285750" indent="-285750">
              <a:buFont typeface="Arial" panose="020B0604020202020204" pitchFamily="34" charset="0"/>
              <a:buChar char="•"/>
            </a:pPr>
            <a:r>
              <a:rPr lang="en-US" sz="1400" dirty="0"/>
              <a:t>Asset Properties </a:t>
            </a:r>
          </a:p>
          <a:p>
            <a:pPr marL="742950" lvl="1" indent="-285750">
              <a:buFont typeface="Arial" panose="020B0604020202020204" pitchFamily="34" charset="0"/>
              <a:buChar char="•"/>
            </a:pPr>
            <a:r>
              <a:rPr lang="en-US" sz="1400" dirty="0"/>
              <a:t>Manufacturer</a:t>
            </a:r>
          </a:p>
          <a:p>
            <a:pPr marL="742950" lvl="1" indent="-285750">
              <a:buFont typeface="Arial" panose="020B0604020202020204" pitchFamily="34" charset="0"/>
              <a:buChar char="•"/>
            </a:pPr>
            <a:r>
              <a:rPr lang="en-US" sz="1400" dirty="0"/>
              <a:t>Model</a:t>
            </a:r>
          </a:p>
          <a:p>
            <a:pPr marL="742950" lvl="1" indent="-285750">
              <a:buFont typeface="Arial" panose="020B0604020202020204" pitchFamily="34" charset="0"/>
              <a:buChar char="•"/>
            </a:pPr>
            <a:r>
              <a:rPr lang="en-US" sz="1400" dirty="0"/>
              <a:t>Serial</a:t>
            </a:r>
          </a:p>
          <a:p>
            <a:pPr marL="285750" indent="-285750">
              <a:buFont typeface="Arial" panose="020B0604020202020204" pitchFamily="34" charset="0"/>
              <a:buChar char="•"/>
            </a:pPr>
            <a:r>
              <a:rPr lang="en-US" sz="1400" dirty="0"/>
              <a:t>Asset Location</a:t>
            </a:r>
          </a:p>
          <a:p>
            <a:pPr marL="742950" lvl="1" indent="-285750">
              <a:buFont typeface="Arial" panose="020B0604020202020204" pitchFamily="34" charset="0"/>
              <a:buChar char="•"/>
            </a:pPr>
            <a:r>
              <a:rPr lang="en-US" sz="1400" dirty="0"/>
              <a:t>Country</a:t>
            </a:r>
          </a:p>
          <a:p>
            <a:pPr marL="742950" lvl="1" indent="-285750">
              <a:buFont typeface="Arial" panose="020B0604020202020204" pitchFamily="34" charset="0"/>
              <a:buChar char="•"/>
            </a:pPr>
            <a:r>
              <a:rPr lang="en-US" sz="1400" dirty="0"/>
              <a:t>State</a:t>
            </a:r>
          </a:p>
          <a:p>
            <a:pPr marL="742950" lvl="1" indent="-285750">
              <a:buFont typeface="Arial" panose="020B0604020202020204" pitchFamily="34" charset="0"/>
              <a:buChar char="•"/>
            </a:pPr>
            <a:r>
              <a:rPr lang="en-US" sz="1400" dirty="0"/>
              <a:t>City</a:t>
            </a:r>
          </a:p>
          <a:p>
            <a:pPr marL="742950" lvl="1" indent="-285750">
              <a:buFont typeface="Arial" panose="020B0604020202020204" pitchFamily="34" charset="0"/>
              <a:buChar char="•"/>
            </a:pPr>
            <a:r>
              <a:rPr lang="en-US" sz="1400" dirty="0"/>
              <a:t>Region</a:t>
            </a:r>
          </a:p>
          <a:p>
            <a:pPr marL="742950" lvl="1" indent="-285750">
              <a:buFont typeface="Arial" panose="020B0604020202020204" pitchFamily="34" charset="0"/>
              <a:buChar char="•"/>
            </a:pPr>
            <a:r>
              <a:rPr lang="en-US" sz="1400" dirty="0"/>
              <a:t>Building/Site</a:t>
            </a:r>
          </a:p>
          <a:p>
            <a:pPr marL="285750" indent="-285750">
              <a:buFont typeface="Arial" panose="020B0604020202020204" pitchFamily="34" charset="0"/>
              <a:buChar char="•"/>
            </a:pPr>
            <a:endParaRPr lang="en-US" sz="1400" dirty="0"/>
          </a:p>
        </p:txBody>
      </p:sp>
      <p:sp>
        <p:nvSpPr>
          <p:cNvPr id="4" name="TextBox 3">
            <a:extLst>
              <a:ext uri="{FF2B5EF4-FFF2-40B4-BE49-F238E27FC236}">
                <a16:creationId xmlns:a16="http://schemas.microsoft.com/office/drawing/2014/main" id="{18E8ED0C-D35A-F9CC-64FE-B4E69E2C9740}"/>
              </a:ext>
            </a:extLst>
          </p:cNvPr>
          <p:cNvSpPr txBox="1"/>
          <p:nvPr/>
        </p:nvSpPr>
        <p:spPr>
          <a:xfrm>
            <a:off x="3116580" y="1191339"/>
            <a:ext cx="8742459" cy="4832092"/>
          </a:xfrm>
          <a:prstGeom prst="rect">
            <a:avLst/>
          </a:prstGeom>
          <a:noFill/>
        </p:spPr>
        <p:txBody>
          <a:bodyPr wrap="square" rtlCol="0">
            <a:spAutoFit/>
          </a:bodyPr>
          <a:lstStyle/>
          <a:p>
            <a:pPr algn="just"/>
            <a:r>
              <a:rPr lang="en-US" sz="1400" b="1" i="1" dirty="0">
                <a:solidFill>
                  <a:schemeClr val="accent6">
                    <a:lumMod val="50000"/>
                  </a:schemeClr>
                </a:solidFill>
              </a:rPr>
              <a:t>Conditions –</a:t>
            </a:r>
          </a:p>
          <a:p>
            <a:pPr algn="just"/>
            <a:endParaRPr lang="en-US" sz="1400" b="1" i="1" dirty="0">
              <a:solidFill>
                <a:schemeClr val="accent6">
                  <a:lumMod val="50000"/>
                </a:schemeClr>
              </a:solidFill>
            </a:endParaRPr>
          </a:p>
          <a:p>
            <a:pPr algn="just"/>
            <a:r>
              <a:rPr lang="en-US" sz="1400" dirty="0"/>
              <a:t>	The Equipment type in SFM should match perfectly with Position Type in IFM                          OR</a:t>
            </a:r>
          </a:p>
          <a:p>
            <a:pPr algn="just"/>
            <a:r>
              <a:rPr lang="en-US" sz="1400" dirty="0"/>
              <a:t>	The Equipment Type in SFM is blank/null/ other                                                                                       OR</a:t>
            </a:r>
          </a:p>
          <a:p>
            <a:pPr algn="just"/>
            <a:r>
              <a:rPr lang="en-US" sz="1400" dirty="0"/>
              <a:t>	The Equipment type in SFM matches with Position type in IFM one step up level. </a:t>
            </a:r>
          </a:p>
          <a:p>
            <a:pPr algn="just"/>
            <a:r>
              <a:rPr lang="en-US" sz="1400" dirty="0"/>
              <a:t>AND</a:t>
            </a:r>
          </a:p>
          <a:p>
            <a:pPr algn="just"/>
            <a:r>
              <a:rPr lang="en-US" sz="1400" dirty="0"/>
              <a:t>	 The </a:t>
            </a:r>
            <a:r>
              <a:rPr lang="en-US" sz="1400" dirty="0" err="1"/>
              <a:t>Nav_Name</a:t>
            </a:r>
            <a:r>
              <a:rPr lang="en-US" sz="1400" dirty="0"/>
              <a:t> in SFM matches (50%) with Asset Name in IFM HUB                   	          OR</a:t>
            </a:r>
          </a:p>
          <a:p>
            <a:pPr algn="just"/>
            <a:r>
              <a:rPr lang="en-US" sz="1400" dirty="0"/>
              <a:t>	 The </a:t>
            </a:r>
            <a:r>
              <a:rPr lang="en-US" sz="1400" dirty="0" err="1"/>
              <a:t>Nav_Name</a:t>
            </a:r>
            <a:r>
              <a:rPr lang="en-US" sz="1400" dirty="0"/>
              <a:t> in SFM matches (50%) with Position Name in IFM Hub              	          OR</a:t>
            </a:r>
          </a:p>
          <a:p>
            <a:pPr algn="just"/>
            <a:r>
              <a:rPr lang="en-US" sz="1400" dirty="0"/>
              <a:t>	 The </a:t>
            </a:r>
            <a:r>
              <a:rPr lang="en-US" sz="1400" dirty="0" err="1"/>
              <a:t>Equipment_Name</a:t>
            </a:r>
            <a:r>
              <a:rPr lang="en-US" sz="1400" dirty="0"/>
              <a:t> in SFM matches (50%) with Asset Name in IFM HUB    	          OR </a:t>
            </a:r>
          </a:p>
          <a:p>
            <a:pPr algn="just"/>
            <a:r>
              <a:rPr lang="en-US" sz="1400" dirty="0"/>
              <a:t>	 The </a:t>
            </a:r>
            <a:r>
              <a:rPr lang="en-US" sz="1400" dirty="0" err="1"/>
              <a:t>Equipment_Name</a:t>
            </a:r>
            <a:r>
              <a:rPr lang="en-US" sz="1400" dirty="0"/>
              <a:t> in SFM matches (50%) with Position name in IFM Hub</a:t>
            </a:r>
          </a:p>
          <a:p>
            <a:pPr algn="just"/>
            <a:r>
              <a:rPr lang="en-US" sz="1400" dirty="0"/>
              <a:t>AND</a:t>
            </a:r>
          </a:p>
          <a:p>
            <a:r>
              <a:rPr lang="en-US" sz="1400" dirty="0"/>
              <a:t>	The </a:t>
            </a:r>
            <a:r>
              <a:rPr lang="en-US" sz="1400" dirty="0" err="1"/>
              <a:t>Equipment_make</a:t>
            </a:r>
            <a:r>
              <a:rPr lang="en-US" sz="1400" dirty="0"/>
              <a:t> in SFM matches (50%) with Manufacturer in IFM HUB                  	           </a:t>
            </a:r>
          </a:p>
          <a:p>
            <a:r>
              <a:rPr lang="en-US" sz="1400" dirty="0"/>
              <a:t>AND</a:t>
            </a:r>
          </a:p>
          <a:p>
            <a:r>
              <a:rPr lang="en-US" sz="1400" dirty="0"/>
              <a:t>	The </a:t>
            </a:r>
            <a:r>
              <a:rPr lang="en-US" sz="1400" dirty="0" err="1"/>
              <a:t>Equipment_Model_Number</a:t>
            </a:r>
            <a:r>
              <a:rPr lang="en-US" sz="1400" dirty="0"/>
              <a:t> in SFM matches (50%) with Model in IFM Hub                         </a:t>
            </a:r>
          </a:p>
          <a:p>
            <a:r>
              <a:rPr lang="en-US" sz="1400" dirty="0"/>
              <a:t>AND</a:t>
            </a:r>
          </a:p>
          <a:p>
            <a:pPr algn="just"/>
            <a:r>
              <a:rPr lang="en-US" sz="1400" dirty="0"/>
              <a:t>	The </a:t>
            </a:r>
            <a:r>
              <a:rPr lang="en-US" sz="1400" dirty="0" err="1"/>
              <a:t>Equipment_Serial_Number</a:t>
            </a:r>
            <a:r>
              <a:rPr lang="en-US" sz="1400" dirty="0"/>
              <a:t> in SFM matches (50%) with Serial Number in IFM HUB </a:t>
            </a:r>
          </a:p>
          <a:p>
            <a:pPr algn="just"/>
            <a:r>
              <a:rPr lang="en-US" sz="1400" dirty="0"/>
              <a:t>AND</a:t>
            </a:r>
          </a:p>
          <a:p>
            <a:pPr algn="just"/>
            <a:r>
              <a:rPr lang="en-US" sz="1400" dirty="0"/>
              <a:t>	The combination of Country, State, City in SFM matches (90%) with Region Name in IFM</a:t>
            </a:r>
          </a:p>
          <a:p>
            <a:pPr algn="just"/>
            <a:r>
              <a:rPr lang="en-US" sz="1400" dirty="0"/>
              <a:t>AND</a:t>
            </a:r>
          </a:p>
          <a:p>
            <a:pPr algn="just"/>
            <a:r>
              <a:rPr lang="en-US" sz="1400" dirty="0"/>
              <a:t>	The Site name in SFM matches (50%) with Building Name in IFM Hub</a:t>
            </a:r>
          </a:p>
          <a:p>
            <a:pPr marL="171450" indent="-171450" algn="just">
              <a:buFont typeface="Arial" panose="020B0604020202020204" pitchFamily="34" charset="0"/>
              <a:buChar char="•"/>
            </a:pPr>
            <a:endParaRPr lang="en-US" sz="1400" dirty="0"/>
          </a:p>
          <a:p>
            <a:pPr algn="just"/>
            <a:endParaRPr lang="en-US" sz="1400" dirty="0"/>
          </a:p>
        </p:txBody>
      </p:sp>
    </p:spTree>
    <p:extLst>
      <p:ext uri="{BB962C8B-B14F-4D97-AF65-F5344CB8AC3E}">
        <p14:creationId xmlns:p14="http://schemas.microsoft.com/office/powerpoint/2010/main" val="270291404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F83606-F3B4-51C7-6951-A261606ECD5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BF5FA1C-DCFA-D189-FACC-53FD8E1E5110}"/>
              </a:ext>
            </a:extLst>
          </p:cNvPr>
          <p:cNvSpPr txBox="1"/>
          <p:nvPr/>
        </p:nvSpPr>
        <p:spPr>
          <a:xfrm>
            <a:off x="367251" y="693420"/>
            <a:ext cx="6361209" cy="369332"/>
          </a:xfrm>
          <a:prstGeom prst="rect">
            <a:avLst/>
          </a:prstGeom>
          <a:noFill/>
        </p:spPr>
        <p:txBody>
          <a:bodyPr wrap="square" rtlCol="0">
            <a:spAutoFit/>
          </a:bodyPr>
          <a:lstStyle/>
          <a:p>
            <a:r>
              <a:rPr lang="en-US" b="1" dirty="0">
                <a:solidFill>
                  <a:schemeClr val="accent6">
                    <a:lumMod val="50000"/>
                  </a:schemeClr>
                </a:solidFill>
                <a:latin typeface="Calibre Medium" panose="020B0603030202060203" pitchFamily="34" charset="0"/>
              </a:rPr>
              <a:t>Sample Matches on Partial Match - Approach 2</a:t>
            </a:r>
          </a:p>
        </p:txBody>
      </p:sp>
      <p:graphicFrame>
        <p:nvGraphicFramePr>
          <p:cNvPr id="8" name="Table 7">
            <a:extLst>
              <a:ext uri="{FF2B5EF4-FFF2-40B4-BE49-F238E27FC236}">
                <a16:creationId xmlns:a16="http://schemas.microsoft.com/office/drawing/2014/main" id="{2664779C-2592-E95A-0BB4-70F2BB367C31}"/>
              </a:ext>
            </a:extLst>
          </p:cNvPr>
          <p:cNvGraphicFramePr>
            <a:graphicFrameLocks noGrp="1"/>
          </p:cNvGraphicFramePr>
          <p:nvPr>
            <p:extLst>
              <p:ext uri="{D42A27DB-BD31-4B8C-83A1-F6EECF244321}">
                <p14:modId xmlns:p14="http://schemas.microsoft.com/office/powerpoint/2010/main" val="1510958247"/>
              </p:ext>
            </p:extLst>
          </p:nvPr>
        </p:nvGraphicFramePr>
        <p:xfrm>
          <a:off x="595851" y="1301734"/>
          <a:ext cx="8212869" cy="2487983"/>
        </p:xfrm>
        <a:graphic>
          <a:graphicData uri="http://schemas.openxmlformats.org/drawingml/2006/table">
            <a:tbl>
              <a:tblPr firstRow="1" bandRow="1">
                <a:tableStyleId>{5C22544A-7EE6-4342-B048-85BDC9FD1C3A}</a:tableStyleId>
              </a:tblPr>
              <a:tblGrid>
                <a:gridCol w="4129017">
                  <a:extLst>
                    <a:ext uri="{9D8B030D-6E8A-4147-A177-3AD203B41FA5}">
                      <a16:colId xmlns:a16="http://schemas.microsoft.com/office/drawing/2014/main" val="1713291588"/>
                    </a:ext>
                  </a:extLst>
                </a:gridCol>
                <a:gridCol w="4083852">
                  <a:extLst>
                    <a:ext uri="{9D8B030D-6E8A-4147-A177-3AD203B41FA5}">
                      <a16:colId xmlns:a16="http://schemas.microsoft.com/office/drawing/2014/main" val="3548403619"/>
                    </a:ext>
                  </a:extLst>
                </a:gridCol>
              </a:tblGrid>
              <a:tr h="259939">
                <a:tc>
                  <a:txBody>
                    <a:bodyPr/>
                    <a:lstStyle/>
                    <a:p>
                      <a:r>
                        <a:rPr lang="en-US" sz="1000" dirty="0"/>
                        <a:t>SFM Asset</a:t>
                      </a:r>
                    </a:p>
                  </a:txBody>
                  <a:tcPr/>
                </a:tc>
                <a:tc>
                  <a:txBody>
                    <a:bodyPr/>
                    <a:lstStyle/>
                    <a:p>
                      <a:r>
                        <a:rPr lang="en-US" sz="1000" dirty="0"/>
                        <a:t>IFM Asset</a:t>
                      </a:r>
                    </a:p>
                  </a:txBody>
                  <a:tcPr/>
                </a:tc>
                <a:extLst>
                  <a:ext uri="{0D108BD9-81ED-4DB2-BD59-A6C34878D82A}">
                    <a16:rowId xmlns:a16="http://schemas.microsoft.com/office/drawing/2014/main" val="2599310792"/>
                  </a:ext>
                </a:extLst>
              </a:tr>
              <a:tr h="422400">
                <a:tc>
                  <a:txBody>
                    <a:bodyPr/>
                    <a:lstStyle/>
                    <a:p>
                      <a:r>
                        <a:rPr lang="en-US" sz="1000" b="1" dirty="0"/>
                        <a:t>Equipment Type –  </a:t>
                      </a:r>
                      <a:r>
                        <a:rPr lang="en-US" sz="1000" b="0" dirty="0"/>
                        <a:t>Make Up Air Unit</a:t>
                      </a:r>
                    </a:p>
                  </a:txBody>
                  <a:tcPr/>
                </a:tc>
                <a:tc>
                  <a:txBody>
                    <a:bodyPr/>
                    <a:lstStyle/>
                    <a:p>
                      <a:r>
                        <a:rPr lang="en-US" sz="1000" b="1" dirty="0"/>
                        <a:t>Position Type - </a:t>
                      </a:r>
                      <a:r>
                        <a:rPr lang="en-US" sz="1000" b="0" dirty="0"/>
                        <a:t>Make-Up Air Unit (D3040.02.14)</a:t>
                      </a:r>
                    </a:p>
                  </a:txBody>
                  <a:tcPr/>
                </a:tc>
                <a:extLst>
                  <a:ext uri="{0D108BD9-81ED-4DB2-BD59-A6C34878D82A}">
                    <a16:rowId xmlns:a16="http://schemas.microsoft.com/office/drawing/2014/main" val="3024384071"/>
                  </a:ext>
                </a:extLst>
              </a:tr>
              <a:tr h="47871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1" dirty="0" err="1">
                          <a:solidFill>
                            <a:schemeClr val="accent2"/>
                          </a:solidFill>
                        </a:rPr>
                        <a:t>Nav_Name</a:t>
                      </a:r>
                      <a:r>
                        <a:rPr lang="en-US" sz="1000" b="1" dirty="0">
                          <a:solidFill>
                            <a:schemeClr val="accent2"/>
                          </a:solidFill>
                        </a:rPr>
                        <a:t> – </a:t>
                      </a:r>
                      <a:r>
                        <a:rPr lang="en-US" sz="1000" b="0" dirty="0">
                          <a:solidFill>
                            <a:schemeClr val="accent2"/>
                          </a:solidFill>
                        </a:rPr>
                        <a:t>MUAU Unit 01</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b="1" dirty="0" err="1">
                          <a:solidFill>
                            <a:schemeClr val="accent2"/>
                          </a:solidFill>
                        </a:rPr>
                        <a:t>Equipment_Name</a:t>
                      </a:r>
                      <a:r>
                        <a:rPr lang="en-US" sz="1000" b="1" dirty="0">
                          <a:solidFill>
                            <a:schemeClr val="accent2"/>
                          </a:solidFill>
                        </a:rPr>
                        <a:t> – </a:t>
                      </a:r>
                      <a:r>
                        <a:rPr lang="en-US" sz="1000" b="0" dirty="0">
                          <a:solidFill>
                            <a:schemeClr val="accent2"/>
                          </a:solidFill>
                        </a:rPr>
                        <a:t>MUAU Unit 01</a:t>
                      </a:r>
                    </a:p>
                  </a:txBody>
                  <a:tcPr/>
                </a:tc>
                <a:tc>
                  <a:txBody>
                    <a:bodyPr/>
                    <a:lstStyle/>
                    <a:p>
                      <a:r>
                        <a:rPr lang="en-US" sz="1000" b="1" dirty="0">
                          <a:solidFill>
                            <a:schemeClr val="accent2"/>
                          </a:solidFill>
                        </a:rPr>
                        <a:t>Position name –  </a:t>
                      </a:r>
                      <a:r>
                        <a:rPr lang="en-US" sz="1000" b="0" dirty="0">
                          <a:solidFill>
                            <a:schemeClr val="accent2"/>
                          </a:solidFill>
                        </a:rPr>
                        <a:t>Make up Unit 01</a:t>
                      </a:r>
                    </a:p>
                    <a:p>
                      <a:r>
                        <a:rPr lang="en-US" sz="1000" b="1" dirty="0">
                          <a:solidFill>
                            <a:schemeClr val="accent2"/>
                          </a:solidFill>
                        </a:rPr>
                        <a:t>Asset Name </a:t>
                      </a:r>
                      <a:r>
                        <a:rPr lang="en-US" sz="1000" b="0" dirty="0">
                          <a:solidFill>
                            <a:schemeClr val="accent2"/>
                          </a:solidFill>
                        </a:rPr>
                        <a:t>– Make up air unit</a:t>
                      </a:r>
                    </a:p>
                  </a:txBody>
                  <a:tcPr/>
                </a:tc>
                <a:extLst>
                  <a:ext uri="{0D108BD9-81ED-4DB2-BD59-A6C34878D82A}">
                    <a16:rowId xmlns:a16="http://schemas.microsoft.com/office/drawing/2014/main" val="633798941"/>
                  </a:ext>
                </a:extLst>
              </a:tr>
              <a:tr h="259939">
                <a:tc>
                  <a:txBody>
                    <a:bodyPr/>
                    <a:lstStyle/>
                    <a:p>
                      <a:r>
                        <a:rPr lang="en-US" sz="1000" b="1" dirty="0" err="1">
                          <a:solidFill>
                            <a:schemeClr val="accent2"/>
                          </a:solidFill>
                        </a:rPr>
                        <a:t>Equipment_Make</a:t>
                      </a:r>
                      <a:r>
                        <a:rPr lang="en-US" sz="1000" b="1" dirty="0">
                          <a:solidFill>
                            <a:schemeClr val="accent2"/>
                          </a:solidFill>
                        </a:rPr>
                        <a:t> – </a:t>
                      </a:r>
                      <a:r>
                        <a:rPr lang="en-US" sz="1000" b="0" dirty="0">
                          <a:solidFill>
                            <a:schemeClr val="accent2"/>
                          </a:solidFill>
                        </a:rPr>
                        <a:t>Trane Inc</a:t>
                      </a:r>
                    </a:p>
                  </a:txBody>
                  <a:tcPr/>
                </a:tc>
                <a:tc>
                  <a:txBody>
                    <a:bodyPr/>
                    <a:lstStyle/>
                    <a:p>
                      <a:r>
                        <a:rPr lang="en-US" sz="1000" b="1" dirty="0">
                          <a:solidFill>
                            <a:schemeClr val="accent2"/>
                          </a:solidFill>
                        </a:rPr>
                        <a:t>Manufacturer –  </a:t>
                      </a:r>
                      <a:r>
                        <a:rPr lang="en-US" sz="1000" b="0" dirty="0">
                          <a:solidFill>
                            <a:schemeClr val="accent2"/>
                          </a:solidFill>
                        </a:rPr>
                        <a:t>Trane</a:t>
                      </a:r>
                    </a:p>
                  </a:txBody>
                  <a:tcPr/>
                </a:tc>
                <a:extLst>
                  <a:ext uri="{0D108BD9-81ED-4DB2-BD59-A6C34878D82A}">
                    <a16:rowId xmlns:a16="http://schemas.microsoft.com/office/drawing/2014/main" val="3471013263"/>
                  </a:ext>
                </a:extLst>
              </a:tr>
              <a:tr h="287176">
                <a:tc>
                  <a:txBody>
                    <a:bodyPr/>
                    <a:lstStyle/>
                    <a:p>
                      <a:r>
                        <a:rPr lang="en-US" sz="1000" b="1" dirty="0" err="1">
                          <a:solidFill>
                            <a:schemeClr val="accent2"/>
                          </a:solidFill>
                        </a:rPr>
                        <a:t>Equipment_Model_Number</a:t>
                      </a:r>
                      <a:r>
                        <a:rPr lang="en-US" sz="1000" b="1" dirty="0">
                          <a:solidFill>
                            <a:schemeClr val="accent2"/>
                          </a:solidFill>
                        </a:rPr>
                        <a:t> – </a:t>
                      </a:r>
                      <a:r>
                        <a:rPr lang="en-US" sz="1000" b="0" dirty="0">
                          <a:solidFill>
                            <a:schemeClr val="accent2"/>
                          </a:solidFill>
                        </a:rPr>
                        <a:t>BZNANAF</a:t>
                      </a:r>
                    </a:p>
                  </a:txBody>
                  <a:tcPr/>
                </a:tc>
                <a:tc>
                  <a:txBody>
                    <a:bodyPr/>
                    <a:lstStyle/>
                    <a:p>
                      <a:r>
                        <a:rPr lang="en-US" sz="1000" b="1" dirty="0">
                          <a:solidFill>
                            <a:schemeClr val="accent2"/>
                          </a:solidFill>
                        </a:rPr>
                        <a:t>Model – </a:t>
                      </a:r>
                      <a:r>
                        <a:rPr lang="en-US" sz="1000" b="0" dirty="0">
                          <a:solidFill>
                            <a:schemeClr val="accent2"/>
                          </a:solidFill>
                        </a:rPr>
                        <a:t>BZNAN109</a:t>
                      </a:r>
                    </a:p>
                  </a:txBody>
                  <a:tcPr/>
                </a:tc>
                <a:extLst>
                  <a:ext uri="{0D108BD9-81ED-4DB2-BD59-A6C34878D82A}">
                    <a16:rowId xmlns:a16="http://schemas.microsoft.com/office/drawing/2014/main" val="2466397732"/>
                  </a:ext>
                </a:extLst>
              </a:tr>
              <a:tr h="259939">
                <a:tc>
                  <a:txBody>
                    <a:bodyPr/>
                    <a:lstStyle/>
                    <a:p>
                      <a:r>
                        <a:rPr lang="en-US" sz="1000" b="1" dirty="0">
                          <a:solidFill>
                            <a:schemeClr val="accent2"/>
                          </a:solidFill>
                        </a:rPr>
                        <a:t>Equipment </a:t>
                      </a:r>
                      <a:r>
                        <a:rPr lang="en-US" sz="1000" b="1" dirty="0" err="1">
                          <a:solidFill>
                            <a:schemeClr val="accent2"/>
                          </a:solidFill>
                        </a:rPr>
                        <a:t>Serial_Number</a:t>
                      </a:r>
                      <a:r>
                        <a:rPr lang="en-US" sz="1000" b="1" dirty="0">
                          <a:solidFill>
                            <a:schemeClr val="accent2"/>
                          </a:solidFill>
                        </a:rPr>
                        <a:t>  -</a:t>
                      </a:r>
                      <a:r>
                        <a:rPr lang="en-US" sz="1000" b="0" dirty="0">
                          <a:solidFill>
                            <a:schemeClr val="accent2"/>
                          </a:solidFill>
                        </a:rPr>
                        <a:t>109NBX</a:t>
                      </a:r>
                    </a:p>
                  </a:txBody>
                  <a:tcPr/>
                </a:tc>
                <a:tc>
                  <a:txBody>
                    <a:bodyPr/>
                    <a:lstStyle/>
                    <a:p>
                      <a:r>
                        <a:rPr lang="en-US" sz="1000" b="1" dirty="0">
                          <a:solidFill>
                            <a:schemeClr val="accent2"/>
                          </a:solidFill>
                        </a:rPr>
                        <a:t>Serial Number – </a:t>
                      </a:r>
                      <a:r>
                        <a:rPr lang="en-US" sz="1000" b="0" dirty="0">
                          <a:solidFill>
                            <a:schemeClr val="accent2"/>
                          </a:solidFill>
                        </a:rPr>
                        <a:t>109NBZNBX</a:t>
                      </a:r>
                    </a:p>
                  </a:txBody>
                  <a:tcPr/>
                </a:tc>
                <a:extLst>
                  <a:ext uri="{0D108BD9-81ED-4DB2-BD59-A6C34878D82A}">
                    <a16:rowId xmlns:a16="http://schemas.microsoft.com/office/drawing/2014/main" val="780661850"/>
                  </a:ext>
                </a:extLst>
              </a:tr>
              <a:tr h="259939">
                <a:tc>
                  <a:txBody>
                    <a:bodyPr/>
                    <a:lstStyle/>
                    <a:p>
                      <a:r>
                        <a:rPr lang="en-US" sz="1000" b="1" dirty="0"/>
                        <a:t>Country, State, City --- </a:t>
                      </a:r>
                      <a:r>
                        <a:rPr lang="en-US" sz="1000" b="0" dirty="0"/>
                        <a:t>US, TN, Franklin</a:t>
                      </a:r>
                    </a:p>
                  </a:txBody>
                  <a:tcPr/>
                </a:tc>
                <a:tc>
                  <a:txBody>
                    <a:bodyPr/>
                    <a:lstStyle/>
                    <a:p>
                      <a:r>
                        <a:rPr lang="en-US" sz="1000" b="1" dirty="0"/>
                        <a:t>Region --- </a:t>
                      </a:r>
                      <a:r>
                        <a:rPr lang="en-US" sz="1000" b="0" dirty="0"/>
                        <a:t>US, TN, Franklin</a:t>
                      </a:r>
                    </a:p>
                  </a:txBody>
                  <a:tcPr/>
                </a:tc>
                <a:extLst>
                  <a:ext uri="{0D108BD9-81ED-4DB2-BD59-A6C34878D82A}">
                    <a16:rowId xmlns:a16="http://schemas.microsoft.com/office/drawing/2014/main" val="4121694875"/>
                  </a:ext>
                </a:extLst>
              </a:tr>
              <a:tr h="259939">
                <a:tc>
                  <a:txBody>
                    <a:bodyPr/>
                    <a:lstStyle/>
                    <a:p>
                      <a:r>
                        <a:rPr lang="en-US" sz="1000" b="1" dirty="0">
                          <a:solidFill>
                            <a:schemeClr val="accent2"/>
                          </a:solidFill>
                        </a:rPr>
                        <a:t>Site – </a:t>
                      </a:r>
                      <a:r>
                        <a:rPr lang="en-US" sz="1000" b="0" dirty="0">
                          <a:solidFill>
                            <a:schemeClr val="accent2"/>
                          </a:solidFill>
                        </a:rPr>
                        <a:t>300 South State Street</a:t>
                      </a:r>
                    </a:p>
                  </a:txBody>
                  <a:tcPr/>
                </a:tc>
                <a:tc>
                  <a:txBody>
                    <a:bodyPr/>
                    <a:lstStyle/>
                    <a:p>
                      <a:r>
                        <a:rPr lang="en-US" sz="1000" b="1" dirty="0">
                          <a:solidFill>
                            <a:schemeClr val="accent2"/>
                          </a:solidFill>
                        </a:rPr>
                        <a:t>Building –  </a:t>
                      </a:r>
                      <a:r>
                        <a:rPr lang="en-US" sz="1000" b="0" dirty="0">
                          <a:solidFill>
                            <a:schemeClr val="accent2"/>
                          </a:solidFill>
                        </a:rPr>
                        <a:t>300 SS Street</a:t>
                      </a:r>
                    </a:p>
                  </a:txBody>
                  <a:tcPr/>
                </a:tc>
                <a:extLst>
                  <a:ext uri="{0D108BD9-81ED-4DB2-BD59-A6C34878D82A}">
                    <a16:rowId xmlns:a16="http://schemas.microsoft.com/office/drawing/2014/main" val="250341676"/>
                  </a:ext>
                </a:extLst>
              </a:tr>
            </a:tbl>
          </a:graphicData>
        </a:graphic>
      </p:graphicFrame>
      <p:graphicFrame>
        <p:nvGraphicFramePr>
          <p:cNvPr id="4" name="Table 3">
            <a:extLst>
              <a:ext uri="{FF2B5EF4-FFF2-40B4-BE49-F238E27FC236}">
                <a16:creationId xmlns:a16="http://schemas.microsoft.com/office/drawing/2014/main" id="{8B176D25-8C24-D48D-BCBA-B6AF05AA6179}"/>
              </a:ext>
            </a:extLst>
          </p:cNvPr>
          <p:cNvGraphicFramePr>
            <a:graphicFrameLocks noGrp="1"/>
          </p:cNvGraphicFramePr>
          <p:nvPr>
            <p:extLst>
              <p:ext uri="{D42A27DB-BD31-4B8C-83A1-F6EECF244321}">
                <p14:modId xmlns:p14="http://schemas.microsoft.com/office/powerpoint/2010/main" val="4001079213"/>
              </p:ext>
            </p:extLst>
          </p:nvPr>
        </p:nvGraphicFramePr>
        <p:xfrm>
          <a:off x="595851" y="4001462"/>
          <a:ext cx="8212869" cy="2481785"/>
        </p:xfrm>
        <a:graphic>
          <a:graphicData uri="http://schemas.openxmlformats.org/drawingml/2006/table">
            <a:tbl>
              <a:tblPr firstRow="1" bandRow="1">
                <a:tableStyleId>{5C22544A-7EE6-4342-B048-85BDC9FD1C3A}</a:tableStyleId>
              </a:tblPr>
              <a:tblGrid>
                <a:gridCol w="4129017">
                  <a:extLst>
                    <a:ext uri="{9D8B030D-6E8A-4147-A177-3AD203B41FA5}">
                      <a16:colId xmlns:a16="http://schemas.microsoft.com/office/drawing/2014/main" val="1713291588"/>
                    </a:ext>
                  </a:extLst>
                </a:gridCol>
                <a:gridCol w="4083852">
                  <a:extLst>
                    <a:ext uri="{9D8B030D-6E8A-4147-A177-3AD203B41FA5}">
                      <a16:colId xmlns:a16="http://schemas.microsoft.com/office/drawing/2014/main" val="3548403619"/>
                    </a:ext>
                  </a:extLst>
                </a:gridCol>
              </a:tblGrid>
              <a:tr h="280978">
                <a:tc>
                  <a:txBody>
                    <a:bodyPr/>
                    <a:lstStyle/>
                    <a:p>
                      <a:r>
                        <a:rPr lang="en-US" sz="1000" dirty="0"/>
                        <a:t>SFM Asset</a:t>
                      </a:r>
                    </a:p>
                  </a:txBody>
                  <a:tcPr/>
                </a:tc>
                <a:tc>
                  <a:txBody>
                    <a:bodyPr/>
                    <a:lstStyle/>
                    <a:p>
                      <a:r>
                        <a:rPr lang="en-US" sz="1000" dirty="0"/>
                        <a:t>IFM Asset</a:t>
                      </a:r>
                    </a:p>
                  </a:txBody>
                  <a:tcPr/>
                </a:tc>
                <a:extLst>
                  <a:ext uri="{0D108BD9-81ED-4DB2-BD59-A6C34878D82A}">
                    <a16:rowId xmlns:a16="http://schemas.microsoft.com/office/drawing/2014/main" val="2599310792"/>
                  </a:ext>
                </a:extLst>
              </a:tr>
              <a:tr h="422400">
                <a:tc>
                  <a:txBody>
                    <a:bodyPr/>
                    <a:lstStyle/>
                    <a:p>
                      <a:r>
                        <a:rPr lang="en-US" sz="1000" b="1" dirty="0"/>
                        <a:t>Equipment Type - </a:t>
                      </a:r>
                      <a:r>
                        <a:rPr lang="en-US" sz="1000" b="0" dirty="0"/>
                        <a:t>Other</a:t>
                      </a:r>
                    </a:p>
                  </a:txBody>
                  <a:tcPr/>
                </a:tc>
                <a:tc>
                  <a:txBody>
                    <a:bodyPr/>
                    <a:lstStyle/>
                    <a:p>
                      <a:r>
                        <a:rPr lang="en-US" sz="1000" b="1" dirty="0"/>
                        <a:t>Position Type - </a:t>
                      </a:r>
                      <a:r>
                        <a:rPr lang="en-US" sz="1000" b="0" dirty="0"/>
                        <a:t>Heater (D3020.09)</a:t>
                      </a:r>
                    </a:p>
                  </a:txBody>
                  <a:tcPr/>
                </a:tc>
                <a:extLst>
                  <a:ext uri="{0D108BD9-81ED-4DB2-BD59-A6C34878D82A}">
                    <a16:rowId xmlns:a16="http://schemas.microsoft.com/office/drawing/2014/main" val="3024384071"/>
                  </a:ext>
                </a:extLst>
              </a:tr>
              <a:tr h="47871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1" dirty="0" err="1">
                          <a:solidFill>
                            <a:schemeClr val="accent2"/>
                          </a:solidFill>
                        </a:rPr>
                        <a:t>Nav_Name</a:t>
                      </a:r>
                      <a:r>
                        <a:rPr lang="en-US" sz="1000" b="1" dirty="0">
                          <a:solidFill>
                            <a:schemeClr val="accent2"/>
                          </a:solidFill>
                        </a:rPr>
                        <a:t> –  </a:t>
                      </a:r>
                      <a:r>
                        <a:rPr lang="en-US" sz="1000" b="0" dirty="0">
                          <a:solidFill>
                            <a:schemeClr val="accent2"/>
                          </a:solidFill>
                        </a:rPr>
                        <a:t>Heater in Roof Unit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b="1" dirty="0" err="1">
                          <a:solidFill>
                            <a:schemeClr val="accent2"/>
                          </a:solidFill>
                        </a:rPr>
                        <a:t>Equipment_Name</a:t>
                      </a:r>
                      <a:r>
                        <a:rPr lang="en-US" sz="1000" b="1" dirty="0">
                          <a:solidFill>
                            <a:schemeClr val="accent2"/>
                          </a:solidFill>
                        </a:rPr>
                        <a:t> – </a:t>
                      </a:r>
                      <a:r>
                        <a:rPr lang="en-US" sz="1000" b="0" dirty="0">
                          <a:solidFill>
                            <a:schemeClr val="accent2"/>
                          </a:solidFill>
                        </a:rPr>
                        <a:t>Heater in Roof Unit</a:t>
                      </a:r>
                    </a:p>
                  </a:txBody>
                  <a:tcPr/>
                </a:tc>
                <a:tc>
                  <a:txBody>
                    <a:bodyPr/>
                    <a:lstStyle/>
                    <a:p>
                      <a:r>
                        <a:rPr lang="en-US" sz="1000" b="1" dirty="0">
                          <a:solidFill>
                            <a:schemeClr val="accent2"/>
                          </a:solidFill>
                        </a:rPr>
                        <a:t>Position name –  </a:t>
                      </a:r>
                      <a:r>
                        <a:rPr lang="en-US" sz="1000" b="0" dirty="0">
                          <a:solidFill>
                            <a:schemeClr val="accent2"/>
                          </a:solidFill>
                        </a:rPr>
                        <a:t>Heater</a:t>
                      </a:r>
                    </a:p>
                    <a:p>
                      <a:r>
                        <a:rPr lang="en-US" sz="1000" b="1" dirty="0">
                          <a:solidFill>
                            <a:schemeClr val="accent2"/>
                          </a:solidFill>
                        </a:rPr>
                        <a:t>Asset Name </a:t>
                      </a:r>
                      <a:r>
                        <a:rPr lang="en-US" sz="1000" b="0" dirty="0">
                          <a:solidFill>
                            <a:schemeClr val="accent2"/>
                          </a:solidFill>
                        </a:rPr>
                        <a:t>- Heater</a:t>
                      </a:r>
                    </a:p>
                  </a:txBody>
                  <a:tcPr/>
                </a:tc>
                <a:extLst>
                  <a:ext uri="{0D108BD9-81ED-4DB2-BD59-A6C34878D82A}">
                    <a16:rowId xmlns:a16="http://schemas.microsoft.com/office/drawing/2014/main" val="633798941"/>
                  </a:ext>
                </a:extLst>
              </a:tr>
              <a:tr h="259939">
                <a:tc>
                  <a:txBody>
                    <a:bodyPr/>
                    <a:lstStyle/>
                    <a:p>
                      <a:r>
                        <a:rPr lang="en-US" sz="1000" b="1" dirty="0" err="1">
                          <a:solidFill>
                            <a:schemeClr val="accent2"/>
                          </a:solidFill>
                        </a:rPr>
                        <a:t>Equipment_Make</a:t>
                      </a:r>
                      <a:r>
                        <a:rPr lang="en-US" sz="1000" b="1" dirty="0">
                          <a:solidFill>
                            <a:schemeClr val="accent2"/>
                          </a:solidFill>
                        </a:rPr>
                        <a:t> –</a:t>
                      </a:r>
                      <a:r>
                        <a:rPr lang="en-US" sz="1000" b="0" dirty="0">
                          <a:solidFill>
                            <a:schemeClr val="accent2"/>
                          </a:solidFill>
                        </a:rPr>
                        <a:t>Daikin Inc</a:t>
                      </a:r>
                    </a:p>
                  </a:txBody>
                  <a:tcPr/>
                </a:tc>
                <a:tc>
                  <a:txBody>
                    <a:bodyPr/>
                    <a:lstStyle/>
                    <a:p>
                      <a:r>
                        <a:rPr lang="en-US" sz="1000" b="1" dirty="0">
                          <a:solidFill>
                            <a:schemeClr val="accent2"/>
                          </a:solidFill>
                        </a:rPr>
                        <a:t>Manufacturer –  </a:t>
                      </a:r>
                      <a:r>
                        <a:rPr lang="en-US" sz="1000" b="0" dirty="0">
                          <a:solidFill>
                            <a:schemeClr val="accent2"/>
                          </a:solidFill>
                        </a:rPr>
                        <a:t>Daikin</a:t>
                      </a:r>
                    </a:p>
                  </a:txBody>
                  <a:tcPr/>
                </a:tc>
                <a:extLst>
                  <a:ext uri="{0D108BD9-81ED-4DB2-BD59-A6C34878D82A}">
                    <a16:rowId xmlns:a16="http://schemas.microsoft.com/office/drawing/2014/main" val="3471013263"/>
                  </a:ext>
                </a:extLst>
              </a:tr>
              <a:tr h="259939">
                <a:tc>
                  <a:txBody>
                    <a:bodyPr/>
                    <a:lstStyle/>
                    <a:p>
                      <a:r>
                        <a:rPr lang="en-US" sz="1000" b="1" dirty="0" err="1">
                          <a:solidFill>
                            <a:schemeClr val="accent2"/>
                          </a:solidFill>
                        </a:rPr>
                        <a:t>Equipment_Model_Number</a:t>
                      </a:r>
                      <a:r>
                        <a:rPr lang="en-US" sz="1000" b="1" dirty="0">
                          <a:solidFill>
                            <a:schemeClr val="accent2"/>
                          </a:solidFill>
                        </a:rPr>
                        <a:t> </a:t>
                      </a:r>
                      <a:r>
                        <a:rPr lang="en-US" sz="1000" b="0" dirty="0">
                          <a:solidFill>
                            <a:schemeClr val="accent2"/>
                          </a:solidFill>
                        </a:rPr>
                        <a:t>– NBZCAA122</a:t>
                      </a:r>
                    </a:p>
                  </a:txBody>
                  <a:tcPr/>
                </a:tc>
                <a:tc>
                  <a:txBody>
                    <a:bodyPr/>
                    <a:lstStyle/>
                    <a:p>
                      <a:r>
                        <a:rPr lang="en-US" sz="1000" b="1" dirty="0">
                          <a:solidFill>
                            <a:schemeClr val="accent2"/>
                          </a:solidFill>
                        </a:rPr>
                        <a:t>Model – </a:t>
                      </a:r>
                      <a:r>
                        <a:rPr lang="en-US" sz="1000" b="0" dirty="0">
                          <a:solidFill>
                            <a:schemeClr val="accent2"/>
                          </a:solidFill>
                        </a:rPr>
                        <a:t>NBZC</a:t>
                      </a:r>
                    </a:p>
                  </a:txBody>
                  <a:tcPr/>
                </a:tc>
                <a:extLst>
                  <a:ext uri="{0D108BD9-81ED-4DB2-BD59-A6C34878D82A}">
                    <a16:rowId xmlns:a16="http://schemas.microsoft.com/office/drawing/2014/main" val="2466397732"/>
                  </a:ext>
                </a:extLst>
              </a:tr>
              <a:tr h="259939">
                <a:tc>
                  <a:txBody>
                    <a:bodyPr/>
                    <a:lstStyle/>
                    <a:p>
                      <a:r>
                        <a:rPr lang="en-US" sz="1000" b="1" dirty="0">
                          <a:solidFill>
                            <a:schemeClr val="accent2"/>
                          </a:solidFill>
                        </a:rPr>
                        <a:t>Equipment </a:t>
                      </a:r>
                      <a:r>
                        <a:rPr lang="en-US" sz="1000" b="1" dirty="0" err="1">
                          <a:solidFill>
                            <a:schemeClr val="accent2"/>
                          </a:solidFill>
                        </a:rPr>
                        <a:t>Serial_Number</a:t>
                      </a:r>
                      <a:r>
                        <a:rPr lang="en-US" sz="1000" b="1" dirty="0">
                          <a:solidFill>
                            <a:schemeClr val="accent2"/>
                          </a:solidFill>
                        </a:rPr>
                        <a:t>  -</a:t>
                      </a:r>
                      <a:r>
                        <a:rPr lang="en-US" sz="1000" b="0" dirty="0">
                          <a:solidFill>
                            <a:schemeClr val="accent2"/>
                          </a:solidFill>
                        </a:rPr>
                        <a:t>JASSGTQ12</a:t>
                      </a:r>
                    </a:p>
                  </a:txBody>
                  <a:tcPr/>
                </a:tc>
                <a:tc>
                  <a:txBody>
                    <a:bodyPr/>
                    <a:lstStyle/>
                    <a:p>
                      <a:r>
                        <a:rPr lang="en-US" sz="1000" b="1" dirty="0">
                          <a:solidFill>
                            <a:schemeClr val="accent2"/>
                          </a:solidFill>
                        </a:rPr>
                        <a:t>Serial Number – </a:t>
                      </a:r>
                      <a:r>
                        <a:rPr lang="en-US" sz="1000" b="0" dirty="0">
                          <a:solidFill>
                            <a:schemeClr val="accent2"/>
                          </a:solidFill>
                        </a:rPr>
                        <a:t>JASSGTQ</a:t>
                      </a:r>
                    </a:p>
                  </a:txBody>
                  <a:tcPr/>
                </a:tc>
                <a:extLst>
                  <a:ext uri="{0D108BD9-81ED-4DB2-BD59-A6C34878D82A}">
                    <a16:rowId xmlns:a16="http://schemas.microsoft.com/office/drawing/2014/main" val="780661850"/>
                  </a:ext>
                </a:extLst>
              </a:tr>
              <a:tr h="259939">
                <a:tc>
                  <a:txBody>
                    <a:bodyPr/>
                    <a:lstStyle/>
                    <a:p>
                      <a:r>
                        <a:rPr lang="en-US" sz="1000" b="1" dirty="0"/>
                        <a:t>Country, State, City --- </a:t>
                      </a:r>
                      <a:r>
                        <a:rPr lang="en-US" sz="1000" b="0" dirty="0"/>
                        <a:t>US, CT, Windsor</a:t>
                      </a:r>
                    </a:p>
                  </a:txBody>
                  <a:tcPr/>
                </a:tc>
                <a:tc>
                  <a:txBody>
                    <a:bodyPr/>
                    <a:lstStyle/>
                    <a:p>
                      <a:r>
                        <a:rPr lang="en-US" sz="1000" b="1" dirty="0"/>
                        <a:t>Region - </a:t>
                      </a:r>
                      <a:r>
                        <a:rPr lang="en-US" sz="1000" b="0" dirty="0"/>
                        <a:t>US, CT, Windsor</a:t>
                      </a:r>
                    </a:p>
                  </a:txBody>
                  <a:tcPr/>
                </a:tc>
                <a:extLst>
                  <a:ext uri="{0D108BD9-81ED-4DB2-BD59-A6C34878D82A}">
                    <a16:rowId xmlns:a16="http://schemas.microsoft.com/office/drawing/2014/main" val="4121694875"/>
                  </a:ext>
                </a:extLst>
              </a:tr>
              <a:tr h="259939">
                <a:tc>
                  <a:txBody>
                    <a:bodyPr/>
                    <a:lstStyle/>
                    <a:p>
                      <a:r>
                        <a:rPr lang="en-US" sz="1000" b="1" dirty="0">
                          <a:solidFill>
                            <a:schemeClr val="accent2"/>
                          </a:solidFill>
                        </a:rPr>
                        <a:t>Site – </a:t>
                      </a:r>
                      <a:r>
                        <a:rPr lang="en-US" sz="1000" b="0" dirty="0">
                          <a:solidFill>
                            <a:schemeClr val="accent2"/>
                          </a:solidFill>
                        </a:rPr>
                        <a:t>301 Woods Park Dr</a:t>
                      </a:r>
                    </a:p>
                  </a:txBody>
                  <a:tcPr/>
                </a:tc>
                <a:tc>
                  <a:txBody>
                    <a:bodyPr/>
                    <a:lstStyle/>
                    <a:p>
                      <a:r>
                        <a:rPr lang="en-US" sz="1000" b="1" dirty="0">
                          <a:solidFill>
                            <a:schemeClr val="accent2"/>
                          </a:solidFill>
                        </a:rPr>
                        <a:t>Building – </a:t>
                      </a:r>
                      <a:r>
                        <a:rPr lang="en-US" sz="1000" b="0" dirty="0">
                          <a:solidFill>
                            <a:schemeClr val="accent2"/>
                          </a:solidFill>
                        </a:rPr>
                        <a:t>Woods Pk Dr</a:t>
                      </a:r>
                    </a:p>
                  </a:txBody>
                  <a:tcPr/>
                </a:tc>
                <a:extLst>
                  <a:ext uri="{0D108BD9-81ED-4DB2-BD59-A6C34878D82A}">
                    <a16:rowId xmlns:a16="http://schemas.microsoft.com/office/drawing/2014/main" val="250341676"/>
                  </a:ext>
                </a:extLst>
              </a:tr>
            </a:tbl>
          </a:graphicData>
        </a:graphic>
      </p:graphicFrame>
    </p:spTree>
    <p:extLst>
      <p:ext uri="{BB962C8B-B14F-4D97-AF65-F5344CB8AC3E}">
        <p14:creationId xmlns:p14="http://schemas.microsoft.com/office/powerpoint/2010/main" val="341670757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A81A07-5302-7589-87F3-52B33B39C47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3678FB9-CFCB-51A7-CA84-CA0F31C54472}"/>
              </a:ext>
            </a:extLst>
          </p:cNvPr>
          <p:cNvSpPr txBox="1"/>
          <p:nvPr/>
        </p:nvSpPr>
        <p:spPr>
          <a:xfrm>
            <a:off x="367251" y="693420"/>
            <a:ext cx="6361209" cy="923330"/>
          </a:xfrm>
          <a:prstGeom prst="rect">
            <a:avLst/>
          </a:prstGeom>
          <a:noFill/>
        </p:spPr>
        <p:txBody>
          <a:bodyPr wrap="square" rtlCol="0">
            <a:spAutoFit/>
          </a:bodyPr>
          <a:lstStyle/>
          <a:p>
            <a:r>
              <a:rPr lang="en-US" b="1" dirty="0">
                <a:solidFill>
                  <a:schemeClr val="accent6">
                    <a:lumMod val="50000"/>
                  </a:schemeClr>
                </a:solidFill>
                <a:latin typeface="Calibre Medium" panose="020B0603030202060203" pitchFamily="34" charset="0"/>
              </a:rPr>
              <a:t>Analysis on Perfect Match – Approach 1</a:t>
            </a:r>
          </a:p>
          <a:p>
            <a:endParaRPr lang="en-US" b="1" dirty="0">
              <a:solidFill>
                <a:schemeClr val="accent6">
                  <a:lumMod val="50000"/>
                </a:schemeClr>
              </a:solidFill>
              <a:latin typeface="Calibre Medium" panose="020B0603030202060203" pitchFamily="34" charset="0"/>
            </a:endParaRPr>
          </a:p>
          <a:p>
            <a:r>
              <a:rPr lang="en-US" b="1" dirty="0">
                <a:solidFill>
                  <a:schemeClr val="accent6">
                    <a:lumMod val="50000"/>
                  </a:schemeClr>
                </a:solidFill>
                <a:latin typeface="Calibre Medium" panose="020B0603030202060203" pitchFamily="34" charset="0"/>
              </a:rPr>
              <a:t>Client - Hartford</a:t>
            </a:r>
          </a:p>
        </p:txBody>
      </p:sp>
      <p:pic>
        <p:nvPicPr>
          <p:cNvPr id="4" name="Picture 3">
            <a:extLst>
              <a:ext uri="{FF2B5EF4-FFF2-40B4-BE49-F238E27FC236}">
                <a16:creationId xmlns:a16="http://schemas.microsoft.com/office/drawing/2014/main" id="{5203E052-7015-6546-416C-3362D5A66008}"/>
              </a:ext>
            </a:extLst>
          </p:cNvPr>
          <p:cNvPicPr>
            <a:picLocks noChangeAspect="1"/>
          </p:cNvPicPr>
          <p:nvPr/>
        </p:nvPicPr>
        <p:blipFill>
          <a:blip r:embed="rId3"/>
          <a:stretch>
            <a:fillRect/>
          </a:stretch>
        </p:blipFill>
        <p:spPr>
          <a:xfrm>
            <a:off x="455272" y="1562016"/>
            <a:ext cx="8580573" cy="5016737"/>
          </a:xfrm>
          <a:prstGeom prst="rect">
            <a:avLst/>
          </a:prstGeom>
        </p:spPr>
      </p:pic>
    </p:spTree>
    <p:extLst>
      <p:ext uri="{BB962C8B-B14F-4D97-AF65-F5344CB8AC3E}">
        <p14:creationId xmlns:p14="http://schemas.microsoft.com/office/powerpoint/2010/main" val="29115022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E8DD6E-0F9E-477D-7699-B5F107F8940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420161F-80F3-723E-AC5B-AD030B8D9C09}"/>
              </a:ext>
            </a:extLst>
          </p:cNvPr>
          <p:cNvSpPr txBox="1"/>
          <p:nvPr/>
        </p:nvSpPr>
        <p:spPr>
          <a:xfrm>
            <a:off x="367251" y="693420"/>
            <a:ext cx="6361209" cy="923330"/>
          </a:xfrm>
          <a:prstGeom prst="rect">
            <a:avLst/>
          </a:prstGeom>
          <a:noFill/>
        </p:spPr>
        <p:txBody>
          <a:bodyPr wrap="square" rtlCol="0">
            <a:spAutoFit/>
          </a:bodyPr>
          <a:lstStyle/>
          <a:p>
            <a:r>
              <a:rPr lang="en-US" b="1" dirty="0">
                <a:solidFill>
                  <a:schemeClr val="accent6">
                    <a:lumMod val="50000"/>
                  </a:schemeClr>
                </a:solidFill>
                <a:latin typeface="Calibre Medium" panose="020B0603030202060203" pitchFamily="34" charset="0"/>
              </a:rPr>
              <a:t>Analysis on Perfect Match – Approach 1</a:t>
            </a:r>
          </a:p>
          <a:p>
            <a:endParaRPr lang="en-US" b="1" dirty="0">
              <a:solidFill>
                <a:schemeClr val="accent6">
                  <a:lumMod val="50000"/>
                </a:schemeClr>
              </a:solidFill>
              <a:latin typeface="Calibre Medium" panose="020B0603030202060203" pitchFamily="34" charset="0"/>
            </a:endParaRPr>
          </a:p>
          <a:p>
            <a:r>
              <a:rPr lang="en-US" b="1" dirty="0">
                <a:solidFill>
                  <a:schemeClr val="accent6">
                    <a:lumMod val="50000"/>
                  </a:schemeClr>
                </a:solidFill>
                <a:latin typeface="Calibre Medium" panose="020B0603030202060203" pitchFamily="34" charset="0"/>
              </a:rPr>
              <a:t>Client – Fifth Third Bank</a:t>
            </a:r>
          </a:p>
        </p:txBody>
      </p:sp>
      <p:pic>
        <p:nvPicPr>
          <p:cNvPr id="5" name="Picture 4">
            <a:extLst>
              <a:ext uri="{FF2B5EF4-FFF2-40B4-BE49-F238E27FC236}">
                <a16:creationId xmlns:a16="http://schemas.microsoft.com/office/drawing/2014/main" id="{02548466-B631-BA3B-E7A7-F1EDDB17ABFB}"/>
              </a:ext>
            </a:extLst>
          </p:cNvPr>
          <p:cNvPicPr>
            <a:picLocks noChangeAspect="1"/>
          </p:cNvPicPr>
          <p:nvPr/>
        </p:nvPicPr>
        <p:blipFill>
          <a:blip r:embed="rId3"/>
          <a:stretch>
            <a:fillRect/>
          </a:stretch>
        </p:blipFill>
        <p:spPr>
          <a:xfrm>
            <a:off x="367251" y="1616750"/>
            <a:ext cx="8688259" cy="5241250"/>
          </a:xfrm>
          <a:prstGeom prst="rect">
            <a:avLst/>
          </a:prstGeom>
        </p:spPr>
      </p:pic>
    </p:spTree>
    <p:extLst>
      <p:ext uri="{BB962C8B-B14F-4D97-AF65-F5344CB8AC3E}">
        <p14:creationId xmlns:p14="http://schemas.microsoft.com/office/powerpoint/2010/main" val="392586287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0C9FB2-7743-B160-078B-2A4896AE8C1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541541E-50E0-1669-AD0C-122C3D446CA4}"/>
              </a:ext>
            </a:extLst>
          </p:cNvPr>
          <p:cNvSpPr txBox="1"/>
          <p:nvPr/>
        </p:nvSpPr>
        <p:spPr>
          <a:xfrm>
            <a:off x="367251" y="693420"/>
            <a:ext cx="6361209" cy="923330"/>
          </a:xfrm>
          <a:prstGeom prst="rect">
            <a:avLst/>
          </a:prstGeom>
          <a:noFill/>
        </p:spPr>
        <p:txBody>
          <a:bodyPr wrap="square" rtlCol="0">
            <a:spAutoFit/>
          </a:bodyPr>
          <a:lstStyle/>
          <a:p>
            <a:r>
              <a:rPr lang="en-US" b="1" dirty="0">
                <a:solidFill>
                  <a:schemeClr val="accent6">
                    <a:lumMod val="50000"/>
                  </a:schemeClr>
                </a:solidFill>
                <a:latin typeface="Calibre Medium" panose="020B0603030202060203" pitchFamily="34" charset="0"/>
              </a:rPr>
              <a:t>Analysis on Perfect Match – Approach 1</a:t>
            </a:r>
          </a:p>
          <a:p>
            <a:endParaRPr lang="en-US" b="1" dirty="0">
              <a:solidFill>
                <a:schemeClr val="accent6">
                  <a:lumMod val="50000"/>
                </a:schemeClr>
              </a:solidFill>
              <a:latin typeface="Calibre Medium" panose="020B0603030202060203" pitchFamily="34" charset="0"/>
            </a:endParaRPr>
          </a:p>
          <a:p>
            <a:r>
              <a:rPr lang="en-US" b="1" dirty="0">
                <a:solidFill>
                  <a:schemeClr val="accent6">
                    <a:lumMod val="50000"/>
                  </a:schemeClr>
                </a:solidFill>
                <a:latin typeface="Calibre Medium" panose="020B0603030202060203" pitchFamily="34" charset="0"/>
              </a:rPr>
              <a:t>Client – State Farm</a:t>
            </a:r>
          </a:p>
        </p:txBody>
      </p:sp>
      <p:pic>
        <p:nvPicPr>
          <p:cNvPr id="4" name="Picture 3">
            <a:extLst>
              <a:ext uri="{FF2B5EF4-FFF2-40B4-BE49-F238E27FC236}">
                <a16:creationId xmlns:a16="http://schemas.microsoft.com/office/drawing/2014/main" id="{6B16920B-7F00-9EE3-4060-6A5F58B2FDEE}"/>
              </a:ext>
            </a:extLst>
          </p:cNvPr>
          <p:cNvPicPr>
            <a:picLocks noChangeAspect="1"/>
          </p:cNvPicPr>
          <p:nvPr/>
        </p:nvPicPr>
        <p:blipFill>
          <a:blip r:embed="rId3"/>
          <a:stretch>
            <a:fillRect/>
          </a:stretch>
        </p:blipFill>
        <p:spPr>
          <a:xfrm>
            <a:off x="461245" y="1616750"/>
            <a:ext cx="8820407" cy="5135130"/>
          </a:xfrm>
          <a:prstGeom prst="rect">
            <a:avLst/>
          </a:prstGeom>
        </p:spPr>
      </p:pic>
    </p:spTree>
    <p:extLst>
      <p:ext uri="{BB962C8B-B14F-4D97-AF65-F5344CB8AC3E}">
        <p14:creationId xmlns:p14="http://schemas.microsoft.com/office/powerpoint/2010/main" val="354389125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01C3B5-C235-9F36-BB2C-F799685804E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89DAACF-693A-2C38-1E3E-0E9E40456801}"/>
              </a:ext>
            </a:extLst>
          </p:cNvPr>
          <p:cNvSpPr txBox="1"/>
          <p:nvPr/>
        </p:nvSpPr>
        <p:spPr>
          <a:xfrm>
            <a:off x="367251" y="693420"/>
            <a:ext cx="6361209" cy="646331"/>
          </a:xfrm>
          <a:prstGeom prst="rect">
            <a:avLst/>
          </a:prstGeom>
          <a:noFill/>
        </p:spPr>
        <p:txBody>
          <a:bodyPr wrap="square" rtlCol="0">
            <a:spAutoFit/>
          </a:bodyPr>
          <a:lstStyle/>
          <a:p>
            <a:r>
              <a:rPr lang="en-US" b="1" dirty="0">
                <a:solidFill>
                  <a:schemeClr val="accent6">
                    <a:lumMod val="50000"/>
                  </a:schemeClr>
                </a:solidFill>
                <a:latin typeface="Calibre Medium" panose="020B0603030202060203" pitchFamily="34" charset="0"/>
              </a:rPr>
              <a:t>Percentage match on 3 clients – UAT Data</a:t>
            </a:r>
          </a:p>
          <a:p>
            <a:endParaRPr lang="en-US" b="1" dirty="0">
              <a:solidFill>
                <a:schemeClr val="accent6">
                  <a:lumMod val="50000"/>
                </a:schemeClr>
              </a:solidFill>
              <a:latin typeface="Calibre Medium" panose="020B0603030202060203" pitchFamily="34" charset="0"/>
            </a:endParaRPr>
          </a:p>
        </p:txBody>
      </p:sp>
      <p:graphicFrame>
        <p:nvGraphicFramePr>
          <p:cNvPr id="3" name="Table 2">
            <a:extLst>
              <a:ext uri="{FF2B5EF4-FFF2-40B4-BE49-F238E27FC236}">
                <a16:creationId xmlns:a16="http://schemas.microsoft.com/office/drawing/2014/main" id="{E7221CB4-19EF-EB87-17B6-9046863E194A}"/>
              </a:ext>
            </a:extLst>
          </p:cNvPr>
          <p:cNvGraphicFramePr>
            <a:graphicFrameLocks noGrp="1"/>
          </p:cNvGraphicFramePr>
          <p:nvPr>
            <p:extLst>
              <p:ext uri="{D42A27DB-BD31-4B8C-83A1-F6EECF244321}">
                <p14:modId xmlns:p14="http://schemas.microsoft.com/office/powerpoint/2010/main" val="3039226187"/>
              </p:ext>
            </p:extLst>
          </p:nvPr>
        </p:nvGraphicFramePr>
        <p:xfrm>
          <a:off x="367251" y="1265596"/>
          <a:ext cx="7150100" cy="1811655"/>
        </p:xfrm>
        <a:graphic>
          <a:graphicData uri="http://schemas.openxmlformats.org/drawingml/2006/table">
            <a:tbl>
              <a:tblPr>
                <a:tableStyleId>{5C22544A-7EE6-4342-B048-85BDC9FD1C3A}</a:tableStyleId>
              </a:tblPr>
              <a:tblGrid>
                <a:gridCol w="3136900">
                  <a:extLst>
                    <a:ext uri="{9D8B030D-6E8A-4147-A177-3AD203B41FA5}">
                      <a16:colId xmlns:a16="http://schemas.microsoft.com/office/drawing/2014/main" val="2611614430"/>
                    </a:ext>
                  </a:extLst>
                </a:gridCol>
                <a:gridCol w="850900">
                  <a:extLst>
                    <a:ext uri="{9D8B030D-6E8A-4147-A177-3AD203B41FA5}">
                      <a16:colId xmlns:a16="http://schemas.microsoft.com/office/drawing/2014/main" val="2787446590"/>
                    </a:ext>
                  </a:extLst>
                </a:gridCol>
                <a:gridCol w="1651000">
                  <a:extLst>
                    <a:ext uri="{9D8B030D-6E8A-4147-A177-3AD203B41FA5}">
                      <a16:colId xmlns:a16="http://schemas.microsoft.com/office/drawing/2014/main" val="599681451"/>
                    </a:ext>
                  </a:extLst>
                </a:gridCol>
                <a:gridCol w="1511300">
                  <a:extLst>
                    <a:ext uri="{9D8B030D-6E8A-4147-A177-3AD203B41FA5}">
                      <a16:colId xmlns:a16="http://schemas.microsoft.com/office/drawing/2014/main" val="632760254"/>
                    </a:ext>
                  </a:extLst>
                </a:gridCol>
              </a:tblGrid>
              <a:tr h="198120">
                <a:tc>
                  <a:txBody>
                    <a:bodyPr/>
                    <a:lstStyle/>
                    <a:p>
                      <a:pPr algn="ctr" fontAlgn="ctr"/>
                      <a:r>
                        <a:rPr lang="en-US" sz="1200" u="none" strike="noStrike" dirty="0">
                          <a:effectLst/>
                        </a:rPr>
                        <a:t> </a:t>
                      </a:r>
                      <a:endParaRPr lang="en-US" sz="1200" b="1" i="0" u="none" strike="noStrike" dirty="0">
                        <a:solidFill>
                          <a:srgbClr val="000000"/>
                        </a:solidFill>
                        <a:effectLst/>
                        <a:latin typeface="Aptos Narrow" panose="020B0004020202020204" pitchFamily="34" charset="0"/>
                      </a:endParaRPr>
                    </a:p>
                  </a:txBody>
                  <a:tcPr marL="7620" marR="7620" marT="7620" marB="0" anchor="ctr">
                    <a:solidFill>
                      <a:schemeClr val="accent1">
                        <a:lumMod val="40000"/>
                        <a:lumOff val="60000"/>
                      </a:schemeClr>
                    </a:solidFill>
                  </a:tcPr>
                </a:tc>
                <a:tc>
                  <a:txBody>
                    <a:bodyPr/>
                    <a:lstStyle/>
                    <a:p>
                      <a:pPr algn="ctr" fontAlgn="ctr"/>
                      <a:r>
                        <a:rPr lang="en-US" sz="1200" b="1" u="none" strike="noStrike" dirty="0">
                          <a:effectLst/>
                        </a:rPr>
                        <a:t>Hartford</a:t>
                      </a:r>
                      <a:endParaRPr lang="en-US" sz="1200" b="1" i="0" u="none" strike="noStrike" dirty="0">
                        <a:solidFill>
                          <a:srgbClr val="000000"/>
                        </a:solidFill>
                        <a:effectLst/>
                        <a:latin typeface="Aptos Narrow" panose="020B0004020202020204" pitchFamily="34" charset="0"/>
                      </a:endParaRPr>
                    </a:p>
                  </a:txBody>
                  <a:tcPr marL="7620" marR="7620" marT="7620" marB="0" anchor="ctr">
                    <a:solidFill>
                      <a:schemeClr val="accent1">
                        <a:lumMod val="40000"/>
                        <a:lumOff val="60000"/>
                      </a:schemeClr>
                    </a:solidFill>
                  </a:tcPr>
                </a:tc>
                <a:tc>
                  <a:txBody>
                    <a:bodyPr/>
                    <a:lstStyle/>
                    <a:p>
                      <a:pPr algn="ctr" fontAlgn="ctr"/>
                      <a:r>
                        <a:rPr lang="en-US" sz="1200" b="1" u="none" strike="noStrike" dirty="0">
                          <a:effectLst/>
                        </a:rPr>
                        <a:t>Fifth Third Bank</a:t>
                      </a:r>
                      <a:endParaRPr lang="en-US" sz="1200" b="1" i="0" u="none" strike="noStrike" dirty="0">
                        <a:solidFill>
                          <a:srgbClr val="000000"/>
                        </a:solidFill>
                        <a:effectLst/>
                        <a:latin typeface="Aptos Narrow" panose="020B0004020202020204" pitchFamily="34" charset="0"/>
                      </a:endParaRPr>
                    </a:p>
                  </a:txBody>
                  <a:tcPr marL="7620" marR="7620" marT="7620" marB="0" anchor="ctr">
                    <a:solidFill>
                      <a:schemeClr val="accent1">
                        <a:lumMod val="40000"/>
                        <a:lumOff val="60000"/>
                      </a:schemeClr>
                    </a:solidFill>
                  </a:tcPr>
                </a:tc>
                <a:tc>
                  <a:txBody>
                    <a:bodyPr/>
                    <a:lstStyle/>
                    <a:p>
                      <a:pPr algn="ctr" fontAlgn="ctr"/>
                      <a:r>
                        <a:rPr lang="en-US" sz="1200" b="1" u="none" strike="noStrike" dirty="0">
                          <a:effectLst/>
                        </a:rPr>
                        <a:t>State Farm</a:t>
                      </a:r>
                      <a:endParaRPr lang="en-US" sz="1200" b="1" i="0" u="none" strike="noStrike" dirty="0">
                        <a:solidFill>
                          <a:srgbClr val="000000"/>
                        </a:solidFill>
                        <a:effectLst/>
                        <a:latin typeface="Aptos Narrow" panose="020B0004020202020204" pitchFamily="34" charset="0"/>
                      </a:endParaRPr>
                    </a:p>
                  </a:txBody>
                  <a:tcPr marL="7620" marR="7620" marT="7620" marB="0" anchor="ctr">
                    <a:solidFill>
                      <a:schemeClr val="accent1">
                        <a:lumMod val="40000"/>
                        <a:lumOff val="60000"/>
                      </a:schemeClr>
                    </a:solidFill>
                  </a:tcPr>
                </a:tc>
                <a:extLst>
                  <a:ext uri="{0D108BD9-81ED-4DB2-BD59-A6C34878D82A}">
                    <a16:rowId xmlns:a16="http://schemas.microsoft.com/office/drawing/2014/main" val="1887033841"/>
                  </a:ext>
                </a:extLst>
              </a:tr>
              <a:tr h="851535">
                <a:tc>
                  <a:txBody>
                    <a:bodyPr/>
                    <a:lstStyle/>
                    <a:p>
                      <a:pPr algn="ctr" fontAlgn="ctr"/>
                      <a:r>
                        <a:rPr lang="en-US" sz="1200" b="1" u="none" strike="noStrike" dirty="0">
                          <a:effectLst/>
                        </a:rPr>
                        <a:t>perfect type, name, region, manufacturer, serial and model number match</a:t>
                      </a:r>
                    </a:p>
                    <a:p>
                      <a:pPr algn="ctr" fontAlgn="ctr"/>
                      <a:r>
                        <a:rPr lang="en-US" sz="1200" b="1" i="0" u="none" strike="noStrike" dirty="0">
                          <a:solidFill>
                            <a:srgbClr val="000000"/>
                          </a:solidFill>
                          <a:effectLst/>
                          <a:latin typeface="Aptos Narrow" panose="020B0004020202020204" pitchFamily="34" charset="0"/>
                        </a:rPr>
                        <a:t>(Perfect Match Approach 1)</a:t>
                      </a:r>
                    </a:p>
                  </a:txBody>
                  <a:tcPr marL="7620" marR="7620" marT="7620" marB="0" anchor="ctr"/>
                </a:tc>
                <a:tc>
                  <a:txBody>
                    <a:bodyPr/>
                    <a:lstStyle/>
                    <a:p>
                      <a:pPr algn="ctr" fontAlgn="ctr"/>
                      <a:r>
                        <a:rPr lang="en-US" sz="1200" u="none" strike="noStrike">
                          <a:effectLst/>
                        </a:rPr>
                        <a:t>79.62%</a:t>
                      </a:r>
                      <a:endParaRPr lang="en-US" sz="1200" b="0" i="0" u="none" strike="noStrike">
                        <a:solidFill>
                          <a:srgbClr val="000000"/>
                        </a:solidFill>
                        <a:effectLst/>
                        <a:latin typeface="Aptos Narrow" panose="020B0004020202020204" pitchFamily="34" charset="0"/>
                      </a:endParaRPr>
                    </a:p>
                  </a:txBody>
                  <a:tcPr marL="7620" marR="7620" marT="7620" marB="0" anchor="ctr"/>
                </a:tc>
                <a:tc>
                  <a:txBody>
                    <a:bodyPr/>
                    <a:lstStyle/>
                    <a:p>
                      <a:pPr algn="ctr" fontAlgn="ctr"/>
                      <a:r>
                        <a:rPr lang="en-US" sz="1200" u="none" strike="noStrike">
                          <a:effectLst/>
                        </a:rPr>
                        <a:t>0.65%</a:t>
                      </a:r>
                      <a:endParaRPr lang="en-US" sz="1200" b="0" i="0" u="none" strike="noStrike">
                        <a:solidFill>
                          <a:srgbClr val="000000"/>
                        </a:solidFill>
                        <a:effectLst/>
                        <a:latin typeface="Aptos Narrow" panose="020B0004020202020204" pitchFamily="34" charset="0"/>
                      </a:endParaRPr>
                    </a:p>
                  </a:txBody>
                  <a:tcPr marL="7620" marR="7620" marT="7620" marB="0" anchor="ctr"/>
                </a:tc>
                <a:tc>
                  <a:txBody>
                    <a:bodyPr/>
                    <a:lstStyle/>
                    <a:p>
                      <a:pPr algn="ctr" fontAlgn="ctr"/>
                      <a:r>
                        <a:rPr lang="en-US" sz="1200" u="none" strike="noStrike">
                          <a:effectLst/>
                        </a:rPr>
                        <a:t>15.19%</a:t>
                      </a:r>
                      <a:endParaRPr lang="en-US" sz="1200" b="0" i="0" u="none" strike="noStrike">
                        <a:solidFill>
                          <a:srgbClr val="000000"/>
                        </a:solidFill>
                        <a:effectLst/>
                        <a:latin typeface="Aptos Narrow" panose="020B0004020202020204" pitchFamily="34" charset="0"/>
                      </a:endParaRPr>
                    </a:p>
                  </a:txBody>
                  <a:tcPr marL="7620" marR="7620" marT="7620" marB="0" anchor="ctr"/>
                </a:tc>
                <a:extLst>
                  <a:ext uri="{0D108BD9-81ED-4DB2-BD59-A6C34878D82A}">
                    <a16:rowId xmlns:a16="http://schemas.microsoft.com/office/drawing/2014/main" val="1353389535"/>
                  </a:ext>
                </a:extLst>
              </a:tr>
              <a:tr h="762000">
                <a:tc>
                  <a:txBody>
                    <a:bodyPr/>
                    <a:lstStyle/>
                    <a:p>
                      <a:pPr algn="ctr" fontAlgn="ctr"/>
                      <a:r>
                        <a:rPr lang="en-US" sz="1200" b="1" u="none" strike="noStrike" dirty="0">
                          <a:effectLst/>
                        </a:rPr>
                        <a:t>perfect type, perfect name and region match</a:t>
                      </a:r>
                      <a:endParaRPr lang="en-US" sz="1200" b="1"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US" sz="1200" u="none" strike="noStrike" dirty="0">
                          <a:effectLst/>
                        </a:rPr>
                        <a:t>90.08%</a:t>
                      </a:r>
                      <a:endParaRPr lang="en-US" sz="12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US" sz="1200" u="none" strike="noStrike" dirty="0">
                          <a:effectLst/>
                        </a:rPr>
                        <a:t>91.24%</a:t>
                      </a:r>
                      <a:endParaRPr lang="en-US" sz="12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US" sz="1200" u="none" strike="noStrike" dirty="0">
                          <a:effectLst/>
                        </a:rPr>
                        <a:t>24.34%</a:t>
                      </a:r>
                      <a:endParaRPr lang="en-US" sz="1200" b="0" i="0" u="none" strike="noStrike" dirty="0">
                        <a:solidFill>
                          <a:srgbClr val="000000"/>
                        </a:solidFill>
                        <a:effectLst/>
                        <a:latin typeface="Aptos Narrow" panose="020B0004020202020204" pitchFamily="34" charset="0"/>
                      </a:endParaRPr>
                    </a:p>
                  </a:txBody>
                  <a:tcPr marL="7620" marR="7620" marT="7620" marB="0" anchor="ctr"/>
                </a:tc>
                <a:extLst>
                  <a:ext uri="{0D108BD9-81ED-4DB2-BD59-A6C34878D82A}">
                    <a16:rowId xmlns:a16="http://schemas.microsoft.com/office/drawing/2014/main" val="1796135616"/>
                  </a:ext>
                </a:extLst>
              </a:tr>
            </a:tbl>
          </a:graphicData>
        </a:graphic>
      </p:graphicFrame>
    </p:spTree>
    <p:extLst>
      <p:ext uri="{BB962C8B-B14F-4D97-AF65-F5344CB8AC3E}">
        <p14:creationId xmlns:p14="http://schemas.microsoft.com/office/powerpoint/2010/main" val="126291156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96D03B-14D5-C9EE-E0FB-7516A46A415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80540D4-8531-7130-DBB1-9044CB0F8825}"/>
              </a:ext>
            </a:extLst>
          </p:cNvPr>
          <p:cNvSpPr txBox="1"/>
          <p:nvPr/>
        </p:nvSpPr>
        <p:spPr>
          <a:xfrm>
            <a:off x="367251" y="693420"/>
            <a:ext cx="8021375" cy="1384995"/>
          </a:xfrm>
          <a:prstGeom prst="rect">
            <a:avLst/>
          </a:prstGeom>
          <a:noFill/>
        </p:spPr>
        <p:txBody>
          <a:bodyPr wrap="square" rtlCol="0">
            <a:spAutoFit/>
          </a:bodyPr>
          <a:lstStyle/>
          <a:p>
            <a:r>
              <a:rPr lang="en-US" b="1" dirty="0">
                <a:solidFill>
                  <a:schemeClr val="accent6">
                    <a:lumMod val="50000"/>
                  </a:schemeClr>
                </a:solidFill>
                <a:latin typeface="Calibre Medium" panose="020B0603030202060203" pitchFamily="34" charset="0"/>
              </a:rPr>
              <a:t>Appendix</a:t>
            </a:r>
          </a:p>
          <a:p>
            <a:endParaRPr lang="en-US" b="1" dirty="0">
              <a:solidFill>
                <a:schemeClr val="accent6">
                  <a:lumMod val="50000"/>
                </a:schemeClr>
              </a:solidFill>
              <a:latin typeface="Calibre Medium" panose="020B0603030202060203" pitchFamily="34" charset="0"/>
            </a:endParaRPr>
          </a:p>
          <a:p>
            <a:r>
              <a:rPr lang="en-US" sz="1200" b="1" dirty="0">
                <a:solidFill>
                  <a:schemeClr val="accent6">
                    <a:lumMod val="50000"/>
                  </a:schemeClr>
                </a:solidFill>
                <a:latin typeface="Calibre Medium" panose="020B0603030202060203" pitchFamily="34" charset="0"/>
              </a:rPr>
              <a:t>Field Mapping of SFM and IFM – Hartford, State Farm, Fifth Third Bank</a:t>
            </a:r>
          </a:p>
          <a:p>
            <a:r>
              <a:rPr lang="en-US" b="1" dirty="0">
                <a:solidFill>
                  <a:schemeClr val="accent6">
                    <a:lumMod val="50000"/>
                  </a:schemeClr>
                </a:solidFill>
                <a:latin typeface="Calibre Medium" panose="020B0603030202060203" pitchFamily="34" charset="0"/>
              </a:rPr>
              <a:t> </a:t>
            </a:r>
          </a:p>
          <a:p>
            <a:endParaRPr lang="en-US" b="1" dirty="0">
              <a:solidFill>
                <a:schemeClr val="accent6">
                  <a:lumMod val="50000"/>
                </a:schemeClr>
              </a:solidFill>
              <a:latin typeface="Calibre Medium" panose="020B0603030202060203" pitchFamily="34" charset="0"/>
            </a:endParaRPr>
          </a:p>
        </p:txBody>
      </p:sp>
      <p:graphicFrame>
        <p:nvGraphicFramePr>
          <p:cNvPr id="4" name="Table 3">
            <a:extLst>
              <a:ext uri="{FF2B5EF4-FFF2-40B4-BE49-F238E27FC236}">
                <a16:creationId xmlns:a16="http://schemas.microsoft.com/office/drawing/2014/main" id="{CE30EC0E-FC59-C8CA-9769-E49F087F9478}"/>
              </a:ext>
            </a:extLst>
          </p:cNvPr>
          <p:cNvGraphicFramePr>
            <a:graphicFrameLocks noGrp="1"/>
          </p:cNvGraphicFramePr>
          <p:nvPr>
            <p:extLst>
              <p:ext uri="{D42A27DB-BD31-4B8C-83A1-F6EECF244321}">
                <p14:modId xmlns:p14="http://schemas.microsoft.com/office/powerpoint/2010/main" val="3417412589"/>
              </p:ext>
            </p:extLst>
          </p:nvPr>
        </p:nvGraphicFramePr>
        <p:xfrm>
          <a:off x="367251" y="1542466"/>
          <a:ext cx="9969445" cy="4670165"/>
        </p:xfrm>
        <a:graphic>
          <a:graphicData uri="http://schemas.openxmlformats.org/drawingml/2006/table">
            <a:tbl>
              <a:tblPr firstRow="1" bandRow="1">
                <a:tableStyleId>{5C22544A-7EE6-4342-B048-85BDC9FD1C3A}</a:tableStyleId>
              </a:tblPr>
              <a:tblGrid>
                <a:gridCol w="1470639">
                  <a:extLst>
                    <a:ext uri="{9D8B030D-6E8A-4147-A177-3AD203B41FA5}">
                      <a16:colId xmlns:a16="http://schemas.microsoft.com/office/drawing/2014/main" val="495060394"/>
                    </a:ext>
                  </a:extLst>
                </a:gridCol>
                <a:gridCol w="3844301">
                  <a:extLst>
                    <a:ext uri="{9D8B030D-6E8A-4147-A177-3AD203B41FA5}">
                      <a16:colId xmlns:a16="http://schemas.microsoft.com/office/drawing/2014/main" val="1483387117"/>
                    </a:ext>
                  </a:extLst>
                </a:gridCol>
                <a:gridCol w="1127160">
                  <a:extLst>
                    <a:ext uri="{9D8B030D-6E8A-4147-A177-3AD203B41FA5}">
                      <a16:colId xmlns:a16="http://schemas.microsoft.com/office/drawing/2014/main" val="2668243797"/>
                    </a:ext>
                  </a:extLst>
                </a:gridCol>
                <a:gridCol w="3527345">
                  <a:extLst>
                    <a:ext uri="{9D8B030D-6E8A-4147-A177-3AD203B41FA5}">
                      <a16:colId xmlns:a16="http://schemas.microsoft.com/office/drawing/2014/main" val="1921115015"/>
                    </a:ext>
                  </a:extLst>
                </a:gridCol>
              </a:tblGrid>
              <a:tr h="361402">
                <a:tc>
                  <a:txBody>
                    <a:bodyPr/>
                    <a:lstStyle/>
                    <a:p>
                      <a:pPr algn="l" fontAlgn="b"/>
                      <a:r>
                        <a:rPr lang="en-US" sz="900" b="1" u="none" strike="noStrike" dirty="0">
                          <a:effectLst/>
                        </a:rPr>
                        <a:t>SFM Field</a:t>
                      </a:r>
                      <a:endParaRPr lang="en-US" sz="900" b="1" i="0" u="none" strike="noStrike" dirty="0">
                        <a:solidFill>
                          <a:srgbClr val="000000"/>
                        </a:solidFill>
                        <a:effectLst/>
                        <a:latin typeface="Calibri" panose="020F0502020204030204" pitchFamily="34" charset="0"/>
                      </a:endParaRPr>
                    </a:p>
                  </a:txBody>
                  <a:tcPr marL="3095" marR="3095" marT="3095" marB="0" anchor="b"/>
                </a:tc>
                <a:tc>
                  <a:txBody>
                    <a:bodyPr/>
                    <a:lstStyle/>
                    <a:p>
                      <a:pPr algn="l" fontAlgn="b"/>
                      <a:r>
                        <a:rPr lang="en-US" sz="900" b="1" u="none" strike="noStrike" dirty="0">
                          <a:effectLst/>
                        </a:rPr>
                        <a:t>Sample Data</a:t>
                      </a:r>
                      <a:endParaRPr lang="en-US" sz="900" b="1" i="0" u="none" strike="noStrike" dirty="0">
                        <a:solidFill>
                          <a:srgbClr val="000000"/>
                        </a:solidFill>
                        <a:effectLst/>
                        <a:latin typeface="Calibri" panose="020F0502020204030204" pitchFamily="34" charset="0"/>
                      </a:endParaRPr>
                    </a:p>
                  </a:txBody>
                  <a:tcPr marL="3095" marR="3095" marT="3095" marB="0" anchor="b"/>
                </a:tc>
                <a:tc>
                  <a:txBody>
                    <a:bodyPr/>
                    <a:lstStyle/>
                    <a:p>
                      <a:pPr algn="l" fontAlgn="b"/>
                      <a:r>
                        <a:rPr lang="en-US" sz="900" b="1" u="none" strike="noStrike" dirty="0">
                          <a:effectLst/>
                        </a:rPr>
                        <a:t>IFM Field</a:t>
                      </a:r>
                      <a:endParaRPr lang="en-US" sz="900" b="1" i="0" u="none" strike="noStrike" dirty="0">
                        <a:solidFill>
                          <a:srgbClr val="000000"/>
                        </a:solidFill>
                        <a:effectLst/>
                        <a:latin typeface="Calibri" panose="020F0502020204030204" pitchFamily="34" charset="0"/>
                      </a:endParaRPr>
                    </a:p>
                  </a:txBody>
                  <a:tcPr marL="3095" marR="3095" marT="3095" marB="0" anchor="b"/>
                </a:tc>
                <a:tc>
                  <a:txBody>
                    <a:bodyPr/>
                    <a:lstStyle/>
                    <a:p>
                      <a:pPr algn="l" fontAlgn="b"/>
                      <a:r>
                        <a:rPr lang="en-US" sz="900" b="1" u="none" strike="noStrike" dirty="0">
                          <a:effectLst/>
                        </a:rPr>
                        <a:t>Sample Data</a:t>
                      </a:r>
                      <a:endParaRPr lang="en-US" sz="900" b="1" i="0" u="none" strike="noStrike" dirty="0">
                        <a:solidFill>
                          <a:srgbClr val="000000"/>
                        </a:solidFill>
                        <a:effectLst/>
                        <a:latin typeface="Calibri" panose="020F0502020204030204" pitchFamily="34" charset="0"/>
                      </a:endParaRPr>
                    </a:p>
                  </a:txBody>
                  <a:tcPr marL="3095" marR="3095" marT="3095" marB="0" anchor="b"/>
                </a:tc>
                <a:extLst>
                  <a:ext uri="{0D108BD9-81ED-4DB2-BD59-A6C34878D82A}">
                    <a16:rowId xmlns:a16="http://schemas.microsoft.com/office/drawing/2014/main" val="3127947375"/>
                  </a:ext>
                </a:extLst>
              </a:tr>
              <a:tr h="353940">
                <a:tc rowSpan="2">
                  <a:txBody>
                    <a:bodyPr/>
                    <a:lstStyle/>
                    <a:p>
                      <a:pPr marL="0" algn="l" defTabSz="914400" rtl="0" eaLnBrk="1" fontAlgn="b" latinLnBrk="0" hangingPunct="1"/>
                      <a:r>
                        <a:rPr lang="en-US" sz="900" b="0" i="0" u="none" strike="noStrike" kern="1200" dirty="0" err="1">
                          <a:solidFill>
                            <a:srgbClr val="000000"/>
                          </a:solidFill>
                          <a:effectLst/>
                          <a:latin typeface="Calibri" panose="020F0502020204030204" pitchFamily="34" charset="0"/>
                          <a:ea typeface="+mn-ea"/>
                          <a:cs typeface="+mn-cs"/>
                        </a:rPr>
                        <a:t>Nav_Name</a:t>
                      </a:r>
                      <a:endParaRPr lang="en-US" sz="900" b="0" i="0" u="none" strike="noStrike" kern="1200" dirty="0">
                        <a:solidFill>
                          <a:srgbClr val="000000"/>
                        </a:solidFill>
                        <a:effectLst/>
                        <a:latin typeface="Calibri" panose="020F0502020204030204" pitchFamily="34" charset="0"/>
                        <a:ea typeface="+mn-ea"/>
                        <a:cs typeface="+mn-cs"/>
                      </a:endParaRPr>
                    </a:p>
                  </a:txBody>
                  <a:tcPr marL="3095" marR="3095" marT="3095" marB="0" anchor="b"/>
                </a:tc>
                <a:tc rowSpan="2">
                  <a:txBody>
                    <a:bodyPr/>
                    <a:lstStyle/>
                    <a:p>
                      <a:pPr marL="0" algn="l" defTabSz="914400" rtl="0" eaLnBrk="1" fontAlgn="b" latinLnBrk="0" hangingPunct="1"/>
                      <a:r>
                        <a:rPr lang="en-US" sz="900" b="0" i="0" u="none" strike="noStrike" kern="1200" dirty="0">
                          <a:solidFill>
                            <a:srgbClr val="000000"/>
                          </a:solidFill>
                          <a:effectLst/>
                          <a:latin typeface="Calibri" panose="020F0502020204030204" pitchFamily="34" charset="0"/>
                          <a:ea typeface="+mn-ea"/>
                          <a:cs typeface="+mn-cs"/>
                        </a:rPr>
                        <a:t>Qty: 1 ** ANZ-2006218|AHU|1 Number||(Air Handlers-Air Handling Unit, Chilled Water, Electric Heat, &lt; 15,000 cfm)</a:t>
                      </a:r>
                    </a:p>
                  </a:txBody>
                  <a:tcPr marL="3095" marR="3095" marT="3095" marB="0" anchor="b"/>
                </a:tc>
                <a:tc>
                  <a:txBody>
                    <a:bodyPr/>
                    <a:lstStyle/>
                    <a:p>
                      <a:pPr algn="l" fontAlgn="b"/>
                      <a:r>
                        <a:rPr lang="en-US" sz="900" u="none" strike="noStrike" dirty="0">
                          <a:effectLst/>
                        </a:rPr>
                        <a:t>Asset Name</a:t>
                      </a:r>
                      <a:endParaRPr lang="en-US" sz="900" b="0" i="0" u="none" strike="noStrike" dirty="0">
                        <a:solidFill>
                          <a:srgbClr val="000000"/>
                        </a:solidFill>
                        <a:effectLst/>
                        <a:latin typeface="Calibri" panose="020F0502020204030204" pitchFamily="34" charset="0"/>
                      </a:endParaRPr>
                    </a:p>
                  </a:txBody>
                  <a:tcPr marL="3095" marR="3095" marT="3095" marB="0" anchor="b"/>
                </a:tc>
                <a:tc>
                  <a:txBody>
                    <a:bodyPr/>
                    <a:lstStyle/>
                    <a:p>
                      <a:pPr algn="l" fontAlgn="b"/>
                      <a:r>
                        <a:rPr lang="en-US" sz="900" u="none" strike="noStrike" dirty="0">
                          <a:effectLst/>
                        </a:rPr>
                        <a:t>Condenser, Air Cooled(AGA-FSFZ-PK418-North Building Southeast Tunnel-AGA-SUB-NBLDSETUN)</a:t>
                      </a:r>
                      <a:endParaRPr lang="en-US" sz="900" b="0" i="0" u="none" strike="noStrike" dirty="0">
                        <a:solidFill>
                          <a:srgbClr val="000000"/>
                        </a:solidFill>
                        <a:effectLst/>
                        <a:latin typeface="Calibri" panose="020F0502020204030204" pitchFamily="34" charset="0"/>
                      </a:endParaRPr>
                    </a:p>
                  </a:txBody>
                  <a:tcPr marL="3095" marR="3095" marT="3095" marB="0" anchor="b"/>
                </a:tc>
                <a:extLst>
                  <a:ext uri="{0D108BD9-81ED-4DB2-BD59-A6C34878D82A}">
                    <a16:rowId xmlns:a16="http://schemas.microsoft.com/office/drawing/2014/main" val="1898870395"/>
                  </a:ext>
                </a:extLst>
              </a:tr>
              <a:tr h="199102">
                <a:tc vMerge="1">
                  <a:txBody>
                    <a:bodyPr/>
                    <a:lstStyle/>
                    <a:p>
                      <a:pPr algn="l" fontAlgn="b"/>
                      <a:endParaRPr lang="en-US" sz="900" b="0" i="0" u="none" strike="noStrike" dirty="0">
                        <a:solidFill>
                          <a:srgbClr val="000000"/>
                        </a:solidFill>
                        <a:effectLst/>
                        <a:latin typeface="Calibri" panose="020F0502020204030204" pitchFamily="34" charset="0"/>
                      </a:endParaRPr>
                    </a:p>
                  </a:txBody>
                  <a:tcPr marL="3095" marR="3095" marT="3095" marB="0" anchor="b"/>
                </a:tc>
                <a:tc vMerge="1">
                  <a:txBody>
                    <a:bodyPr/>
                    <a:lstStyle/>
                    <a:p>
                      <a:pPr algn="l" fontAlgn="b"/>
                      <a:endParaRPr lang="en-US" sz="900" b="0" i="0" u="none" strike="noStrike" dirty="0">
                        <a:solidFill>
                          <a:srgbClr val="000000"/>
                        </a:solidFill>
                        <a:effectLst/>
                        <a:latin typeface="Calibri" panose="020F0502020204030204" pitchFamily="34" charset="0"/>
                      </a:endParaRPr>
                    </a:p>
                  </a:txBody>
                  <a:tcPr marL="3095" marR="3095" marT="3095" marB="0" anchor="b"/>
                </a:tc>
                <a:tc>
                  <a:txBody>
                    <a:bodyPr/>
                    <a:lstStyle/>
                    <a:p>
                      <a:pPr marL="0" algn="l" defTabSz="914400" rtl="0" eaLnBrk="1" fontAlgn="b" latinLnBrk="0" hangingPunct="1"/>
                      <a:r>
                        <a:rPr lang="en-US" sz="900" b="0" i="0" u="none" strike="noStrike" kern="1200" dirty="0">
                          <a:solidFill>
                            <a:srgbClr val="000000"/>
                          </a:solidFill>
                          <a:effectLst/>
                          <a:latin typeface="Calibri" panose="020F0502020204030204" pitchFamily="34" charset="0"/>
                          <a:ea typeface="+mn-ea"/>
                          <a:cs typeface="+mn-cs"/>
                        </a:rPr>
                        <a:t>Position Name</a:t>
                      </a:r>
                    </a:p>
                  </a:txBody>
                  <a:tcPr marL="3095" marR="3095" marT="3095" marB="0" anchor="b"/>
                </a:tc>
                <a:tc>
                  <a:txBody>
                    <a:bodyPr/>
                    <a:lstStyle/>
                    <a:p>
                      <a:pPr marL="0" algn="l" defTabSz="914400" rtl="0" eaLnBrk="1" fontAlgn="b" latinLnBrk="0" hangingPunct="1"/>
                      <a:r>
                        <a:rPr lang="en-US" sz="900" b="0" i="0" u="none" strike="noStrike" kern="1200" dirty="0">
                          <a:solidFill>
                            <a:srgbClr val="000000"/>
                          </a:solidFill>
                          <a:effectLst/>
                          <a:latin typeface="Calibri" panose="020F0502020204030204" pitchFamily="34" charset="0"/>
                          <a:ea typeface="+mn-ea"/>
                          <a:cs typeface="+mn-cs"/>
                        </a:rPr>
                        <a:t>AGA-FSFZ-PK418-North Building Southeast Tunnel-AGA-SUB-NBLDSETUN</a:t>
                      </a:r>
                    </a:p>
                  </a:txBody>
                  <a:tcPr marL="3095" marR="3095" marT="3095" marB="0" anchor="b"/>
                </a:tc>
                <a:extLst>
                  <a:ext uri="{0D108BD9-81ED-4DB2-BD59-A6C34878D82A}">
                    <a16:rowId xmlns:a16="http://schemas.microsoft.com/office/drawing/2014/main" val="579930389"/>
                  </a:ext>
                </a:extLst>
              </a:tr>
              <a:tr h="340134">
                <a:tc rowSpan="2">
                  <a:txBody>
                    <a:bodyPr/>
                    <a:lstStyle/>
                    <a:p>
                      <a:pPr marL="0" algn="l" defTabSz="914400" rtl="0" eaLnBrk="1" fontAlgn="b" latinLnBrk="0" hangingPunct="1"/>
                      <a:r>
                        <a:rPr lang="en-US" sz="900" b="0" i="0" u="none" strike="noStrike" kern="1200" dirty="0" err="1">
                          <a:solidFill>
                            <a:srgbClr val="000000"/>
                          </a:solidFill>
                          <a:effectLst/>
                          <a:latin typeface="Calibri" panose="020F0502020204030204" pitchFamily="34" charset="0"/>
                          <a:ea typeface="+mn-ea"/>
                          <a:cs typeface="+mn-cs"/>
                        </a:rPr>
                        <a:t>Equipment_Name</a:t>
                      </a:r>
                      <a:endParaRPr lang="en-US" sz="900" b="0" i="0" u="none" strike="noStrike" kern="1200" dirty="0">
                        <a:solidFill>
                          <a:srgbClr val="000000"/>
                        </a:solidFill>
                        <a:effectLst/>
                        <a:latin typeface="Calibri" panose="020F0502020204030204" pitchFamily="34" charset="0"/>
                        <a:ea typeface="+mn-ea"/>
                        <a:cs typeface="+mn-cs"/>
                      </a:endParaRPr>
                    </a:p>
                  </a:txBody>
                  <a:tcPr marL="3095" marR="3095" marT="3095" marB="0" anchor="b"/>
                </a:tc>
                <a:tc rowSpan="2">
                  <a:txBody>
                    <a:bodyPr/>
                    <a:lstStyle/>
                    <a:p>
                      <a:pPr marL="0" algn="l" defTabSz="914400" rtl="0" eaLnBrk="1" fontAlgn="b" latinLnBrk="0" hangingPunct="1"/>
                      <a:r>
                        <a:rPr lang="en-US" sz="900" b="0" i="0" u="none" strike="noStrike" kern="1200" dirty="0">
                          <a:solidFill>
                            <a:srgbClr val="000000"/>
                          </a:solidFill>
                          <a:effectLst/>
                          <a:latin typeface="Calibri" panose="020F0502020204030204" pitchFamily="34" charset="0"/>
                          <a:ea typeface="+mn-ea"/>
                          <a:cs typeface="+mn-cs"/>
                        </a:rPr>
                        <a:t>Qty: 2 ** ANZ-2005411|Supply Air System Large 23m3/s|2 Number||(Air Handlers-Fan, Supply, Axial/Centrifugal)</a:t>
                      </a:r>
                    </a:p>
                  </a:txBody>
                  <a:tcPr marL="3095" marR="3095" marT="3095" marB="0" anchor="b"/>
                </a:tc>
                <a:tc>
                  <a:txBody>
                    <a:bodyPr/>
                    <a:lstStyle/>
                    <a:p>
                      <a:pPr marL="0" algn="l" defTabSz="914400" rtl="0" eaLnBrk="1" fontAlgn="b" latinLnBrk="0" hangingPunct="1"/>
                      <a:r>
                        <a:rPr lang="en-US" sz="900" b="0" i="0" u="none" strike="noStrike" kern="1200" dirty="0">
                          <a:solidFill>
                            <a:srgbClr val="000000"/>
                          </a:solidFill>
                          <a:effectLst/>
                          <a:latin typeface="Calibri" panose="020F0502020204030204" pitchFamily="34" charset="0"/>
                          <a:ea typeface="+mn-ea"/>
                          <a:cs typeface="+mn-cs"/>
                        </a:rPr>
                        <a:t>Asset Name</a:t>
                      </a:r>
                    </a:p>
                  </a:txBody>
                  <a:tcPr marL="3095" marR="3095" marT="3095" marB="0" anchor="b"/>
                </a:tc>
                <a:tc>
                  <a:txBody>
                    <a:bodyPr/>
                    <a:lstStyle/>
                    <a:p>
                      <a:pPr marL="0" algn="l" defTabSz="914400" rtl="0" eaLnBrk="1" fontAlgn="b" latinLnBrk="0" hangingPunct="1"/>
                      <a:r>
                        <a:rPr lang="en-US" sz="900" b="0" i="0" u="none" strike="noStrike" kern="1200" dirty="0">
                          <a:solidFill>
                            <a:srgbClr val="000000"/>
                          </a:solidFill>
                          <a:effectLst/>
                          <a:latin typeface="Calibri" panose="020F0502020204030204" pitchFamily="34" charset="0"/>
                          <a:ea typeface="+mn-ea"/>
                          <a:cs typeface="+mn-cs"/>
                        </a:rPr>
                        <a:t>Condenser, Air Cooled(AGA-FSFZ-PK418-North Building Southeast Tunnel-AGA-SUB-NBLDSETUN)</a:t>
                      </a:r>
                    </a:p>
                  </a:txBody>
                  <a:tcPr marL="3095" marR="3095" marT="3095" marB="0" anchor="b"/>
                </a:tc>
                <a:extLst>
                  <a:ext uri="{0D108BD9-81ED-4DB2-BD59-A6C34878D82A}">
                    <a16:rowId xmlns:a16="http://schemas.microsoft.com/office/drawing/2014/main" val="3980132075"/>
                  </a:ext>
                </a:extLst>
              </a:tr>
              <a:tr h="118359">
                <a:tc vMerge="1">
                  <a:txBody>
                    <a:bodyPr/>
                    <a:lstStyle/>
                    <a:p>
                      <a:pPr algn="l" fontAlgn="b"/>
                      <a:endParaRPr lang="en-US" sz="900" b="0" i="0" u="none" strike="noStrike" dirty="0">
                        <a:solidFill>
                          <a:srgbClr val="000000"/>
                        </a:solidFill>
                        <a:effectLst/>
                        <a:latin typeface="Calibri" panose="020F0502020204030204" pitchFamily="34" charset="0"/>
                      </a:endParaRPr>
                    </a:p>
                  </a:txBody>
                  <a:tcPr marL="3095" marR="3095" marT="3095" marB="0" anchor="b"/>
                </a:tc>
                <a:tc vMerge="1">
                  <a:txBody>
                    <a:bodyPr/>
                    <a:lstStyle/>
                    <a:p>
                      <a:pPr algn="l" fontAlgn="b"/>
                      <a:endParaRPr lang="en-US" sz="900" b="0" i="0" u="none" strike="noStrike" dirty="0">
                        <a:solidFill>
                          <a:srgbClr val="000000"/>
                        </a:solidFill>
                        <a:effectLst/>
                        <a:latin typeface="Calibri" panose="020F0502020204030204" pitchFamily="34" charset="0"/>
                      </a:endParaRPr>
                    </a:p>
                  </a:txBody>
                  <a:tcPr marL="3095" marR="3095" marT="3095" marB="0" anchor="b"/>
                </a:tc>
                <a:tc>
                  <a:txBody>
                    <a:bodyPr/>
                    <a:lstStyle/>
                    <a:p>
                      <a:pPr marL="0" algn="l" defTabSz="914400" rtl="0" eaLnBrk="1" fontAlgn="b" latinLnBrk="0" hangingPunct="1"/>
                      <a:r>
                        <a:rPr lang="en-US" sz="900" b="0" i="0" u="none" strike="noStrike" kern="1200" dirty="0">
                          <a:solidFill>
                            <a:srgbClr val="000000"/>
                          </a:solidFill>
                          <a:effectLst/>
                          <a:latin typeface="Calibri" panose="020F0502020204030204" pitchFamily="34" charset="0"/>
                          <a:ea typeface="+mn-ea"/>
                          <a:cs typeface="+mn-cs"/>
                        </a:rPr>
                        <a:t>Position Name</a:t>
                      </a:r>
                    </a:p>
                  </a:txBody>
                  <a:tcPr marL="3095" marR="3095" marT="3095" marB="0" anchor="b"/>
                </a:tc>
                <a:tc>
                  <a:txBody>
                    <a:bodyPr/>
                    <a:lstStyle/>
                    <a:p>
                      <a:pPr marL="0" algn="l" defTabSz="914400" rtl="0" eaLnBrk="1" fontAlgn="b" latinLnBrk="0" hangingPunct="1"/>
                      <a:r>
                        <a:rPr lang="en-US" sz="900" b="0" i="0" u="none" strike="noStrike" kern="1200" dirty="0">
                          <a:solidFill>
                            <a:srgbClr val="000000"/>
                          </a:solidFill>
                          <a:effectLst/>
                          <a:latin typeface="Calibri" panose="020F0502020204030204" pitchFamily="34" charset="0"/>
                          <a:ea typeface="+mn-ea"/>
                          <a:cs typeface="+mn-cs"/>
                        </a:rPr>
                        <a:t>AGA-FSFZ-PK418-North Building Southeast Tunnel-AGA-SUB-NBLDSETUN</a:t>
                      </a:r>
                    </a:p>
                  </a:txBody>
                  <a:tcPr marL="3095" marR="3095" marT="3095" marB="0" anchor="b"/>
                </a:tc>
                <a:extLst>
                  <a:ext uri="{0D108BD9-81ED-4DB2-BD59-A6C34878D82A}">
                    <a16:rowId xmlns:a16="http://schemas.microsoft.com/office/drawing/2014/main" val="1702243571"/>
                  </a:ext>
                </a:extLst>
              </a:tr>
              <a:tr h="271550">
                <a:tc>
                  <a:txBody>
                    <a:bodyPr/>
                    <a:lstStyle/>
                    <a:p>
                      <a:pPr marL="0" algn="l" defTabSz="914400" rtl="0" eaLnBrk="1" fontAlgn="b" latinLnBrk="0" hangingPunct="1"/>
                      <a:r>
                        <a:rPr lang="en-US" sz="900" b="0" i="0" u="none" strike="noStrike" kern="1200" dirty="0" err="1">
                          <a:solidFill>
                            <a:srgbClr val="000000"/>
                          </a:solidFill>
                          <a:effectLst/>
                          <a:latin typeface="Calibri" panose="020F0502020204030204" pitchFamily="34" charset="0"/>
                          <a:ea typeface="+mn-ea"/>
                          <a:cs typeface="+mn-cs"/>
                        </a:rPr>
                        <a:t>Equipment_Serial_Number</a:t>
                      </a:r>
                      <a:endParaRPr lang="en-US" sz="900" b="0" i="0" u="none" strike="noStrike" kern="1200" dirty="0">
                        <a:solidFill>
                          <a:srgbClr val="000000"/>
                        </a:solidFill>
                        <a:effectLst/>
                        <a:latin typeface="Calibri" panose="020F0502020204030204" pitchFamily="34" charset="0"/>
                        <a:ea typeface="+mn-ea"/>
                        <a:cs typeface="+mn-cs"/>
                      </a:endParaRPr>
                    </a:p>
                  </a:txBody>
                  <a:tcPr marL="3095" marR="3095" marT="3095" marB="0" anchor="b"/>
                </a:tc>
                <a:tc>
                  <a:txBody>
                    <a:bodyPr/>
                    <a:lstStyle/>
                    <a:p>
                      <a:pPr marL="0" algn="l" defTabSz="914400" rtl="0" eaLnBrk="1" fontAlgn="b" latinLnBrk="0" hangingPunct="1"/>
                      <a:r>
                        <a:rPr lang="en-US" sz="900" b="0" i="0" u="none" strike="noStrike" kern="1200" dirty="0">
                          <a:solidFill>
                            <a:srgbClr val="000000"/>
                          </a:solidFill>
                          <a:effectLst/>
                          <a:latin typeface="Calibri" panose="020F0502020204030204" pitchFamily="34" charset="0"/>
                          <a:ea typeface="+mn-ea"/>
                          <a:cs typeface="+mn-cs"/>
                        </a:rPr>
                        <a:t>42400715</a:t>
                      </a:r>
                      <a:br>
                        <a:rPr lang="en-US" sz="900" b="0" i="0" u="none" strike="noStrike" kern="1200" dirty="0">
                          <a:solidFill>
                            <a:srgbClr val="000000"/>
                          </a:solidFill>
                          <a:effectLst/>
                          <a:latin typeface="Calibri" panose="020F0502020204030204" pitchFamily="34" charset="0"/>
                          <a:ea typeface="+mn-ea"/>
                          <a:cs typeface="+mn-cs"/>
                        </a:rPr>
                      </a:br>
                      <a:r>
                        <a:rPr lang="en-US" sz="900" b="0" i="0" u="none" strike="noStrike" kern="1200" dirty="0">
                          <a:solidFill>
                            <a:srgbClr val="000000"/>
                          </a:solidFill>
                          <a:effectLst/>
                          <a:latin typeface="Calibri" panose="020F0502020204030204" pitchFamily="34" charset="0"/>
                          <a:ea typeface="+mn-ea"/>
                          <a:cs typeface="+mn-cs"/>
                        </a:rPr>
                        <a:t>4210091</a:t>
                      </a:r>
                    </a:p>
                  </a:txBody>
                  <a:tcPr marL="7620" marR="7620" marT="7620" marB="0" anchor="b"/>
                </a:tc>
                <a:tc>
                  <a:txBody>
                    <a:bodyPr/>
                    <a:lstStyle/>
                    <a:p>
                      <a:pPr marL="0" algn="l" defTabSz="914400" rtl="0" eaLnBrk="1" fontAlgn="b" latinLnBrk="0" hangingPunct="1"/>
                      <a:r>
                        <a:rPr lang="en-US" sz="900" b="0" i="0" u="none" strike="noStrike" kern="1200" dirty="0" err="1">
                          <a:solidFill>
                            <a:srgbClr val="000000"/>
                          </a:solidFill>
                          <a:effectLst/>
                          <a:latin typeface="Calibri" panose="020F0502020204030204" pitchFamily="34" charset="0"/>
                          <a:ea typeface="+mn-ea"/>
                          <a:cs typeface="+mn-cs"/>
                        </a:rPr>
                        <a:t>Serial_number</a:t>
                      </a:r>
                      <a:endParaRPr lang="en-US" sz="900" b="0" i="0" u="none" strike="noStrike" kern="1200" dirty="0">
                        <a:solidFill>
                          <a:srgbClr val="000000"/>
                        </a:solidFill>
                        <a:effectLst/>
                        <a:latin typeface="Calibri" panose="020F0502020204030204" pitchFamily="34" charset="0"/>
                        <a:ea typeface="+mn-ea"/>
                        <a:cs typeface="+mn-cs"/>
                      </a:endParaRPr>
                    </a:p>
                  </a:txBody>
                  <a:tcPr marL="3095" marR="3095" marT="3095" marB="0" anchor="b"/>
                </a:tc>
                <a:tc>
                  <a:txBody>
                    <a:bodyPr/>
                    <a:lstStyle/>
                    <a:p>
                      <a:pPr marL="0" algn="l" defTabSz="914400" rtl="0" eaLnBrk="1" fontAlgn="b" latinLnBrk="0" hangingPunct="1"/>
                      <a:r>
                        <a:rPr lang="en-US" sz="900" b="0" i="0" u="none" strike="noStrike" kern="1200" dirty="0">
                          <a:solidFill>
                            <a:srgbClr val="000000"/>
                          </a:solidFill>
                          <a:effectLst/>
                          <a:latin typeface="Calibri" panose="020F0502020204030204" pitchFamily="34" charset="0"/>
                          <a:ea typeface="+mn-ea"/>
                          <a:cs typeface="+mn-cs"/>
                        </a:rPr>
                        <a:t>96687591</a:t>
                      </a:r>
                      <a:br>
                        <a:rPr lang="en-US" sz="900" b="0" i="0" u="none" strike="noStrike" kern="1200" dirty="0">
                          <a:solidFill>
                            <a:srgbClr val="000000"/>
                          </a:solidFill>
                          <a:effectLst/>
                          <a:latin typeface="Calibri" panose="020F0502020204030204" pitchFamily="34" charset="0"/>
                          <a:ea typeface="+mn-ea"/>
                          <a:cs typeface="+mn-cs"/>
                        </a:rPr>
                      </a:br>
                      <a:r>
                        <a:rPr lang="en-US" sz="900" b="0" i="0" u="none" strike="noStrike" kern="1200" dirty="0">
                          <a:solidFill>
                            <a:srgbClr val="000000"/>
                          </a:solidFill>
                          <a:effectLst/>
                          <a:latin typeface="Calibri" panose="020F0502020204030204" pitchFamily="34" charset="0"/>
                          <a:ea typeface="+mn-ea"/>
                          <a:cs typeface="+mn-cs"/>
                        </a:rPr>
                        <a:t>JB16279576</a:t>
                      </a:r>
                    </a:p>
                  </a:txBody>
                  <a:tcPr marL="7620" marR="7620" marT="7620" marB="0" anchor="b"/>
                </a:tc>
                <a:extLst>
                  <a:ext uri="{0D108BD9-81ED-4DB2-BD59-A6C34878D82A}">
                    <a16:rowId xmlns:a16="http://schemas.microsoft.com/office/drawing/2014/main" val="2789863768"/>
                  </a:ext>
                </a:extLst>
              </a:tr>
              <a:tr h="240581">
                <a:tc>
                  <a:txBody>
                    <a:bodyPr/>
                    <a:lstStyle/>
                    <a:p>
                      <a:pPr marL="0" algn="l" defTabSz="914400" rtl="0" eaLnBrk="1" fontAlgn="b" latinLnBrk="0" hangingPunct="1"/>
                      <a:r>
                        <a:rPr lang="en-US" sz="900" b="0" i="0" u="none" strike="noStrike" kern="1200" dirty="0" err="1">
                          <a:solidFill>
                            <a:srgbClr val="000000"/>
                          </a:solidFill>
                          <a:effectLst/>
                          <a:latin typeface="Calibri" panose="020F0502020204030204" pitchFamily="34" charset="0"/>
                          <a:ea typeface="+mn-ea"/>
                          <a:cs typeface="+mn-cs"/>
                        </a:rPr>
                        <a:t>Equipment_Model_Number</a:t>
                      </a:r>
                      <a:endParaRPr lang="en-US" sz="900" b="0" i="0" u="none" strike="noStrike" kern="1200" dirty="0">
                        <a:solidFill>
                          <a:srgbClr val="000000"/>
                        </a:solidFill>
                        <a:effectLst/>
                        <a:latin typeface="Calibri" panose="020F0502020204030204" pitchFamily="34" charset="0"/>
                        <a:ea typeface="+mn-ea"/>
                        <a:cs typeface="+mn-cs"/>
                      </a:endParaRPr>
                    </a:p>
                  </a:txBody>
                  <a:tcPr marL="3095" marR="3095" marT="3095" marB="0" anchor="b"/>
                </a:tc>
                <a:tc>
                  <a:txBody>
                    <a:bodyPr/>
                    <a:lstStyle/>
                    <a:p>
                      <a:pPr marL="0" algn="l" defTabSz="914400" rtl="0" eaLnBrk="1" fontAlgn="b" latinLnBrk="0" hangingPunct="1"/>
                      <a:r>
                        <a:rPr lang="en-US" sz="900" b="0" i="0" u="none" strike="noStrike" kern="1200" dirty="0">
                          <a:solidFill>
                            <a:srgbClr val="000000"/>
                          </a:solidFill>
                          <a:effectLst/>
                          <a:latin typeface="Calibri" panose="020F0502020204030204" pitchFamily="34" charset="0"/>
                          <a:ea typeface="+mn-ea"/>
                          <a:cs typeface="+mn-cs"/>
                        </a:rPr>
                        <a:t>FTXS100KAVMA</a:t>
                      </a:r>
                      <a:br>
                        <a:rPr lang="en-US" sz="900" b="0" i="0" u="none" strike="noStrike" kern="1200" dirty="0">
                          <a:solidFill>
                            <a:srgbClr val="000000"/>
                          </a:solidFill>
                          <a:effectLst/>
                          <a:latin typeface="Calibri" panose="020F0502020204030204" pitchFamily="34" charset="0"/>
                          <a:ea typeface="+mn-ea"/>
                          <a:cs typeface="+mn-cs"/>
                        </a:rPr>
                      </a:br>
                      <a:r>
                        <a:rPr lang="en-US" sz="900" b="0" i="0" u="none" strike="noStrike" kern="1200" dirty="0">
                          <a:solidFill>
                            <a:srgbClr val="000000"/>
                          </a:solidFill>
                          <a:effectLst/>
                          <a:latin typeface="Calibri" panose="020F0502020204030204" pitchFamily="34" charset="0"/>
                          <a:ea typeface="+mn-ea"/>
                          <a:cs typeface="+mn-cs"/>
                        </a:rPr>
                        <a:t>FC62D3xN1A</a:t>
                      </a:r>
                    </a:p>
                  </a:txBody>
                  <a:tcPr marL="7620" marR="7620" marT="7620" marB="0" anchor="b"/>
                </a:tc>
                <a:tc>
                  <a:txBody>
                    <a:bodyPr/>
                    <a:lstStyle/>
                    <a:p>
                      <a:pPr marL="0" algn="l" defTabSz="914400" rtl="0" eaLnBrk="1" fontAlgn="b" latinLnBrk="0" hangingPunct="1"/>
                      <a:r>
                        <a:rPr lang="en-US" sz="900" b="0" i="0" u="none" strike="noStrike" kern="1200" dirty="0">
                          <a:solidFill>
                            <a:srgbClr val="000000"/>
                          </a:solidFill>
                          <a:effectLst/>
                          <a:latin typeface="Calibri" panose="020F0502020204030204" pitchFamily="34" charset="0"/>
                          <a:ea typeface="+mn-ea"/>
                          <a:cs typeface="+mn-cs"/>
                        </a:rPr>
                        <a:t>model</a:t>
                      </a:r>
                    </a:p>
                  </a:txBody>
                  <a:tcPr marL="3095" marR="3095" marT="3095" marB="0" anchor="b"/>
                </a:tc>
                <a:tc>
                  <a:txBody>
                    <a:bodyPr/>
                    <a:lstStyle/>
                    <a:p>
                      <a:pPr marL="0" algn="l" defTabSz="914400" rtl="0" eaLnBrk="1" fontAlgn="b" latinLnBrk="0" hangingPunct="1"/>
                      <a:r>
                        <a:rPr lang="en-US" sz="900" b="0" i="0" u="none" strike="noStrike" kern="1200" dirty="0">
                          <a:solidFill>
                            <a:srgbClr val="000000"/>
                          </a:solidFill>
                          <a:effectLst/>
                          <a:latin typeface="Calibri" panose="020F0502020204030204" pitchFamily="34" charset="0"/>
                          <a:ea typeface="+mn-ea"/>
                          <a:cs typeface="+mn-cs"/>
                        </a:rPr>
                        <a:t>C3AL-0153TAC-001</a:t>
                      </a:r>
                      <a:br>
                        <a:rPr lang="en-US" sz="900" b="0" i="0" u="none" strike="noStrike" kern="1200" dirty="0">
                          <a:solidFill>
                            <a:srgbClr val="000000"/>
                          </a:solidFill>
                          <a:effectLst/>
                          <a:latin typeface="Calibri" panose="020F0502020204030204" pitchFamily="34" charset="0"/>
                          <a:ea typeface="+mn-ea"/>
                          <a:cs typeface="+mn-cs"/>
                        </a:rPr>
                      </a:br>
                      <a:r>
                        <a:rPr lang="en-US" sz="900" b="0" i="0" u="none" strike="noStrike" kern="1200" dirty="0">
                          <a:solidFill>
                            <a:srgbClr val="000000"/>
                          </a:solidFill>
                          <a:effectLst/>
                          <a:latin typeface="Calibri" panose="020F0502020204030204" pitchFamily="34" charset="0"/>
                          <a:ea typeface="+mn-ea"/>
                          <a:cs typeface="+mn-cs"/>
                        </a:rPr>
                        <a:t>75T803BN</a:t>
                      </a:r>
                    </a:p>
                  </a:txBody>
                  <a:tcPr marL="7620" marR="7620" marT="7620" marB="0" anchor="b"/>
                </a:tc>
                <a:extLst>
                  <a:ext uri="{0D108BD9-81ED-4DB2-BD59-A6C34878D82A}">
                    <a16:rowId xmlns:a16="http://schemas.microsoft.com/office/drawing/2014/main" val="3878091450"/>
                  </a:ext>
                </a:extLst>
              </a:tr>
              <a:tr h="273766">
                <a:tc>
                  <a:txBody>
                    <a:bodyPr/>
                    <a:lstStyle/>
                    <a:p>
                      <a:pPr marL="0" algn="l" defTabSz="914400" rtl="0" eaLnBrk="1" fontAlgn="b" latinLnBrk="0" hangingPunct="1"/>
                      <a:r>
                        <a:rPr lang="en-US" sz="900" b="0" i="0" u="none" strike="noStrike" kern="1200" dirty="0" err="1">
                          <a:solidFill>
                            <a:srgbClr val="000000"/>
                          </a:solidFill>
                          <a:effectLst/>
                          <a:latin typeface="Calibri" panose="020F0502020204030204" pitchFamily="34" charset="0"/>
                          <a:ea typeface="+mn-ea"/>
                          <a:cs typeface="+mn-cs"/>
                        </a:rPr>
                        <a:t>Equipment_Make</a:t>
                      </a:r>
                      <a:endParaRPr lang="en-US" sz="900" b="0" i="0" u="none" strike="noStrike" kern="1200" dirty="0">
                        <a:solidFill>
                          <a:srgbClr val="000000"/>
                        </a:solidFill>
                        <a:effectLst/>
                        <a:latin typeface="Calibri" panose="020F0502020204030204" pitchFamily="34" charset="0"/>
                        <a:ea typeface="+mn-ea"/>
                        <a:cs typeface="+mn-cs"/>
                      </a:endParaRPr>
                    </a:p>
                  </a:txBody>
                  <a:tcPr marL="3095" marR="3095" marT="3095" marB="0" anchor="b"/>
                </a:tc>
                <a:tc>
                  <a:txBody>
                    <a:bodyPr/>
                    <a:lstStyle/>
                    <a:p>
                      <a:pPr marL="0" algn="l" defTabSz="914400" rtl="0" eaLnBrk="1" fontAlgn="b" latinLnBrk="0" hangingPunct="1"/>
                      <a:r>
                        <a:rPr lang="en-US" sz="900" b="0" i="0" u="none" strike="noStrike" kern="1200">
                          <a:solidFill>
                            <a:srgbClr val="000000"/>
                          </a:solidFill>
                          <a:effectLst/>
                          <a:latin typeface="Calibri" panose="020F0502020204030204" pitchFamily="34" charset="0"/>
                          <a:ea typeface="+mn-ea"/>
                          <a:cs typeface="+mn-cs"/>
                        </a:rPr>
                        <a:t>Daikin</a:t>
                      </a:r>
                      <a:br>
                        <a:rPr lang="en-US" sz="900" b="0" i="0" u="none" strike="noStrike" kern="1200">
                          <a:solidFill>
                            <a:srgbClr val="000000"/>
                          </a:solidFill>
                          <a:effectLst/>
                          <a:latin typeface="Calibri" panose="020F0502020204030204" pitchFamily="34" charset="0"/>
                          <a:ea typeface="+mn-ea"/>
                          <a:cs typeface="+mn-cs"/>
                        </a:rPr>
                      </a:br>
                      <a:r>
                        <a:rPr lang="en-US" sz="900" b="0" i="0" u="none" strike="noStrike" kern="1200">
                          <a:solidFill>
                            <a:srgbClr val="000000"/>
                          </a:solidFill>
                          <a:effectLst/>
                          <a:latin typeface="Calibri" panose="020F0502020204030204" pitchFamily="34" charset="0"/>
                          <a:ea typeface="+mn-ea"/>
                          <a:cs typeface="+mn-cs"/>
                        </a:rPr>
                        <a:t>Coleman</a:t>
                      </a:r>
                    </a:p>
                  </a:txBody>
                  <a:tcPr marL="7620" marR="7620" marT="7620" marB="0" anchor="b"/>
                </a:tc>
                <a:tc>
                  <a:txBody>
                    <a:bodyPr/>
                    <a:lstStyle/>
                    <a:p>
                      <a:pPr marL="0" algn="l" defTabSz="914400" rtl="0" eaLnBrk="1" fontAlgn="b" latinLnBrk="0" hangingPunct="1"/>
                      <a:r>
                        <a:rPr lang="en-US" sz="900" b="0" i="0" u="none" strike="noStrike" kern="1200" dirty="0">
                          <a:solidFill>
                            <a:srgbClr val="000000"/>
                          </a:solidFill>
                          <a:effectLst/>
                          <a:latin typeface="Calibri" panose="020F0502020204030204" pitchFamily="34" charset="0"/>
                          <a:ea typeface="+mn-ea"/>
                          <a:cs typeface="+mn-cs"/>
                        </a:rPr>
                        <a:t>Manufacturer</a:t>
                      </a:r>
                    </a:p>
                  </a:txBody>
                  <a:tcPr marL="3095" marR="3095" marT="3095" marB="0" anchor="b"/>
                </a:tc>
                <a:tc>
                  <a:txBody>
                    <a:bodyPr/>
                    <a:lstStyle/>
                    <a:p>
                      <a:pPr marL="0" algn="l" defTabSz="914400" rtl="0" eaLnBrk="1" fontAlgn="b" latinLnBrk="0" hangingPunct="1"/>
                      <a:r>
                        <a:rPr lang="en-US" sz="900" b="0" i="0" u="none" strike="noStrike" kern="1200" dirty="0">
                          <a:solidFill>
                            <a:srgbClr val="000000"/>
                          </a:solidFill>
                          <a:effectLst/>
                          <a:latin typeface="Calibri" panose="020F0502020204030204" pitchFamily="34" charset="0"/>
                          <a:ea typeface="+mn-ea"/>
                          <a:cs typeface="+mn-cs"/>
                        </a:rPr>
                        <a:t>COPELAND</a:t>
                      </a:r>
                      <a:br>
                        <a:rPr lang="en-US" sz="900" b="0" i="0" u="none" strike="noStrike" kern="1200" dirty="0">
                          <a:solidFill>
                            <a:srgbClr val="000000"/>
                          </a:solidFill>
                          <a:effectLst/>
                          <a:latin typeface="Calibri" panose="020F0502020204030204" pitchFamily="34" charset="0"/>
                          <a:ea typeface="+mn-ea"/>
                          <a:cs typeface="+mn-cs"/>
                        </a:rPr>
                      </a:br>
                      <a:r>
                        <a:rPr lang="en-US" sz="900" b="0" i="0" u="none" strike="noStrike" kern="1200" dirty="0">
                          <a:solidFill>
                            <a:srgbClr val="000000"/>
                          </a:solidFill>
                          <a:effectLst/>
                          <a:latin typeface="Calibri" panose="020F0502020204030204" pitchFamily="34" charset="0"/>
                          <a:ea typeface="+mn-ea"/>
                          <a:cs typeface="+mn-cs"/>
                        </a:rPr>
                        <a:t>LIEBERT</a:t>
                      </a:r>
                    </a:p>
                  </a:txBody>
                  <a:tcPr marL="7620" marR="7620" marT="7620" marB="0" anchor="b"/>
                </a:tc>
                <a:extLst>
                  <a:ext uri="{0D108BD9-81ED-4DB2-BD59-A6C34878D82A}">
                    <a16:rowId xmlns:a16="http://schemas.microsoft.com/office/drawing/2014/main" val="1120608643"/>
                  </a:ext>
                </a:extLst>
              </a:tr>
              <a:tr h="257174">
                <a:tc>
                  <a:txBody>
                    <a:bodyPr/>
                    <a:lstStyle/>
                    <a:p>
                      <a:pPr marL="0" algn="l" defTabSz="914400" rtl="0" eaLnBrk="1" fontAlgn="b" latinLnBrk="0" hangingPunct="1"/>
                      <a:r>
                        <a:rPr lang="en-US" sz="900" b="0" i="0" u="none" strike="noStrike" kern="1200" dirty="0">
                          <a:solidFill>
                            <a:srgbClr val="000000"/>
                          </a:solidFill>
                          <a:effectLst/>
                          <a:latin typeface="Calibri" panose="020F0502020204030204" pitchFamily="34" charset="0"/>
                          <a:ea typeface="+mn-ea"/>
                          <a:cs typeface="+mn-cs"/>
                        </a:rPr>
                        <a:t>Asset Type</a:t>
                      </a:r>
                    </a:p>
                  </a:txBody>
                  <a:tcPr marL="3095" marR="3095" marT="3095" marB="0" anchor="b"/>
                </a:tc>
                <a:tc>
                  <a:txBody>
                    <a:bodyPr/>
                    <a:lstStyle/>
                    <a:p>
                      <a:pPr marL="0" algn="l" defTabSz="914400" rtl="0" eaLnBrk="1" fontAlgn="b" latinLnBrk="0" hangingPunct="1"/>
                      <a:r>
                        <a:rPr lang="en-US" sz="900" b="0" i="0" u="none" strike="noStrike" kern="1200" dirty="0">
                          <a:solidFill>
                            <a:srgbClr val="000000"/>
                          </a:solidFill>
                          <a:effectLst/>
                          <a:latin typeface="Calibri" panose="020F0502020204030204" pitchFamily="34" charset="0"/>
                          <a:ea typeface="+mn-ea"/>
                          <a:cs typeface="+mn-cs"/>
                        </a:rPr>
                        <a:t>Fan Coil Unit</a:t>
                      </a:r>
                      <a:br>
                        <a:rPr lang="en-US" sz="900" b="0" i="0" u="none" strike="noStrike" kern="1200" dirty="0">
                          <a:solidFill>
                            <a:srgbClr val="000000"/>
                          </a:solidFill>
                          <a:effectLst/>
                          <a:latin typeface="Calibri" panose="020F0502020204030204" pitchFamily="34" charset="0"/>
                          <a:ea typeface="+mn-ea"/>
                          <a:cs typeface="+mn-cs"/>
                        </a:rPr>
                      </a:br>
                      <a:r>
                        <a:rPr lang="en-US" sz="900" b="0" i="0" u="none" strike="noStrike" kern="1200" dirty="0">
                          <a:solidFill>
                            <a:srgbClr val="000000"/>
                          </a:solidFill>
                          <a:effectLst/>
                          <a:latin typeface="Calibri" panose="020F0502020204030204" pitchFamily="34" charset="0"/>
                          <a:ea typeface="+mn-ea"/>
                          <a:cs typeface="+mn-cs"/>
                        </a:rPr>
                        <a:t>Air Handling Unit</a:t>
                      </a:r>
                    </a:p>
                  </a:txBody>
                  <a:tcPr marL="7620" marR="7620" marT="7620" marB="0" anchor="b"/>
                </a:tc>
                <a:tc>
                  <a:txBody>
                    <a:bodyPr/>
                    <a:lstStyle/>
                    <a:p>
                      <a:pPr marL="0" algn="l" defTabSz="914400" rtl="0" eaLnBrk="1" fontAlgn="b" latinLnBrk="0" hangingPunct="1"/>
                      <a:r>
                        <a:rPr lang="en-US" sz="900" b="0" i="0" u="none" strike="noStrike" kern="1200" dirty="0">
                          <a:solidFill>
                            <a:srgbClr val="000000"/>
                          </a:solidFill>
                          <a:effectLst/>
                          <a:latin typeface="Calibri" panose="020F0502020204030204" pitchFamily="34" charset="0"/>
                          <a:ea typeface="+mn-ea"/>
                          <a:cs typeface="+mn-cs"/>
                        </a:rPr>
                        <a:t>Position type</a:t>
                      </a:r>
                    </a:p>
                  </a:txBody>
                  <a:tcPr marL="3095" marR="3095" marT="3095" marB="0" anchor="b"/>
                </a:tc>
                <a:tc>
                  <a:txBody>
                    <a:bodyPr/>
                    <a:lstStyle/>
                    <a:p>
                      <a:pPr marL="0" algn="l" defTabSz="914400" rtl="0" eaLnBrk="1" fontAlgn="b" latinLnBrk="0" hangingPunct="1"/>
                      <a:r>
                        <a:rPr lang="en-US" sz="900" b="0" i="0" u="none" strike="noStrike" kern="1200" dirty="0">
                          <a:solidFill>
                            <a:srgbClr val="000000"/>
                          </a:solidFill>
                          <a:effectLst/>
                          <a:latin typeface="Calibri" panose="020F0502020204030204" pitchFamily="34" charset="0"/>
                          <a:ea typeface="+mn-ea"/>
                          <a:cs typeface="+mn-cs"/>
                        </a:rPr>
                        <a:t>Services D / HVAC D30 / Terminal &amp; Package Units D3050 / Air Conditioner, Packaged Unit D3050.02 / Air Conditioner, DX Packaged, Air-Cooled D3050.02.01</a:t>
                      </a:r>
                    </a:p>
                  </a:txBody>
                  <a:tcPr marL="7620" marR="7620" marT="7620" marB="0" anchor="b"/>
                </a:tc>
                <a:extLst>
                  <a:ext uri="{0D108BD9-81ED-4DB2-BD59-A6C34878D82A}">
                    <a16:rowId xmlns:a16="http://schemas.microsoft.com/office/drawing/2014/main" val="1912640273"/>
                  </a:ext>
                </a:extLst>
              </a:tr>
              <a:tr h="335972">
                <a:tc rowSpan="2">
                  <a:txBody>
                    <a:bodyPr/>
                    <a:lstStyle/>
                    <a:p>
                      <a:pPr marL="0" algn="l" defTabSz="914400" rtl="0" eaLnBrk="1" fontAlgn="b" latinLnBrk="0" hangingPunct="1"/>
                      <a:r>
                        <a:rPr lang="en-US" sz="900" b="0" i="0" u="none" strike="noStrike" kern="1200" dirty="0" err="1">
                          <a:solidFill>
                            <a:srgbClr val="FF0000"/>
                          </a:solidFill>
                          <a:effectLst/>
                          <a:latin typeface="Calibri" panose="020F0502020204030204" pitchFamily="34" charset="0"/>
                          <a:ea typeface="+mn-ea"/>
                          <a:cs typeface="+mn-cs"/>
                        </a:rPr>
                        <a:t>ml_Reasoning</a:t>
                      </a:r>
                      <a:r>
                        <a:rPr lang="en-US" sz="900" b="0" i="0" u="none" strike="noStrike" kern="1200">
                          <a:solidFill>
                            <a:srgbClr val="FF0000"/>
                          </a:solidFill>
                          <a:effectLst/>
                          <a:latin typeface="Calibri" panose="020F0502020204030204" pitchFamily="34" charset="0"/>
                          <a:ea typeface="+mn-ea"/>
                          <a:cs typeface="+mn-cs"/>
                        </a:rPr>
                        <a:t> </a:t>
                      </a:r>
                      <a:endParaRPr lang="en-US" sz="900" b="0" i="0" u="none" strike="noStrike" kern="1200" dirty="0">
                        <a:solidFill>
                          <a:srgbClr val="FF0000"/>
                        </a:solidFill>
                        <a:effectLst/>
                        <a:latin typeface="Calibri" panose="020F0502020204030204" pitchFamily="34" charset="0"/>
                        <a:ea typeface="+mn-ea"/>
                        <a:cs typeface="+mn-cs"/>
                      </a:endParaRPr>
                    </a:p>
                  </a:txBody>
                  <a:tcPr marL="3095" marR="3095" marT="3095" marB="0" anchor="b"/>
                </a:tc>
                <a:tc rowSpan="2">
                  <a:txBody>
                    <a:bodyPr/>
                    <a:lstStyle/>
                    <a:p>
                      <a:pPr marL="0" algn="l" defTabSz="914400" rtl="0" eaLnBrk="1" fontAlgn="b" latinLnBrk="0" hangingPunct="1"/>
                      <a:r>
                        <a:rPr lang="en-US" sz="900" b="0" i="0" u="none" strike="noStrike" kern="1200" dirty="0">
                          <a:solidFill>
                            <a:srgbClr val="FF0000"/>
                          </a:solidFill>
                          <a:effectLst/>
                          <a:latin typeface="Calibri" panose="020F0502020204030204" pitchFamily="34" charset="0"/>
                          <a:ea typeface="+mn-ea"/>
                          <a:cs typeface="+mn-cs"/>
                        </a:rPr>
                        <a:t>The equipment description contains the key phrase "AHU" and explicitly mentions "Air Handling Unit" in the context of a centralized system. According to the knowledge bank, "AHU" is a key phrase that corresponds to the "Air Handling Unit" asset category. Additionally, the description specifies characteristics typical of an air handling unit, such as "Chilled Water" and "Electric Heat," which further supports this classification. Therefore, based on the presence of the key phrase and the detailed description, I have classified this equipment as an Air Handling Unit.</a:t>
                      </a:r>
                    </a:p>
                  </a:txBody>
                  <a:tcPr marL="3095" marR="3095" marT="3095" marB="0" anchor="b"/>
                </a:tc>
                <a:tc>
                  <a:txBody>
                    <a:bodyPr/>
                    <a:lstStyle/>
                    <a:p>
                      <a:pPr marL="0" algn="l" defTabSz="914400" rtl="0" eaLnBrk="1" fontAlgn="b" latinLnBrk="0" hangingPunct="1"/>
                      <a:r>
                        <a:rPr lang="en-US" sz="900" b="0" i="0" u="none" strike="noStrike" kern="1200" dirty="0">
                          <a:solidFill>
                            <a:srgbClr val="FF0000"/>
                          </a:solidFill>
                          <a:effectLst/>
                          <a:latin typeface="Calibri" panose="020F0502020204030204" pitchFamily="34" charset="0"/>
                          <a:ea typeface="+mn-ea"/>
                          <a:cs typeface="+mn-cs"/>
                        </a:rPr>
                        <a:t>Asset Details</a:t>
                      </a:r>
                    </a:p>
                  </a:txBody>
                  <a:tcPr marL="3095" marR="3095" marT="3095" marB="0" anchor="b"/>
                </a:tc>
                <a:tc>
                  <a:txBody>
                    <a:bodyPr/>
                    <a:lstStyle/>
                    <a:p>
                      <a:pPr algn="l" fontAlgn="b"/>
                      <a:r>
                        <a:rPr lang="en-US" sz="900" b="0" i="0" u="none" strike="noStrike" dirty="0">
                          <a:solidFill>
                            <a:srgbClr val="FF0000"/>
                          </a:solidFill>
                          <a:effectLst/>
                          <a:latin typeface="Calibri" panose="020F0502020204030204" pitchFamily="34" charset="0"/>
                        </a:rPr>
                        <a:t>WAL: Walls</a:t>
                      </a:r>
                      <a:br>
                        <a:rPr lang="en-US" sz="900" b="0" i="0" u="none" strike="noStrike" dirty="0">
                          <a:solidFill>
                            <a:srgbClr val="FF0000"/>
                          </a:solidFill>
                          <a:effectLst/>
                          <a:latin typeface="Calibri" panose="020F0502020204030204" pitchFamily="34" charset="0"/>
                        </a:rPr>
                      </a:br>
                      <a:r>
                        <a:rPr lang="en-US" sz="900" b="0" i="0" u="none" strike="noStrike" dirty="0">
                          <a:solidFill>
                            <a:srgbClr val="FF0000"/>
                          </a:solidFill>
                          <a:effectLst/>
                          <a:latin typeface="Calibri" panose="020F0502020204030204" pitchFamily="34" charset="0"/>
                        </a:rPr>
                        <a:t>PDS: Power Distribution System</a:t>
                      </a:r>
                    </a:p>
                  </a:txBody>
                  <a:tcPr marL="7620" marR="7620" marT="7620" marB="0" anchor="b"/>
                </a:tc>
                <a:extLst>
                  <a:ext uri="{0D108BD9-81ED-4DB2-BD59-A6C34878D82A}">
                    <a16:rowId xmlns:a16="http://schemas.microsoft.com/office/drawing/2014/main" val="227757823"/>
                  </a:ext>
                </a:extLst>
              </a:tr>
              <a:tr h="354806">
                <a:tc vMerge="1">
                  <a:txBody>
                    <a:bodyPr/>
                    <a:lstStyle/>
                    <a:p>
                      <a:pPr algn="l" fontAlgn="b"/>
                      <a:endParaRPr lang="en-US" sz="900" b="0" i="0" u="none" strike="noStrike" dirty="0">
                        <a:solidFill>
                          <a:srgbClr val="000000"/>
                        </a:solidFill>
                        <a:effectLst/>
                        <a:latin typeface="Calibri" panose="020F0502020204030204" pitchFamily="34" charset="0"/>
                      </a:endParaRPr>
                    </a:p>
                  </a:txBody>
                  <a:tcPr marL="3095" marR="3095" marT="3095" marB="0" anchor="b"/>
                </a:tc>
                <a:tc vMerge="1">
                  <a:txBody>
                    <a:bodyPr/>
                    <a:lstStyle/>
                    <a:p>
                      <a:pPr algn="l" fontAlgn="b"/>
                      <a:endParaRPr lang="en-US" sz="900" b="0" i="0" u="none" strike="noStrike" dirty="0">
                        <a:solidFill>
                          <a:srgbClr val="000000"/>
                        </a:solidFill>
                        <a:effectLst/>
                        <a:latin typeface="Calibri" panose="020F0502020204030204" pitchFamily="34" charset="0"/>
                      </a:endParaRPr>
                    </a:p>
                  </a:txBody>
                  <a:tcPr marL="3095" marR="3095" marT="3095" marB="0" anchor="b"/>
                </a:tc>
                <a:tc>
                  <a:txBody>
                    <a:bodyPr/>
                    <a:lstStyle/>
                    <a:p>
                      <a:pPr marL="0" algn="l" defTabSz="914400" rtl="0" eaLnBrk="1" fontAlgn="b" latinLnBrk="0" hangingPunct="1"/>
                      <a:r>
                        <a:rPr lang="en-US" sz="900" b="0" i="0" u="none" strike="noStrike" kern="1200" dirty="0">
                          <a:solidFill>
                            <a:srgbClr val="FF0000"/>
                          </a:solidFill>
                          <a:effectLst/>
                          <a:latin typeface="Calibri" panose="020F0502020204030204" pitchFamily="34" charset="0"/>
                          <a:ea typeface="+mn-ea"/>
                          <a:cs typeface="+mn-cs"/>
                        </a:rPr>
                        <a:t>Asset Notes</a:t>
                      </a:r>
                    </a:p>
                  </a:txBody>
                  <a:tcPr marL="3095" marR="3095" marT="3095" marB="0" anchor="b"/>
                </a:tc>
                <a:tc>
                  <a:txBody>
                    <a:bodyPr/>
                    <a:lstStyle/>
                    <a:p>
                      <a:pPr algn="l" fontAlgn="b"/>
                      <a:r>
                        <a:rPr lang="en-US" sz="900" b="0" i="0" u="none" strike="noStrike" dirty="0">
                          <a:solidFill>
                            <a:srgbClr val="FF0000"/>
                          </a:solidFill>
                          <a:effectLst/>
                          <a:latin typeface="Calibri" panose="020F0502020204030204" pitchFamily="34" charset="0"/>
                        </a:rPr>
                        <a:t>CRITICALITY: 0-Non-Critical</a:t>
                      </a:r>
                      <a:br>
                        <a:rPr lang="en-US" sz="900" b="0" i="0" u="none" strike="noStrike" dirty="0">
                          <a:solidFill>
                            <a:srgbClr val="FF0000"/>
                          </a:solidFill>
                          <a:effectLst/>
                          <a:latin typeface="Calibri" panose="020F0502020204030204" pitchFamily="34" charset="0"/>
                        </a:rPr>
                      </a:br>
                      <a:r>
                        <a:rPr lang="en-US" sz="900" b="0" i="0" u="none" strike="noStrike" dirty="0">
                          <a:solidFill>
                            <a:srgbClr val="FF0000"/>
                          </a:solidFill>
                          <a:effectLst/>
                          <a:latin typeface="Calibri" panose="020F0502020204030204" pitchFamily="34" charset="0"/>
                        </a:rPr>
                        <a:t>CRITICALITY: 1-Very High</a:t>
                      </a:r>
                    </a:p>
                  </a:txBody>
                  <a:tcPr marL="7620" marR="7620" marT="7620" marB="0" anchor="b"/>
                </a:tc>
                <a:extLst>
                  <a:ext uri="{0D108BD9-81ED-4DB2-BD59-A6C34878D82A}">
                    <a16:rowId xmlns:a16="http://schemas.microsoft.com/office/drawing/2014/main" val="4050046539"/>
                  </a:ext>
                </a:extLst>
              </a:tr>
              <a:tr h="182745">
                <a:tc>
                  <a:txBody>
                    <a:bodyPr/>
                    <a:lstStyle/>
                    <a:p>
                      <a:pPr marL="0" algn="l" defTabSz="914400" rtl="0" eaLnBrk="1" fontAlgn="b" latinLnBrk="0" hangingPunct="1"/>
                      <a:r>
                        <a:rPr lang="en-US" sz="900" b="0" i="0" u="none" strike="noStrike" kern="1200">
                          <a:solidFill>
                            <a:srgbClr val="000000"/>
                          </a:solidFill>
                          <a:effectLst/>
                          <a:latin typeface="Calibri" panose="020F0502020204030204" pitchFamily="34" charset="0"/>
                          <a:ea typeface="+mn-ea"/>
                          <a:cs typeface="+mn-cs"/>
                        </a:rPr>
                        <a:t>Country</a:t>
                      </a:r>
                    </a:p>
                  </a:txBody>
                  <a:tcPr marL="3095" marR="3095" marT="3095" marB="0" anchor="b"/>
                </a:tc>
                <a:tc>
                  <a:txBody>
                    <a:bodyPr/>
                    <a:lstStyle/>
                    <a:p>
                      <a:pPr marL="0" algn="l" defTabSz="914400" rtl="0" eaLnBrk="1" fontAlgn="b" latinLnBrk="0" hangingPunct="1"/>
                      <a:r>
                        <a:rPr lang="en-US" sz="900" b="0" i="0" u="none" strike="noStrike" kern="1200" dirty="0" err="1">
                          <a:solidFill>
                            <a:srgbClr val="000000"/>
                          </a:solidFill>
                          <a:effectLst/>
                          <a:latin typeface="Calibri" panose="020F0502020204030204" pitchFamily="34" charset="0"/>
                          <a:ea typeface="+mn-ea"/>
                          <a:cs typeface="+mn-cs"/>
                        </a:rPr>
                        <a:t>Abbr</a:t>
                      </a:r>
                      <a:r>
                        <a:rPr lang="en-US" sz="900" b="0" i="0" u="none" strike="noStrike" kern="1200" dirty="0">
                          <a:solidFill>
                            <a:srgbClr val="000000"/>
                          </a:solidFill>
                          <a:effectLst/>
                          <a:latin typeface="Calibri" panose="020F0502020204030204" pitchFamily="34" charset="0"/>
                          <a:ea typeface="+mn-ea"/>
                          <a:cs typeface="+mn-cs"/>
                        </a:rPr>
                        <a:t> of country, </a:t>
                      </a:r>
                      <a:r>
                        <a:rPr lang="en-US" sz="900" b="0" i="0" u="none" strike="noStrike" kern="1200" dirty="0" err="1">
                          <a:solidFill>
                            <a:srgbClr val="000000"/>
                          </a:solidFill>
                          <a:effectLst/>
                          <a:latin typeface="Calibri" panose="020F0502020204030204" pitchFamily="34" charset="0"/>
                          <a:ea typeface="+mn-ea"/>
                          <a:cs typeface="+mn-cs"/>
                        </a:rPr>
                        <a:t>eg</a:t>
                      </a:r>
                      <a:r>
                        <a:rPr lang="en-US" sz="900" b="0" i="0" u="none" strike="noStrike" kern="1200" dirty="0">
                          <a:solidFill>
                            <a:srgbClr val="000000"/>
                          </a:solidFill>
                          <a:effectLst/>
                          <a:latin typeface="Calibri" panose="020F0502020204030204" pitchFamily="34" charset="0"/>
                          <a:ea typeface="+mn-ea"/>
                          <a:cs typeface="+mn-cs"/>
                        </a:rPr>
                        <a:t> US, IN </a:t>
                      </a:r>
                      <a:r>
                        <a:rPr lang="en-US" sz="900" b="0" i="0" u="none" strike="noStrike" kern="1200" dirty="0" err="1">
                          <a:solidFill>
                            <a:srgbClr val="000000"/>
                          </a:solidFill>
                          <a:effectLst/>
                          <a:latin typeface="Calibri" panose="020F0502020204030204" pitchFamily="34" charset="0"/>
                          <a:ea typeface="+mn-ea"/>
                          <a:cs typeface="+mn-cs"/>
                        </a:rPr>
                        <a:t>etc</a:t>
                      </a:r>
                      <a:endParaRPr lang="en-US" sz="900" b="0" i="0" u="none" strike="noStrike" kern="1200" dirty="0">
                        <a:solidFill>
                          <a:srgbClr val="000000"/>
                        </a:solidFill>
                        <a:effectLst/>
                        <a:latin typeface="Calibri" panose="020F0502020204030204" pitchFamily="34" charset="0"/>
                        <a:ea typeface="+mn-ea"/>
                        <a:cs typeface="+mn-cs"/>
                      </a:endParaRPr>
                    </a:p>
                  </a:txBody>
                  <a:tcPr marL="3095" marR="3095" marT="3095" marB="0" anchor="b"/>
                </a:tc>
                <a:tc rowSpan="3">
                  <a:txBody>
                    <a:bodyPr/>
                    <a:lstStyle/>
                    <a:p>
                      <a:pPr marL="0" algn="l" defTabSz="914400" rtl="0" eaLnBrk="1" fontAlgn="b" latinLnBrk="0" hangingPunct="1"/>
                      <a:r>
                        <a:rPr lang="en-US" sz="900" b="0" i="0" u="none" strike="noStrike" kern="1200" dirty="0">
                          <a:solidFill>
                            <a:srgbClr val="000000"/>
                          </a:solidFill>
                          <a:effectLst/>
                          <a:latin typeface="Calibri" panose="020F0502020204030204" pitchFamily="34" charset="0"/>
                          <a:ea typeface="+mn-ea"/>
                          <a:cs typeface="+mn-cs"/>
                        </a:rPr>
                        <a:t>Region Name</a:t>
                      </a:r>
                    </a:p>
                  </a:txBody>
                  <a:tcPr marL="3095" marR="3095" marT="3095" marB="0" anchor="b"/>
                </a:tc>
                <a:tc rowSpan="3">
                  <a:txBody>
                    <a:bodyPr/>
                    <a:lstStyle/>
                    <a:p>
                      <a:pPr marL="0" algn="l" defTabSz="914400" rtl="0" eaLnBrk="1" fontAlgn="b" latinLnBrk="0" hangingPunct="1"/>
                      <a:r>
                        <a:rPr lang="en-US" sz="900" b="0" i="0" u="none" strike="noStrike" kern="1200" dirty="0">
                          <a:solidFill>
                            <a:srgbClr val="000000"/>
                          </a:solidFill>
                          <a:effectLst/>
                          <a:latin typeface="Calibri" panose="020F0502020204030204" pitchFamily="34" charset="0"/>
                          <a:ea typeface="+mn-ea"/>
                          <a:cs typeface="+mn-cs"/>
                        </a:rPr>
                        <a:t>US, TX, Houston</a:t>
                      </a:r>
                    </a:p>
                    <a:p>
                      <a:pPr marL="0" algn="l" defTabSz="914400" rtl="0" eaLnBrk="1" fontAlgn="b" latinLnBrk="0" hangingPunct="1"/>
                      <a:r>
                        <a:rPr lang="en-US" sz="900" b="0" i="0" u="none" strike="noStrike" kern="1200" dirty="0">
                          <a:solidFill>
                            <a:srgbClr val="000000"/>
                          </a:solidFill>
                          <a:effectLst/>
                          <a:latin typeface="Calibri" panose="020F0502020204030204" pitchFamily="34" charset="0"/>
                          <a:ea typeface="+mn-ea"/>
                          <a:cs typeface="+mn-cs"/>
                        </a:rPr>
                        <a:t>US, CT, Hartford</a:t>
                      </a:r>
                    </a:p>
                  </a:txBody>
                  <a:tcPr marL="3095" marR="3095" marT="3095" marB="0" anchor="b"/>
                </a:tc>
                <a:extLst>
                  <a:ext uri="{0D108BD9-81ED-4DB2-BD59-A6C34878D82A}">
                    <a16:rowId xmlns:a16="http://schemas.microsoft.com/office/drawing/2014/main" val="3172225636"/>
                  </a:ext>
                </a:extLst>
              </a:tr>
              <a:tr h="182745">
                <a:tc>
                  <a:txBody>
                    <a:bodyPr/>
                    <a:lstStyle/>
                    <a:p>
                      <a:pPr marL="0" algn="l" defTabSz="914400" rtl="0" eaLnBrk="1" fontAlgn="b" latinLnBrk="0" hangingPunct="1"/>
                      <a:r>
                        <a:rPr lang="en-US" sz="900" b="0" i="0" u="none" strike="noStrike" kern="1200">
                          <a:solidFill>
                            <a:srgbClr val="000000"/>
                          </a:solidFill>
                          <a:effectLst/>
                          <a:latin typeface="Calibri" panose="020F0502020204030204" pitchFamily="34" charset="0"/>
                          <a:ea typeface="+mn-ea"/>
                          <a:cs typeface="+mn-cs"/>
                        </a:rPr>
                        <a:t>State</a:t>
                      </a:r>
                    </a:p>
                  </a:txBody>
                  <a:tcPr marL="3095" marR="3095" marT="3095" marB="0" anchor="b"/>
                </a:tc>
                <a:tc>
                  <a:txBody>
                    <a:bodyPr/>
                    <a:lstStyle/>
                    <a:p>
                      <a:pPr marL="0" algn="l" defTabSz="914400" rtl="0" eaLnBrk="1" fontAlgn="b" latinLnBrk="0" hangingPunct="1"/>
                      <a:r>
                        <a:rPr lang="en-US" sz="900" b="0" i="0" u="none" strike="noStrike" kern="1200" dirty="0" err="1">
                          <a:solidFill>
                            <a:srgbClr val="000000"/>
                          </a:solidFill>
                          <a:effectLst/>
                          <a:latin typeface="Calibri" panose="020F0502020204030204" pitchFamily="34" charset="0"/>
                          <a:ea typeface="+mn-ea"/>
                          <a:cs typeface="+mn-cs"/>
                        </a:rPr>
                        <a:t>Abbr</a:t>
                      </a:r>
                      <a:r>
                        <a:rPr lang="en-US" sz="900" b="0" i="0" u="none" strike="noStrike" kern="1200" dirty="0">
                          <a:solidFill>
                            <a:srgbClr val="000000"/>
                          </a:solidFill>
                          <a:effectLst/>
                          <a:latin typeface="Calibri" panose="020F0502020204030204" pitchFamily="34" charset="0"/>
                          <a:ea typeface="+mn-ea"/>
                          <a:cs typeface="+mn-cs"/>
                        </a:rPr>
                        <a:t> of State </a:t>
                      </a:r>
                      <a:r>
                        <a:rPr lang="en-US" sz="900" b="0" i="0" u="none" strike="noStrike" kern="1200" dirty="0" err="1">
                          <a:solidFill>
                            <a:srgbClr val="000000"/>
                          </a:solidFill>
                          <a:effectLst/>
                          <a:latin typeface="Calibri" panose="020F0502020204030204" pitchFamily="34" charset="0"/>
                          <a:ea typeface="+mn-ea"/>
                          <a:cs typeface="+mn-cs"/>
                        </a:rPr>
                        <a:t>eg</a:t>
                      </a:r>
                      <a:r>
                        <a:rPr lang="en-US" sz="900" b="0" i="0" u="none" strike="noStrike" kern="1200" dirty="0">
                          <a:solidFill>
                            <a:srgbClr val="000000"/>
                          </a:solidFill>
                          <a:effectLst/>
                          <a:latin typeface="Calibri" panose="020F0502020204030204" pitchFamily="34" charset="0"/>
                          <a:ea typeface="+mn-ea"/>
                          <a:cs typeface="+mn-cs"/>
                        </a:rPr>
                        <a:t> TX, IL, Nj </a:t>
                      </a:r>
                      <a:r>
                        <a:rPr lang="en-US" sz="900" b="0" i="0" u="none" strike="noStrike" kern="1200" dirty="0" err="1">
                          <a:solidFill>
                            <a:srgbClr val="000000"/>
                          </a:solidFill>
                          <a:effectLst/>
                          <a:latin typeface="Calibri" panose="020F0502020204030204" pitchFamily="34" charset="0"/>
                          <a:ea typeface="+mn-ea"/>
                          <a:cs typeface="+mn-cs"/>
                        </a:rPr>
                        <a:t>etc</a:t>
                      </a:r>
                      <a:endParaRPr lang="en-US" sz="900" b="0" i="0" u="none" strike="noStrike" kern="1200" dirty="0">
                        <a:solidFill>
                          <a:srgbClr val="000000"/>
                        </a:solidFill>
                        <a:effectLst/>
                        <a:latin typeface="Calibri" panose="020F0502020204030204" pitchFamily="34" charset="0"/>
                        <a:ea typeface="+mn-ea"/>
                        <a:cs typeface="+mn-cs"/>
                      </a:endParaRPr>
                    </a:p>
                  </a:txBody>
                  <a:tcPr marL="3095" marR="3095" marT="3095" marB="0" anchor="b"/>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1671530926"/>
                  </a:ext>
                </a:extLst>
              </a:tr>
              <a:tr h="213010">
                <a:tc>
                  <a:txBody>
                    <a:bodyPr/>
                    <a:lstStyle/>
                    <a:p>
                      <a:pPr marL="0" algn="l" defTabSz="914400" rtl="0" eaLnBrk="1" fontAlgn="b" latinLnBrk="0" hangingPunct="1"/>
                      <a:r>
                        <a:rPr lang="en-US" sz="900" b="0" i="0" u="none" strike="noStrike" kern="1200">
                          <a:solidFill>
                            <a:srgbClr val="000000"/>
                          </a:solidFill>
                          <a:effectLst/>
                          <a:latin typeface="Calibri" panose="020F0502020204030204" pitchFamily="34" charset="0"/>
                          <a:ea typeface="+mn-ea"/>
                          <a:cs typeface="+mn-cs"/>
                        </a:rPr>
                        <a:t>City</a:t>
                      </a:r>
                    </a:p>
                  </a:txBody>
                  <a:tcPr marL="3095" marR="3095" marT="3095" marB="0" anchor="b"/>
                </a:tc>
                <a:tc>
                  <a:txBody>
                    <a:bodyPr/>
                    <a:lstStyle/>
                    <a:p>
                      <a:pPr marL="0" algn="l" defTabSz="914400" rtl="0" eaLnBrk="1" fontAlgn="b" latinLnBrk="0" hangingPunct="1"/>
                      <a:r>
                        <a:rPr lang="en-US" sz="900" b="0" i="0" u="none" strike="noStrike" kern="1200" dirty="0">
                          <a:solidFill>
                            <a:srgbClr val="000000"/>
                          </a:solidFill>
                          <a:effectLst/>
                          <a:latin typeface="Calibri" panose="020F0502020204030204" pitchFamily="34" charset="0"/>
                          <a:ea typeface="+mn-ea"/>
                          <a:cs typeface="+mn-cs"/>
                        </a:rPr>
                        <a:t>Full City name – Dallas, Houston </a:t>
                      </a:r>
                      <a:r>
                        <a:rPr lang="en-US" sz="900" b="0" i="0" u="none" strike="noStrike" kern="1200" dirty="0" err="1">
                          <a:solidFill>
                            <a:srgbClr val="000000"/>
                          </a:solidFill>
                          <a:effectLst/>
                          <a:latin typeface="Calibri" panose="020F0502020204030204" pitchFamily="34" charset="0"/>
                          <a:ea typeface="+mn-ea"/>
                          <a:cs typeface="+mn-cs"/>
                        </a:rPr>
                        <a:t>etc</a:t>
                      </a:r>
                      <a:endParaRPr lang="en-US" sz="900" b="0" i="0" u="none" strike="noStrike" kern="1200" dirty="0">
                        <a:solidFill>
                          <a:srgbClr val="000000"/>
                        </a:solidFill>
                        <a:effectLst/>
                        <a:latin typeface="Calibri" panose="020F0502020204030204" pitchFamily="34" charset="0"/>
                        <a:ea typeface="+mn-ea"/>
                        <a:cs typeface="+mn-cs"/>
                      </a:endParaRPr>
                    </a:p>
                  </a:txBody>
                  <a:tcPr marL="3095" marR="3095" marT="3095" marB="0" anchor="b"/>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2702973520"/>
                  </a:ext>
                </a:extLst>
              </a:tr>
              <a:tr h="331537">
                <a:tc>
                  <a:txBody>
                    <a:bodyPr/>
                    <a:lstStyle/>
                    <a:p>
                      <a:pPr marL="0" algn="l" defTabSz="914400" rtl="0" eaLnBrk="1" fontAlgn="b" latinLnBrk="0" hangingPunct="1"/>
                      <a:r>
                        <a:rPr lang="en-US" sz="900" b="0" i="0" u="none" strike="noStrike" kern="1200" dirty="0">
                          <a:solidFill>
                            <a:srgbClr val="000000"/>
                          </a:solidFill>
                          <a:effectLst/>
                          <a:latin typeface="Calibri" panose="020F0502020204030204" pitchFamily="34" charset="0"/>
                          <a:ea typeface="+mn-ea"/>
                          <a:cs typeface="+mn-cs"/>
                        </a:rPr>
                        <a:t>Site</a:t>
                      </a:r>
                    </a:p>
                  </a:txBody>
                  <a:tcPr marL="3095" marR="3095" marT="3095" marB="0" anchor="b"/>
                </a:tc>
                <a:tc>
                  <a:txBody>
                    <a:bodyPr/>
                    <a:lstStyle/>
                    <a:p>
                      <a:pPr marL="0" algn="l" defTabSz="914400" rtl="0" eaLnBrk="1" fontAlgn="b" latinLnBrk="0" hangingPunct="1"/>
                      <a:r>
                        <a:rPr lang="en-US" sz="900" b="0" i="0" u="none" strike="noStrike" kern="1200" dirty="0">
                          <a:solidFill>
                            <a:srgbClr val="000000"/>
                          </a:solidFill>
                          <a:effectLst/>
                          <a:latin typeface="Calibri" panose="020F0502020204030204" pitchFamily="34" charset="0"/>
                          <a:ea typeface="+mn-ea"/>
                          <a:cs typeface="+mn-cs"/>
                        </a:rPr>
                        <a:t>Unit 1, 34 Grant Road</a:t>
                      </a:r>
                    </a:p>
                    <a:p>
                      <a:pPr marL="0" algn="l" defTabSz="914400" rtl="0" eaLnBrk="1" fontAlgn="b" latinLnBrk="0" hangingPunct="1"/>
                      <a:r>
                        <a:rPr lang="en-US" sz="900" b="0" i="0" u="none" strike="noStrike" kern="1200" dirty="0" err="1">
                          <a:solidFill>
                            <a:srgbClr val="000000"/>
                          </a:solidFill>
                          <a:effectLst/>
                          <a:latin typeface="Calibri" panose="020F0502020204030204" pitchFamily="34" charset="0"/>
                          <a:ea typeface="+mn-ea"/>
                          <a:cs typeface="+mn-cs"/>
                        </a:rPr>
                        <a:t>Cnr</a:t>
                      </a:r>
                      <a:r>
                        <a:rPr lang="en-US" sz="900" b="0" i="0" u="none" strike="noStrike" kern="1200" dirty="0">
                          <a:solidFill>
                            <a:srgbClr val="000000"/>
                          </a:solidFill>
                          <a:effectLst/>
                          <a:latin typeface="Calibri" panose="020F0502020204030204" pitchFamily="34" charset="0"/>
                          <a:ea typeface="+mn-ea"/>
                          <a:cs typeface="+mn-cs"/>
                        </a:rPr>
                        <a:t> Cuba &amp; Rangitikei </a:t>
                      </a:r>
                      <a:r>
                        <a:rPr lang="en-US" sz="900" b="0" i="0" u="none" strike="noStrike" kern="1200" dirty="0" err="1">
                          <a:solidFill>
                            <a:srgbClr val="000000"/>
                          </a:solidFill>
                          <a:effectLst/>
                          <a:latin typeface="Calibri" panose="020F0502020204030204" pitchFamily="34" charset="0"/>
                          <a:ea typeface="+mn-ea"/>
                          <a:cs typeface="+mn-cs"/>
                        </a:rPr>
                        <a:t>Sts</a:t>
                      </a:r>
                      <a:endParaRPr lang="en-US" sz="900" b="0" i="0" u="none" strike="noStrike" kern="1200" dirty="0">
                        <a:solidFill>
                          <a:srgbClr val="000000"/>
                        </a:solidFill>
                        <a:effectLst/>
                        <a:latin typeface="Calibri" panose="020F0502020204030204" pitchFamily="34" charset="0"/>
                        <a:ea typeface="+mn-ea"/>
                        <a:cs typeface="+mn-cs"/>
                      </a:endParaRPr>
                    </a:p>
                  </a:txBody>
                  <a:tcPr marL="3095" marR="3095" marT="3095" marB="0" anchor="b"/>
                </a:tc>
                <a:tc>
                  <a:txBody>
                    <a:bodyPr/>
                    <a:lstStyle/>
                    <a:p>
                      <a:pPr marL="0" algn="l" defTabSz="914400" rtl="0" eaLnBrk="1" fontAlgn="b" latinLnBrk="0" hangingPunct="1"/>
                      <a:r>
                        <a:rPr lang="en-US" sz="900" b="0" i="0" u="none" strike="noStrike" kern="1200" dirty="0">
                          <a:solidFill>
                            <a:srgbClr val="000000"/>
                          </a:solidFill>
                          <a:effectLst/>
                          <a:latin typeface="Calibri" panose="020F0502020204030204" pitchFamily="34" charset="0"/>
                          <a:ea typeface="+mn-ea"/>
                          <a:cs typeface="+mn-cs"/>
                        </a:rPr>
                        <a:t>Building Name</a:t>
                      </a:r>
                    </a:p>
                  </a:txBody>
                  <a:tcPr marL="3095" marR="3095" marT="3095" marB="0" anchor="b"/>
                </a:tc>
                <a:tc>
                  <a:txBody>
                    <a:bodyPr/>
                    <a:lstStyle/>
                    <a:p>
                      <a:pPr marL="0" algn="l" defTabSz="914400" rtl="0" eaLnBrk="1" fontAlgn="b" latinLnBrk="0" hangingPunct="1"/>
                      <a:r>
                        <a:rPr lang="en-US" sz="900" b="0" i="0" u="none" strike="noStrike" kern="1200" dirty="0">
                          <a:solidFill>
                            <a:srgbClr val="000000"/>
                          </a:solidFill>
                          <a:effectLst/>
                          <a:latin typeface="Calibri" panose="020F0502020204030204" pitchFamily="34" charset="0"/>
                          <a:ea typeface="+mn-ea"/>
                          <a:cs typeface="+mn-cs"/>
                        </a:rPr>
                        <a:t>301 Woods Park Drive</a:t>
                      </a:r>
                    </a:p>
                    <a:p>
                      <a:pPr marL="0" algn="l" defTabSz="914400" rtl="0" eaLnBrk="1" fontAlgn="b" latinLnBrk="0" hangingPunct="1"/>
                      <a:r>
                        <a:rPr lang="en-US" sz="900" b="0" i="0" u="none" strike="noStrike" kern="1200" dirty="0">
                          <a:solidFill>
                            <a:srgbClr val="000000"/>
                          </a:solidFill>
                          <a:effectLst/>
                          <a:latin typeface="Calibri" panose="020F0502020204030204" pitchFamily="34" charset="0"/>
                          <a:ea typeface="+mn-ea"/>
                          <a:cs typeface="+mn-cs"/>
                        </a:rPr>
                        <a:t>Data Center Headquarters</a:t>
                      </a:r>
                    </a:p>
                  </a:txBody>
                  <a:tcPr marL="3095" marR="3095" marT="3095" marB="0" anchor="b"/>
                </a:tc>
                <a:extLst>
                  <a:ext uri="{0D108BD9-81ED-4DB2-BD59-A6C34878D82A}">
                    <a16:rowId xmlns:a16="http://schemas.microsoft.com/office/drawing/2014/main" val="994545504"/>
                  </a:ext>
                </a:extLst>
              </a:tr>
            </a:tbl>
          </a:graphicData>
        </a:graphic>
      </p:graphicFrame>
    </p:spTree>
    <p:extLst>
      <p:ext uri="{BB962C8B-B14F-4D97-AF65-F5344CB8AC3E}">
        <p14:creationId xmlns:p14="http://schemas.microsoft.com/office/powerpoint/2010/main" val="50398117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3C1B90-5932-7A34-04BA-881A9A578BB3}"/>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CB1A6A5E-E998-8B0A-F1F4-A3CA4B3D7F12}"/>
              </a:ext>
            </a:extLst>
          </p:cNvPr>
          <p:cNvSpPr>
            <a:spLocks noGrp="1"/>
          </p:cNvSpPr>
          <p:nvPr>
            <p:ph type="title"/>
          </p:nvPr>
        </p:nvSpPr>
        <p:spPr>
          <a:xfrm>
            <a:off x="225357" y="1722587"/>
            <a:ext cx="11741286" cy="461372"/>
          </a:xfrm>
        </p:spPr>
        <p:txBody>
          <a:bodyPr anchor="t">
            <a:normAutofit fontScale="90000"/>
          </a:bodyPr>
          <a:lstStyle/>
          <a:p>
            <a:pPr algn="ctr"/>
            <a:r>
              <a:rPr lang="en-US" sz="2400" dirty="0">
                <a:latin typeface="Financier Display Semibold" panose="02020703070506060203" pitchFamily="18" charset="0"/>
              </a:rPr>
              <a:t>Mapping Approaches for Client – Alaska  Airlines (Prod)</a:t>
            </a:r>
            <a:br>
              <a:rPr lang="en-US" sz="2400" dirty="0">
                <a:latin typeface="Financier Display Semibold" panose="02020703070506060203" pitchFamily="18" charset="0"/>
              </a:rPr>
            </a:br>
            <a:br>
              <a:rPr lang="en-US" sz="2400" dirty="0">
                <a:latin typeface="Financier Display Semibold" panose="02020703070506060203" pitchFamily="18" charset="0"/>
              </a:rPr>
            </a:br>
            <a:br>
              <a:rPr lang="en-US" sz="2400" dirty="0">
                <a:latin typeface="Financier Display Semibold" panose="02020703070506060203" pitchFamily="18" charset="0"/>
              </a:rPr>
            </a:br>
            <a:br>
              <a:rPr lang="en-US" sz="800" dirty="0">
                <a:solidFill>
                  <a:schemeClr val="accent3"/>
                </a:solidFill>
              </a:rPr>
            </a:br>
            <a:endParaRPr lang="en-US" sz="2400" dirty="0">
              <a:latin typeface="Financier Display Semibold" panose="02020703070506060203" pitchFamily="18" charset="0"/>
            </a:endParaRPr>
          </a:p>
        </p:txBody>
      </p:sp>
    </p:spTree>
    <p:extLst>
      <p:ext uri="{BB962C8B-B14F-4D97-AF65-F5344CB8AC3E}">
        <p14:creationId xmlns:p14="http://schemas.microsoft.com/office/powerpoint/2010/main" val="2906003313"/>
      </p:ext>
    </p:extLst>
  </p:cSld>
  <p:clrMapOvr>
    <a:masterClrMapping/>
  </p:clrMapOvr>
  <mc:AlternateContent xmlns:mc="http://schemas.openxmlformats.org/markup-compatibility/2006" xmlns:p14="http://schemas.microsoft.com/office/powerpoint/2010/main">
    <mc:Choice Requires="p14">
      <p:transition spd="slow" p14:dur="2000" advTm="12634"/>
    </mc:Choice>
    <mc:Fallback xmlns="">
      <p:transition spd="slow" advTm="12634"/>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26D8C6-32B2-9CB5-1F73-D7DD5863048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0389ECF-59F7-9585-0BD1-78080F3498EA}"/>
              </a:ext>
            </a:extLst>
          </p:cNvPr>
          <p:cNvSpPr txBox="1"/>
          <p:nvPr/>
        </p:nvSpPr>
        <p:spPr>
          <a:xfrm>
            <a:off x="297926" y="743694"/>
            <a:ext cx="4254410" cy="369332"/>
          </a:xfrm>
          <a:prstGeom prst="rect">
            <a:avLst/>
          </a:prstGeom>
          <a:noFill/>
        </p:spPr>
        <p:txBody>
          <a:bodyPr wrap="square" rtlCol="0">
            <a:spAutoFit/>
          </a:bodyPr>
          <a:lstStyle/>
          <a:p>
            <a:r>
              <a:rPr lang="en-US" b="1" dirty="0">
                <a:solidFill>
                  <a:schemeClr val="accent6">
                    <a:lumMod val="50000"/>
                  </a:schemeClr>
                </a:solidFill>
                <a:latin typeface="Calibre Medium" panose="020B0603030202060203" pitchFamily="34" charset="0"/>
              </a:rPr>
              <a:t>Approach for Perfect Match Condition</a:t>
            </a:r>
          </a:p>
        </p:txBody>
      </p:sp>
      <p:sp>
        <p:nvSpPr>
          <p:cNvPr id="5" name="Rectangle: Rounded Corners 4">
            <a:extLst>
              <a:ext uri="{FF2B5EF4-FFF2-40B4-BE49-F238E27FC236}">
                <a16:creationId xmlns:a16="http://schemas.microsoft.com/office/drawing/2014/main" id="{66880743-F49B-BAEE-ADE8-0A3A016DE032}"/>
              </a:ext>
            </a:extLst>
          </p:cNvPr>
          <p:cNvSpPr/>
          <p:nvPr/>
        </p:nvSpPr>
        <p:spPr>
          <a:xfrm>
            <a:off x="371788" y="1290167"/>
            <a:ext cx="3214895" cy="413355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b="1" dirty="0">
                <a:solidFill>
                  <a:schemeClr val="bg2"/>
                </a:solidFill>
                <a:latin typeface="Amasis MT Pro Black" panose="020F0502020204030204" pitchFamily="18" charset="0"/>
              </a:rPr>
              <a:t>Approach 1</a:t>
            </a:r>
          </a:p>
          <a:p>
            <a:pPr marL="285750" indent="-285750">
              <a:buFont typeface="Arial" panose="020B0604020202020204" pitchFamily="34" charset="0"/>
              <a:buChar char="•"/>
            </a:pPr>
            <a:endParaRPr lang="en-US" sz="1000" dirty="0"/>
          </a:p>
          <a:p>
            <a:pPr marL="285750" indent="-285750">
              <a:buFont typeface="Arial" panose="020B0604020202020204" pitchFamily="34" charset="0"/>
              <a:buChar char="•"/>
            </a:pPr>
            <a:r>
              <a:rPr lang="en-US" sz="1600" dirty="0"/>
              <a:t>Asset Type/ Position Type</a:t>
            </a:r>
          </a:p>
          <a:p>
            <a:pPr marL="285750" indent="-285750">
              <a:buFont typeface="Arial" panose="020B0604020202020204" pitchFamily="34" charset="0"/>
              <a:buChar char="•"/>
            </a:pPr>
            <a:r>
              <a:rPr lang="en-US" sz="1600" dirty="0"/>
              <a:t>Asset Name</a:t>
            </a:r>
          </a:p>
          <a:p>
            <a:pPr marL="285750" indent="-285750">
              <a:buFont typeface="Arial" panose="020B0604020202020204" pitchFamily="34" charset="0"/>
              <a:buChar char="•"/>
            </a:pPr>
            <a:r>
              <a:rPr lang="en-US" sz="1600" dirty="0"/>
              <a:t>Asset Location</a:t>
            </a:r>
          </a:p>
          <a:p>
            <a:pPr marL="742950" lvl="1" indent="-285750">
              <a:buFont typeface="Arial" panose="020B0604020202020204" pitchFamily="34" charset="0"/>
              <a:buChar char="•"/>
            </a:pPr>
            <a:r>
              <a:rPr lang="en-US" sz="1600" dirty="0"/>
              <a:t>Country</a:t>
            </a:r>
          </a:p>
          <a:p>
            <a:pPr marL="742950" lvl="1" indent="-285750">
              <a:buFont typeface="Arial" panose="020B0604020202020204" pitchFamily="34" charset="0"/>
              <a:buChar char="•"/>
            </a:pPr>
            <a:r>
              <a:rPr lang="en-US" sz="1600" dirty="0"/>
              <a:t>State</a:t>
            </a:r>
          </a:p>
          <a:p>
            <a:pPr marL="742950" lvl="1" indent="-285750">
              <a:buFont typeface="Arial" panose="020B0604020202020204" pitchFamily="34" charset="0"/>
              <a:buChar char="•"/>
            </a:pPr>
            <a:r>
              <a:rPr lang="en-US" sz="1600" dirty="0"/>
              <a:t>City</a:t>
            </a:r>
          </a:p>
          <a:p>
            <a:pPr marL="742950" lvl="1" indent="-285750">
              <a:buFont typeface="Arial" panose="020B0604020202020204" pitchFamily="34" charset="0"/>
              <a:buChar char="•"/>
            </a:pPr>
            <a:r>
              <a:rPr lang="en-US" sz="1600" dirty="0"/>
              <a:t>Region</a:t>
            </a:r>
          </a:p>
          <a:p>
            <a:pPr marL="742950" lvl="1" indent="-285750">
              <a:buFont typeface="Arial" panose="020B0604020202020204" pitchFamily="34" charset="0"/>
              <a:buChar char="•"/>
            </a:pPr>
            <a:r>
              <a:rPr lang="en-US" sz="1600" dirty="0"/>
              <a:t>Building/ </a:t>
            </a:r>
            <a:r>
              <a:rPr lang="en-US" sz="1600" dirty="0" err="1"/>
              <a:t>SIte</a:t>
            </a:r>
            <a:endParaRPr lang="en-US" sz="1600" dirty="0"/>
          </a:p>
          <a:p>
            <a:pPr marL="285750" indent="-285750">
              <a:buFont typeface="Arial" panose="020B0604020202020204" pitchFamily="34" charset="0"/>
              <a:buChar char="•"/>
            </a:pPr>
            <a:endParaRPr lang="en-US" dirty="0"/>
          </a:p>
        </p:txBody>
      </p:sp>
      <p:sp>
        <p:nvSpPr>
          <p:cNvPr id="8" name="TextBox 7">
            <a:extLst>
              <a:ext uri="{FF2B5EF4-FFF2-40B4-BE49-F238E27FC236}">
                <a16:creationId xmlns:a16="http://schemas.microsoft.com/office/drawing/2014/main" id="{5A73E87B-CF03-3162-FA8E-AA01A557876B}"/>
              </a:ext>
            </a:extLst>
          </p:cNvPr>
          <p:cNvSpPr txBox="1"/>
          <p:nvPr/>
        </p:nvSpPr>
        <p:spPr>
          <a:xfrm>
            <a:off x="3903406" y="1362224"/>
            <a:ext cx="7951339" cy="3231654"/>
          </a:xfrm>
          <a:prstGeom prst="rect">
            <a:avLst/>
          </a:prstGeom>
          <a:noFill/>
        </p:spPr>
        <p:txBody>
          <a:bodyPr wrap="square">
            <a:spAutoFit/>
          </a:bodyPr>
          <a:lstStyle/>
          <a:p>
            <a:r>
              <a:rPr lang="en-US" sz="1200" b="1" i="1" dirty="0">
                <a:solidFill>
                  <a:schemeClr val="accent6">
                    <a:lumMod val="50000"/>
                  </a:schemeClr>
                </a:solidFill>
              </a:rPr>
              <a:t>Conditions –</a:t>
            </a:r>
          </a:p>
          <a:p>
            <a:endParaRPr lang="en-US" sz="1200" b="1" i="1" dirty="0">
              <a:solidFill>
                <a:schemeClr val="accent6">
                  <a:lumMod val="50000"/>
                </a:schemeClr>
              </a:solidFill>
            </a:endParaRPr>
          </a:p>
          <a:p>
            <a:r>
              <a:rPr lang="en-US" sz="1200" dirty="0"/>
              <a:t>	The Equipment type in SFM should match perfectly with Position Type in IFM                                    OR</a:t>
            </a:r>
          </a:p>
          <a:p>
            <a:r>
              <a:rPr lang="en-US" sz="1200" dirty="0"/>
              <a:t>	The Equipment Type in SFM is Blank/ Other/ Null			                    OR</a:t>
            </a:r>
          </a:p>
          <a:p>
            <a:r>
              <a:rPr lang="en-US" sz="1200" dirty="0"/>
              <a:t>	The Equipment Type in SFM matches with Position Type in IFM one step up level	                    OR</a:t>
            </a:r>
          </a:p>
          <a:p>
            <a:r>
              <a:rPr lang="en-US" sz="1200" dirty="0"/>
              <a:t>	The Position Type in IFM Hub is undefined (E1090.06, E1090.06.01)		                    OR</a:t>
            </a:r>
          </a:p>
          <a:p>
            <a:r>
              <a:rPr lang="en-US" sz="1200" dirty="0"/>
              <a:t>	The Equipment Type in SFM matched (90%) to the equipment part description in IFM</a:t>
            </a:r>
          </a:p>
          <a:p>
            <a:endParaRPr lang="en-US" sz="1200" dirty="0"/>
          </a:p>
          <a:p>
            <a:r>
              <a:rPr lang="en-US" sz="1200" dirty="0"/>
              <a:t>AND</a:t>
            </a:r>
          </a:p>
          <a:p>
            <a:r>
              <a:rPr lang="en-US" sz="1200" dirty="0"/>
              <a:t>	 The </a:t>
            </a:r>
            <a:r>
              <a:rPr lang="en-US" sz="1200" dirty="0" err="1"/>
              <a:t>nav_type</a:t>
            </a:r>
            <a:r>
              <a:rPr lang="en-US" sz="1200" dirty="0"/>
              <a:t> (equip)-&gt; </a:t>
            </a:r>
            <a:r>
              <a:rPr lang="en-US" sz="1200" dirty="0" err="1"/>
              <a:t>nav_name</a:t>
            </a:r>
            <a:r>
              <a:rPr lang="en-US" sz="1200" dirty="0"/>
              <a:t> in SFM matches (80%) with Position Name in IFM HUB          OR</a:t>
            </a:r>
          </a:p>
          <a:p>
            <a:r>
              <a:rPr lang="en-US" sz="1200" dirty="0"/>
              <a:t>	 The </a:t>
            </a:r>
            <a:r>
              <a:rPr lang="en-US" sz="1200" dirty="0" err="1"/>
              <a:t>nav_type</a:t>
            </a:r>
            <a:r>
              <a:rPr lang="en-US" sz="1200" dirty="0"/>
              <a:t> (equip)-&gt; </a:t>
            </a:r>
            <a:r>
              <a:rPr lang="en-US" sz="1200" dirty="0" err="1"/>
              <a:t>nav_name</a:t>
            </a:r>
            <a:r>
              <a:rPr lang="en-US" sz="1200" dirty="0"/>
              <a:t> in SFM matches (80%) with Asset Name in IFM HUB</a:t>
            </a:r>
          </a:p>
          <a:p>
            <a:r>
              <a:rPr lang="en-US" sz="1200" dirty="0"/>
              <a:t>	</a:t>
            </a:r>
          </a:p>
          <a:p>
            <a:r>
              <a:rPr lang="en-US" sz="1200" dirty="0"/>
              <a:t>AND</a:t>
            </a:r>
          </a:p>
          <a:p>
            <a:r>
              <a:rPr lang="en-US" sz="1200" dirty="0"/>
              <a:t>	The combination of Country, State, City in SFM matches (90%) with Region Name in IFM</a:t>
            </a:r>
          </a:p>
          <a:p>
            <a:endParaRPr lang="en-US" sz="1200" dirty="0"/>
          </a:p>
          <a:p>
            <a:r>
              <a:rPr lang="en-US" sz="1200" dirty="0"/>
              <a:t>AND</a:t>
            </a:r>
          </a:p>
          <a:p>
            <a:r>
              <a:rPr lang="en-US" sz="1200" dirty="0"/>
              <a:t>	The Site name in SFM matches (80%) with Building Name in IFM Hub</a:t>
            </a:r>
          </a:p>
        </p:txBody>
      </p:sp>
    </p:spTree>
    <p:extLst>
      <p:ext uri="{BB962C8B-B14F-4D97-AF65-F5344CB8AC3E}">
        <p14:creationId xmlns:p14="http://schemas.microsoft.com/office/powerpoint/2010/main" val="142711880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AB8B96-C5B6-8A44-E087-CC921EBBCE6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A44C2EF-9947-5E92-98BF-3073D15B8875}"/>
              </a:ext>
            </a:extLst>
          </p:cNvPr>
          <p:cNvSpPr txBox="1"/>
          <p:nvPr/>
        </p:nvSpPr>
        <p:spPr>
          <a:xfrm>
            <a:off x="514735" y="720657"/>
            <a:ext cx="6361209" cy="369332"/>
          </a:xfrm>
          <a:prstGeom prst="rect">
            <a:avLst/>
          </a:prstGeom>
          <a:noFill/>
        </p:spPr>
        <p:txBody>
          <a:bodyPr wrap="square" rtlCol="0">
            <a:spAutoFit/>
          </a:bodyPr>
          <a:lstStyle/>
          <a:p>
            <a:r>
              <a:rPr lang="en-US" b="1" dirty="0">
                <a:solidFill>
                  <a:schemeClr val="accent6">
                    <a:lumMod val="50000"/>
                  </a:schemeClr>
                </a:solidFill>
                <a:latin typeface="Calibre Medium" panose="020B0603030202060203" pitchFamily="34" charset="0"/>
              </a:rPr>
              <a:t>Sample Matches on Perfect Match</a:t>
            </a:r>
          </a:p>
        </p:txBody>
      </p:sp>
      <p:graphicFrame>
        <p:nvGraphicFramePr>
          <p:cNvPr id="8" name="Table 7">
            <a:extLst>
              <a:ext uri="{FF2B5EF4-FFF2-40B4-BE49-F238E27FC236}">
                <a16:creationId xmlns:a16="http://schemas.microsoft.com/office/drawing/2014/main" id="{B0D309D1-D1BF-5E3C-12D3-DC68FCF117AA}"/>
              </a:ext>
            </a:extLst>
          </p:cNvPr>
          <p:cNvGraphicFramePr>
            <a:graphicFrameLocks noGrp="1"/>
          </p:cNvGraphicFramePr>
          <p:nvPr>
            <p:extLst>
              <p:ext uri="{D42A27DB-BD31-4B8C-83A1-F6EECF244321}">
                <p14:modId xmlns:p14="http://schemas.microsoft.com/office/powerpoint/2010/main" val="4141116471"/>
              </p:ext>
            </p:extLst>
          </p:nvPr>
        </p:nvGraphicFramePr>
        <p:xfrm>
          <a:off x="595851" y="1301734"/>
          <a:ext cx="8212869" cy="1724072"/>
        </p:xfrm>
        <a:graphic>
          <a:graphicData uri="http://schemas.openxmlformats.org/drawingml/2006/table">
            <a:tbl>
              <a:tblPr firstRow="1" bandRow="1">
                <a:tableStyleId>{5C22544A-7EE6-4342-B048-85BDC9FD1C3A}</a:tableStyleId>
              </a:tblPr>
              <a:tblGrid>
                <a:gridCol w="4129017">
                  <a:extLst>
                    <a:ext uri="{9D8B030D-6E8A-4147-A177-3AD203B41FA5}">
                      <a16:colId xmlns:a16="http://schemas.microsoft.com/office/drawing/2014/main" val="1713291588"/>
                    </a:ext>
                  </a:extLst>
                </a:gridCol>
                <a:gridCol w="4083852">
                  <a:extLst>
                    <a:ext uri="{9D8B030D-6E8A-4147-A177-3AD203B41FA5}">
                      <a16:colId xmlns:a16="http://schemas.microsoft.com/office/drawing/2014/main" val="3548403619"/>
                    </a:ext>
                  </a:extLst>
                </a:gridCol>
              </a:tblGrid>
              <a:tr h="259939">
                <a:tc>
                  <a:txBody>
                    <a:bodyPr/>
                    <a:lstStyle/>
                    <a:p>
                      <a:r>
                        <a:rPr lang="en-US" sz="1200" dirty="0"/>
                        <a:t>SFM Asset</a:t>
                      </a:r>
                    </a:p>
                  </a:txBody>
                  <a:tcPr/>
                </a:tc>
                <a:tc>
                  <a:txBody>
                    <a:bodyPr/>
                    <a:lstStyle/>
                    <a:p>
                      <a:r>
                        <a:rPr lang="en-US" sz="1200" dirty="0"/>
                        <a:t>IFM Asset</a:t>
                      </a:r>
                    </a:p>
                  </a:txBody>
                  <a:tcPr/>
                </a:tc>
                <a:extLst>
                  <a:ext uri="{0D108BD9-81ED-4DB2-BD59-A6C34878D82A}">
                    <a16:rowId xmlns:a16="http://schemas.microsoft.com/office/drawing/2014/main" val="2599310792"/>
                  </a:ext>
                </a:extLst>
              </a:tr>
              <a:tr h="422400">
                <a:tc>
                  <a:txBody>
                    <a:bodyPr/>
                    <a:lstStyle/>
                    <a:p>
                      <a:r>
                        <a:rPr lang="en-US" sz="1200" b="1" dirty="0">
                          <a:solidFill>
                            <a:schemeClr val="tx1"/>
                          </a:solidFill>
                        </a:rPr>
                        <a:t>Equip Type –  </a:t>
                      </a:r>
                      <a:r>
                        <a:rPr lang="en-US" sz="1200" b="0" dirty="0">
                          <a:solidFill>
                            <a:schemeClr val="tx1"/>
                          </a:solidFill>
                        </a:rPr>
                        <a:t>vav</a:t>
                      </a:r>
                    </a:p>
                  </a:txBody>
                  <a:tcPr/>
                </a:tc>
                <a:tc>
                  <a:txBody>
                    <a:bodyPr/>
                    <a:lstStyle/>
                    <a:p>
                      <a:r>
                        <a:rPr lang="en-US" sz="1200" b="1" dirty="0">
                          <a:solidFill>
                            <a:schemeClr val="tx1"/>
                          </a:solidFill>
                        </a:rPr>
                        <a:t>Position Type - </a:t>
                      </a:r>
                      <a:r>
                        <a:rPr lang="en-US" sz="1200" b="0" dirty="0">
                          <a:solidFill>
                            <a:schemeClr val="tx1"/>
                          </a:solidFill>
                        </a:rPr>
                        <a:t>Terminal Unit, VAV</a:t>
                      </a:r>
                    </a:p>
                  </a:txBody>
                  <a:tcPr/>
                </a:tc>
                <a:extLst>
                  <a:ext uri="{0D108BD9-81ED-4DB2-BD59-A6C34878D82A}">
                    <a16:rowId xmlns:a16="http://schemas.microsoft.com/office/drawing/2014/main" val="3024384071"/>
                  </a:ext>
                </a:extLst>
              </a:tr>
              <a:tr h="47871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solidFill>
                            <a:schemeClr val="tx1"/>
                          </a:solidFill>
                        </a:rPr>
                        <a:t>Nav Type (Equip) -&gt; Nav Name – </a:t>
                      </a:r>
                      <a:r>
                        <a:rPr lang="en-US" sz="1200" b="0" dirty="0">
                          <a:solidFill>
                            <a:schemeClr val="tx1"/>
                          </a:solidFill>
                        </a:rPr>
                        <a:t>VAV 0001</a:t>
                      </a:r>
                    </a:p>
                  </a:txBody>
                  <a:tcPr/>
                </a:tc>
                <a:tc>
                  <a:txBody>
                    <a:bodyPr/>
                    <a:lstStyle/>
                    <a:p>
                      <a:r>
                        <a:rPr lang="en-US" sz="1200" b="1" dirty="0">
                          <a:solidFill>
                            <a:schemeClr val="tx1"/>
                          </a:solidFill>
                        </a:rPr>
                        <a:t>Position name –  </a:t>
                      </a:r>
                      <a:r>
                        <a:rPr lang="en-US" sz="1200" b="0" dirty="0">
                          <a:solidFill>
                            <a:schemeClr val="tx1"/>
                          </a:solidFill>
                        </a:rPr>
                        <a:t>VAV-01-01</a:t>
                      </a:r>
                    </a:p>
                  </a:txBody>
                  <a:tcPr/>
                </a:tc>
                <a:extLst>
                  <a:ext uri="{0D108BD9-81ED-4DB2-BD59-A6C34878D82A}">
                    <a16:rowId xmlns:a16="http://schemas.microsoft.com/office/drawing/2014/main" val="633798941"/>
                  </a:ext>
                </a:extLst>
              </a:tr>
              <a:tr h="259939">
                <a:tc>
                  <a:txBody>
                    <a:bodyPr/>
                    <a:lstStyle/>
                    <a:p>
                      <a:r>
                        <a:rPr lang="en-US" sz="1200" b="1" dirty="0">
                          <a:solidFill>
                            <a:schemeClr val="tx1"/>
                          </a:solidFill>
                        </a:rPr>
                        <a:t>Country, State, City --- </a:t>
                      </a:r>
                      <a:r>
                        <a:rPr lang="en-US" sz="1200" b="0" dirty="0">
                          <a:solidFill>
                            <a:schemeClr val="tx1"/>
                          </a:solidFill>
                        </a:rPr>
                        <a:t>US, WA, </a:t>
                      </a:r>
                      <a:r>
                        <a:rPr lang="en-US" sz="1200" b="0" dirty="0" err="1">
                          <a:solidFill>
                            <a:schemeClr val="tx1"/>
                          </a:solidFill>
                        </a:rPr>
                        <a:t>Seatac</a:t>
                      </a:r>
                      <a:endParaRPr lang="en-US" sz="1200" b="0" dirty="0">
                        <a:solidFill>
                          <a:schemeClr val="tx1"/>
                        </a:solidFill>
                      </a:endParaRPr>
                    </a:p>
                  </a:txBody>
                  <a:tcPr/>
                </a:tc>
                <a:tc>
                  <a:txBody>
                    <a:bodyPr/>
                    <a:lstStyle/>
                    <a:p>
                      <a:r>
                        <a:rPr lang="en-US" sz="1200" b="1" dirty="0">
                          <a:solidFill>
                            <a:schemeClr val="tx1"/>
                          </a:solidFill>
                        </a:rPr>
                        <a:t>Region ---  </a:t>
                      </a:r>
                      <a:r>
                        <a:rPr lang="en-US" sz="1200" b="0" dirty="0">
                          <a:solidFill>
                            <a:schemeClr val="tx1"/>
                          </a:solidFill>
                        </a:rPr>
                        <a:t>US, WA, SEA</a:t>
                      </a:r>
                    </a:p>
                  </a:txBody>
                  <a:tcPr/>
                </a:tc>
                <a:extLst>
                  <a:ext uri="{0D108BD9-81ED-4DB2-BD59-A6C34878D82A}">
                    <a16:rowId xmlns:a16="http://schemas.microsoft.com/office/drawing/2014/main" val="4121694875"/>
                  </a:ext>
                </a:extLst>
              </a:tr>
              <a:tr h="188359">
                <a:tc>
                  <a:txBody>
                    <a:bodyPr/>
                    <a:lstStyle/>
                    <a:p>
                      <a:r>
                        <a:rPr lang="en-US" sz="1200" b="1" dirty="0">
                          <a:solidFill>
                            <a:schemeClr val="tx1"/>
                          </a:solidFill>
                        </a:rPr>
                        <a:t>Site -  </a:t>
                      </a:r>
                      <a:r>
                        <a:rPr lang="en-US" sz="1200" b="0" dirty="0">
                          <a:solidFill>
                            <a:schemeClr val="tx1"/>
                          </a:solidFill>
                        </a:rPr>
                        <a:t>Alaska Airlines Corporate HQ</a:t>
                      </a:r>
                    </a:p>
                  </a:txBody>
                  <a:tcPr/>
                </a:tc>
                <a:tc>
                  <a:txBody>
                    <a:bodyPr/>
                    <a:lstStyle/>
                    <a:p>
                      <a:r>
                        <a:rPr lang="en-US" sz="1200" b="1" dirty="0">
                          <a:solidFill>
                            <a:schemeClr val="tx1"/>
                          </a:solidFill>
                        </a:rPr>
                        <a:t>Building –  </a:t>
                      </a:r>
                      <a:r>
                        <a:rPr lang="en-US" sz="1200" b="0" dirty="0">
                          <a:solidFill>
                            <a:schemeClr val="tx1"/>
                          </a:solidFill>
                        </a:rPr>
                        <a:t>CHQ</a:t>
                      </a:r>
                    </a:p>
                  </a:txBody>
                  <a:tcPr/>
                </a:tc>
                <a:extLst>
                  <a:ext uri="{0D108BD9-81ED-4DB2-BD59-A6C34878D82A}">
                    <a16:rowId xmlns:a16="http://schemas.microsoft.com/office/drawing/2014/main" val="250341676"/>
                  </a:ext>
                </a:extLst>
              </a:tr>
            </a:tbl>
          </a:graphicData>
        </a:graphic>
      </p:graphicFrame>
      <p:graphicFrame>
        <p:nvGraphicFramePr>
          <p:cNvPr id="3" name="Table 2">
            <a:extLst>
              <a:ext uri="{FF2B5EF4-FFF2-40B4-BE49-F238E27FC236}">
                <a16:creationId xmlns:a16="http://schemas.microsoft.com/office/drawing/2014/main" id="{FFBDB95C-E35F-7077-4CEB-FDAAEB2B90A2}"/>
              </a:ext>
            </a:extLst>
          </p:cNvPr>
          <p:cNvGraphicFramePr>
            <a:graphicFrameLocks noGrp="1"/>
          </p:cNvGraphicFramePr>
          <p:nvPr>
            <p:extLst>
              <p:ext uri="{D42A27DB-BD31-4B8C-83A1-F6EECF244321}">
                <p14:modId xmlns:p14="http://schemas.microsoft.com/office/powerpoint/2010/main" val="1676665814"/>
              </p:ext>
            </p:extLst>
          </p:nvPr>
        </p:nvGraphicFramePr>
        <p:xfrm>
          <a:off x="595851" y="3711169"/>
          <a:ext cx="8212869" cy="1724072"/>
        </p:xfrm>
        <a:graphic>
          <a:graphicData uri="http://schemas.openxmlformats.org/drawingml/2006/table">
            <a:tbl>
              <a:tblPr firstRow="1" bandRow="1">
                <a:tableStyleId>{5C22544A-7EE6-4342-B048-85BDC9FD1C3A}</a:tableStyleId>
              </a:tblPr>
              <a:tblGrid>
                <a:gridCol w="4129017">
                  <a:extLst>
                    <a:ext uri="{9D8B030D-6E8A-4147-A177-3AD203B41FA5}">
                      <a16:colId xmlns:a16="http://schemas.microsoft.com/office/drawing/2014/main" val="1713291588"/>
                    </a:ext>
                  </a:extLst>
                </a:gridCol>
                <a:gridCol w="4083852">
                  <a:extLst>
                    <a:ext uri="{9D8B030D-6E8A-4147-A177-3AD203B41FA5}">
                      <a16:colId xmlns:a16="http://schemas.microsoft.com/office/drawing/2014/main" val="3548403619"/>
                    </a:ext>
                  </a:extLst>
                </a:gridCol>
              </a:tblGrid>
              <a:tr h="0">
                <a:tc>
                  <a:txBody>
                    <a:bodyPr/>
                    <a:lstStyle/>
                    <a:p>
                      <a:r>
                        <a:rPr lang="en-US" sz="1200" dirty="0"/>
                        <a:t>SFM Asset</a:t>
                      </a:r>
                    </a:p>
                  </a:txBody>
                  <a:tcPr/>
                </a:tc>
                <a:tc>
                  <a:txBody>
                    <a:bodyPr/>
                    <a:lstStyle/>
                    <a:p>
                      <a:r>
                        <a:rPr lang="en-US" sz="1200" dirty="0"/>
                        <a:t>IFM Asset</a:t>
                      </a:r>
                    </a:p>
                  </a:txBody>
                  <a:tcPr/>
                </a:tc>
                <a:extLst>
                  <a:ext uri="{0D108BD9-81ED-4DB2-BD59-A6C34878D82A}">
                    <a16:rowId xmlns:a16="http://schemas.microsoft.com/office/drawing/2014/main" val="2599310792"/>
                  </a:ext>
                </a:extLst>
              </a:tr>
              <a:tr h="422400">
                <a:tc>
                  <a:txBody>
                    <a:bodyPr/>
                    <a:lstStyle/>
                    <a:p>
                      <a:r>
                        <a:rPr lang="en-US" sz="1200" b="1" dirty="0">
                          <a:solidFill>
                            <a:schemeClr val="tx1"/>
                          </a:solidFill>
                        </a:rPr>
                        <a:t>Equip Type –  </a:t>
                      </a:r>
                      <a:r>
                        <a:rPr lang="en-US" sz="1200" b="0" dirty="0">
                          <a:solidFill>
                            <a:schemeClr val="tx1"/>
                          </a:solidFill>
                        </a:rPr>
                        <a:t>ahu</a:t>
                      </a:r>
                    </a:p>
                  </a:txBody>
                  <a:tcPr/>
                </a:tc>
                <a:tc>
                  <a:txBody>
                    <a:bodyPr/>
                    <a:lstStyle/>
                    <a:p>
                      <a:r>
                        <a:rPr lang="en-US" sz="1200" b="1" dirty="0">
                          <a:solidFill>
                            <a:schemeClr val="tx1"/>
                          </a:solidFill>
                        </a:rPr>
                        <a:t>Position Type - </a:t>
                      </a:r>
                      <a:r>
                        <a:rPr lang="en-US" sz="1200" b="0" dirty="0">
                          <a:solidFill>
                            <a:schemeClr val="tx1"/>
                          </a:solidFill>
                        </a:rPr>
                        <a:t>Air Handling Unit</a:t>
                      </a:r>
                    </a:p>
                  </a:txBody>
                  <a:tcPr/>
                </a:tc>
                <a:extLst>
                  <a:ext uri="{0D108BD9-81ED-4DB2-BD59-A6C34878D82A}">
                    <a16:rowId xmlns:a16="http://schemas.microsoft.com/office/drawing/2014/main" val="3024384071"/>
                  </a:ext>
                </a:extLst>
              </a:tr>
              <a:tr h="47871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solidFill>
                            <a:schemeClr val="tx1"/>
                          </a:solidFill>
                        </a:rPr>
                        <a:t>Nav Type (Equip) -&gt; </a:t>
                      </a:r>
                      <a:r>
                        <a:rPr lang="en-US" sz="1200" b="0" dirty="0">
                          <a:solidFill>
                            <a:schemeClr val="tx1"/>
                          </a:solidFill>
                        </a:rPr>
                        <a:t>Nav Name – AHU 02</a:t>
                      </a:r>
                    </a:p>
                  </a:txBody>
                  <a:tcPr/>
                </a:tc>
                <a:tc>
                  <a:txBody>
                    <a:bodyPr/>
                    <a:lstStyle/>
                    <a:p>
                      <a:r>
                        <a:rPr lang="en-US" sz="1200" b="1" dirty="0">
                          <a:solidFill>
                            <a:schemeClr val="tx1"/>
                          </a:solidFill>
                        </a:rPr>
                        <a:t>Position name –   </a:t>
                      </a:r>
                      <a:r>
                        <a:rPr lang="en-US" sz="1200" b="0" dirty="0">
                          <a:solidFill>
                            <a:schemeClr val="tx1"/>
                          </a:solidFill>
                        </a:rPr>
                        <a:t>AHU-R02</a:t>
                      </a:r>
                    </a:p>
                    <a:p>
                      <a:endParaRPr lang="en-US" sz="1200" b="0" dirty="0">
                        <a:solidFill>
                          <a:schemeClr val="tx1"/>
                        </a:solidFill>
                      </a:endParaRPr>
                    </a:p>
                  </a:txBody>
                  <a:tcPr/>
                </a:tc>
                <a:extLst>
                  <a:ext uri="{0D108BD9-81ED-4DB2-BD59-A6C34878D82A}">
                    <a16:rowId xmlns:a16="http://schemas.microsoft.com/office/drawing/2014/main" val="633798941"/>
                  </a:ext>
                </a:extLst>
              </a:tr>
              <a:tr h="259939">
                <a:tc>
                  <a:txBody>
                    <a:bodyPr/>
                    <a:lstStyle/>
                    <a:p>
                      <a:r>
                        <a:rPr lang="en-US" sz="1200" b="1" dirty="0">
                          <a:solidFill>
                            <a:schemeClr val="tx1"/>
                          </a:solidFill>
                        </a:rPr>
                        <a:t>Country, State, City --- </a:t>
                      </a:r>
                      <a:r>
                        <a:rPr lang="en-US" sz="1200" b="0" dirty="0">
                          <a:solidFill>
                            <a:schemeClr val="tx1"/>
                          </a:solidFill>
                        </a:rPr>
                        <a:t>US, WA, </a:t>
                      </a:r>
                      <a:r>
                        <a:rPr lang="en-US" sz="1200" b="0" dirty="0" err="1">
                          <a:solidFill>
                            <a:schemeClr val="tx1"/>
                          </a:solidFill>
                        </a:rPr>
                        <a:t>Seatac</a:t>
                      </a:r>
                      <a:r>
                        <a:rPr lang="en-US" sz="1200" b="0" dirty="0">
                          <a:solidFill>
                            <a:schemeClr val="tx1"/>
                          </a:solidFill>
                        </a:rPr>
                        <a:t>​</a:t>
                      </a:r>
                    </a:p>
                  </a:txBody>
                  <a:tcPr/>
                </a:tc>
                <a:tc>
                  <a:txBody>
                    <a:bodyPr/>
                    <a:lstStyle/>
                    <a:p>
                      <a:r>
                        <a:rPr lang="en-US" sz="1200" b="1" dirty="0">
                          <a:solidFill>
                            <a:schemeClr val="tx1"/>
                          </a:solidFill>
                        </a:rPr>
                        <a:t>Region --- </a:t>
                      </a:r>
                      <a:r>
                        <a:rPr lang="en-US" sz="1200" b="0" dirty="0">
                          <a:solidFill>
                            <a:schemeClr val="tx1"/>
                          </a:solidFill>
                        </a:rPr>
                        <a:t>US, WA, SEA</a:t>
                      </a:r>
                    </a:p>
                  </a:txBody>
                  <a:tcPr/>
                </a:tc>
                <a:extLst>
                  <a:ext uri="{0D108BD9-81ED-4DB2-BD59-A6C34878D82A}">
                    <a16:rowId xmlns:a16="http://schemas.microsoft.com/office/drawing/2014/main" val="4121694875"/>
                  </a:ext>
                </a:extLst>
              </a:tr>
              <a:tr h="259939">
                <a:tc>
                  <a:txBody>
                    <a:bodyPr/>
                    <a:lstStyle/>
                    <a:p>
                      <a:r>
                        <a:rPr lang="en-US" sz="1200" b="1" dirty="0">
                          <a:solidFill>
                            <a:schemeClr val="tx1"/>
                          </a:solidFill>
                        </a:rPr>
                        <a:t>Site - </a:t>
                      </a:r>
                      <a:r>
                        <a:rPr lang="en-US" sz="1200" b="0" dirty="0">
                          <a:solidFill>
                            <a:schemeClr val="tx1"/>
                          </a:solidFill>
                        </a:rPr>
                        <a:t>Copper River (The Hub)</a:t>
                      </a:r>
                    </a:p>
                  </a:txBody>
                  <a:tcPr/>
                </a:tc>
                <a:tc>
                  <a:txBody>
                    <a:bodyPr/>
                    <a:lstStyle/>
                    <a:p>
                      <a:r>
                        <a:rPr lang="en-US" sz="1200" b="1" dirty="0">
                          <a:solidFill>
                            <a:schemeClr val="tx1"/>
                          </a:solidFill>
                        </a:rPr>
                        <a:t>Building –  </a:t>
                      </a:r>
                      <a:r>
                        <a:rPr lang="en-US" sz="1200" b="0" dirty="0">
                          <a:solidFill>
                            <a:schemeClr val="tx1"/>
                          </a:solidFill>
                        </a:rPr>
                        <a:t>Hub 1 or Hub Garage</a:t>
                      </a:r>
                    </a:p>
                  </a:txBody>
                  <a:tcPr/>
                </a:tc>
                <a:extLst>
                  <a:ext uri="{0D108BD9-81ED-4DB2-BD59-A6C34878D82A}">
                    <a16:rowId xmlns:a16="http://schemas.microsoft.com/office/drawing/2014/main" val="250341676"/>
                  </a:ext>
                </a:extLst>
              </a:tr>
            </a:tbl>
          </a:graphicData>
        </a:graphic>
      </p:graphicFrame>
    </p:spTree>
    <p:extLst>
      <p:ext uri="{BB962C8B-B14F-4D97-AF65-F5344CB8AC3E}">
        <p14:creationId xmlns:p14="http://schemas.microsoft.com/office/powerpoint/2010/main" val="240407656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26EB30-4020-801D-AA77-5778C3342E6F}"/>
            </a:ext>
          </a:extLst>
        </p:cNvPr>
        <p:cNvGrpSpPr/>
        <p:nvPr/>
      </p:nvGrpSpPr>
      <p:grpSpPr>
        <a:xfrm>
          <a:off x="0" y="0"/>
          <a:ext cx="0" cy="0"/>
          <a:chOff x="0" y="0"/>
          <a:chExt cx="0" cy="0"/>
        </a:xfrm>
      </p:grpSpPr>
      <p:sp>
        <p:nvSpPr>
          <p:cNvPr id="9" name="Rectangle: Rounded Corners 8">
            <a:extLst>
              <a:ext uri="{FF2B5EF4-FFF2-40B4-BE49-F238E27FC236}">
                <a16:creationId xmlns:a16="http://schemas.microsoft.com/office/drawing/2014/main" id="{3BEEC566-CF91-5188-A7A0-38AFF0AC7718}"/>
              </a:ext>
            </a:extLst>
          </p:cNvPr>
          <p:cNvSpPr/>
          <p:nvPr/>
        </p:nvSpPr>
        <p:spPr>
          <a:xfrm>
            <a:off x="469252" y="1362224"/>
            <a:ext cx="3214895" cy="413355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b="1" dirty="0">
                <a:solidFill>
                  <a:schemeClr val="bg2"/>
                </a:solidFill>
                <a:latin typeface="Amasis MT Pro Black" panose="020F0502020204030204" pitchFamily="18" charset="0"/>
              </a:rPr>
              <a:t>Approach </a:t>
            </a:r>
          </a:p>
          <a:p>
            <a:pPr marL="285750" indent="-285750">
              <a:buFont typeface="Arial" panose="020B0604020202020204" pitchFamily="34" charset="0"/>
              <a:buChar char="•"/>
            </a:pPr>
            <a:endParaRPr lang="en-US" sz="1000" dirty="0"/>
          </a:p>
          <a:p>
            <a:pPr marL="285750" indent="-285750">
              <a:buFont typeface="Arial" panose="020B0604020202020204" pitchFamily="34" charset="0"/>
              <a:buChar char="•"/>
            </a:pPr>
            <a:r>
              <a:rPr lang="en-US" sz="1600" dirty="0"/>
              <a:t>Asset Type/ Position Type</a:t>
            </a:r>
          </a:p>
          <a:p>
            <a:pPr marL="285750" indent="-285750">
              <a:buFont typeface="Arial" panose="020B0604020202020204" pitchFamily="34" charset="0"/>
              <a:buChar char="•"/>
            </a:pPr>
            <a:r>
              <a:rPr lang="en-US" sz="1600" dirty="0"/>
              <a:t>Asset Name</a:t>
            </a:r>
          </a:p>
          <a:p>
            <a:pPr marL="285750" indent="-285750">
              <a:buFont typeface="Arial" panose="020B0604020202020204" pitchFamily="34" charset="0"/>
              <a:buChar char="•"/>
            </a:pPr>
            <a:r>
              <a:rPr lang="en-US" sz="1600" dirty="0"/>
              <a:t>Asset Location</a:t>
            </a:r>
          </a:p>
          <a:p>
            <a:pPr marL="742950" lvl="1" indent="-285750">
              <a:buFont typeface="Arial" panose="020B0604020202020204" pitchFamily="34" charset="0"/>
              <a:buChar char="•"/>
            </a:pPr>
            <a:r>
              <a:rPr lang="en-US" sz="1600" dirty="0"/>
              <a:t>Country</a:t>
            </a:r>
          </a:p>
          <a:p>
            <a:pPr marL="742950" lvl="1" indent="-285750">
              <a:buFont typeface="Arial" panose="020B0604020202020204" pitchFamily="34" charset="0"/>
              <a:buChar char="•"/>
            </a:pPr>
            <a:r>
              <a:rPr lang="en-US" sz="1600" dirty="0"/>
              <a:t>State</a:t>
            </a:r>
          </a:p>
          <a:p>
            <a:pPr marL="742950" lvl="1" indent="-285750">
              <a:buFont typeface="Arial" panose="020B0604020202020204" pitchFamily="34" charset="0"/>
              <a:buChar char="•"/>
            </a:pPr>
            <a:r>
              <a:rPr lang="en-US" sz="1600" dirty="0"/>
              <a:t>City</a:t>
            </a:r>
          </a:p>
          <a:p>
            <a:pPr marL="742950" lvl="1" indent="-285750">
              <a:buFont typeface="Arial" panose="020B0604020202020204" pitchFamily="34" charset="0"/>
              <a:buChar char="•"/>
            </a:pPr>
            <a:r>
              <a:rPr lang="en-US" sz="1600" dirty="0"/>
              <a:t>Region</a:t>
            </a:r>
          </a:p>
          <a:p>
            <a:pPr marL="742950" lvl="1" indent="-285750">
              <a:buFont typeface="Arial" panose="020B0604020202020204" pitchFamily="34" charset="0"/>
              <a:buChar char="•"/>
            </a:pPr>
            <a:r>
              <a:rPr lang="en-US" sz="1600" dirty="0"/>
              <a:t>Building/Site</a:t>
            </a:r>
          </a:p>
          <a:p>
            <a:pPr marL="285750" indent="-285750">
              <a:buFont typeface="Arial" panose="020B0604020202020204" pitchFamily="34" charset="0"/>
              <a:buChar char="•"/>
            </a:pPr>
            <a:endParaRPr lang="en-US" dirty="0"/>
          </a:p>
        </p:txBody>
      </p:sp>
      <p:sp>
        <p:nvSpPr>
          <p:cNvPr id="3" name="TextBox 2">
            <a:extLst>
              <a:ext uri="{FF2B5EF4-FFF2-40B4-BE49-F238E27FC236}">
                <a16:creationId xmlns:a16="http://schemas.microsoft.com/office/drawing/2014/main" id="{FDE586DD-DEF4-7C5B-234C-C01966933138}"/>
              </a:ext>
            </a:extLst>
          </p:cNvPr>
          <p:cNvSpPr txBox="1"/>
          <p:nvPr/>
        </p:nvSpPr>
        <p:spPr>
          <a:xfrm>
            <a:off x="393291" y="715556"/>
            <a:ext cx="4254410" cy="369332"/>
          </a:xfrm>
          <a:prstGeom prst="rect">
            <a:avLst/>
          </a:prstGeom>
          <a:noFill/>
        </p:spPr>
        <p:txBody>
          <a:bodyPr wrap="square" rtlCol="0">
            <a:spAutoFit/>
          </a:bodyPr>
          <a:lstStyle/>
          <a:p>
            <a:r>
              <a:rPr lang="en-US" b="1" dirty="0">
                <a:solidFill>
                  <a:schemeClr val="accent6">
                    <a:lumMod val="50000"/>
                  </a:schemeClr>
                </a:solidFill>
                <a:latin typeface="Calibre Medium" panose="020B0603030202060203" pitchFamily="34" charset="0"/>
              </a:rPr>
              <a:t>Approach for Partial Match Condition</a:t>
            </a:r>
          </a:p>
        </p:txBody>
      </p:sp>
      <p:sp>
        <p:nvSpPr>
          <p:cNvPr id="4" name="TextBox 3">
            <a:extLst>
              <a:ext uri="{FF2B5EF4-FFF2-40B4-BE49-F238E27FC236}">
                <a16:creationId xmlns:a16="http://schemas.microsoft.com/office/drawing/2014/main" id="{5CEF0B69-1DBB-731D-251F-1AD9BE73099D}"/>
              </a:ext>
            </a:extLst>
          </p:cNvPr>
          <p:cNvSpPr txBox="1"/>
          <p:nvPr/>
        </p:nvSpPr>
        <p:spPr>
          <a:xfrm>
            <a:off x="3903406" y="1362224"/>
            <a:ext cx="7951339" cy="3231654"/>
          </a:xfrm>
          <a:prstGeom prst="rect">
            <a:avLst/>
          </a:prstGeom>
          <a:noFill/>
        </p:spPr>
        <p:txBody>
          <a:bodyPr wrap="square">
            <a:spAutoFit/>
          </a:bodyPr>
          <a:lstStyle/>
          <a:p>
            <a:r>
              <a:rPr lang="en-US" sz="1200" b="1" i="1" dirty="0">
                <a:solidFill>
                  <a:schemeClr val="accent6">
                    <a:lumMod val="50000"/>
                  </a:schemeClr>
                </a:solidFill>
              </a:rPr>
              <a:t>Conditions –</a:t>
            </a:r>
          </a:p>
          <a:p>
            <a:endParaRPr lang="en-US" sz="1200" b="1" i="1" dirty="0">
              <a:solidFill>
                <a:schemeClr val="accent6">
                  <a:lumMod val="50000"/>
                </a:schemeClr>
              </a:solidFill>
            </a:endParaRPr>
          </a:p>
          <a:p>
            <a:r>
              <a:rPr lang="en-US" sz="1200" dirty="0"/>
              <a:t>	The Equipment type in SFM should match perfectly with Position Type in IFM                                    OR</a:t>
            </a:r>
          </a:p>
          <a:p>
            <a:r>
              <a:rPr lang="en-US" sz="1200" dirty="0"/>
              <a:t>	The Equipment Type in SFM is Blank/ Other/ Null			                    OR</a:t>
            </a:r>
          </a:p>
          <a:p>
            <a:r>
              <a:rPr lang="en-US" sz="1200" dirty="0"/>
              <a:t>	The Equipment Type in SFM matches with Position Type in IFM one step up level	                    OR</a:t>
            </a:r>
          </a:p>
          <a:p>
            <a:r>
              <a:rPr lang="en-US" sz="1200" dirty="0"/>
              <a:t>	The Position Type in IFM Hub is undefined (E1090.06, E1090.06.01)		                    OR</a:t>
            </a:r>
          </a:p>
          <a:p>
            <a:r>
              <a:rPr lang="en-US" sz="1200" dirty="0"/>
              <a:t>	The Equipment Type in SFM matched (90%) to the equipment part description in IFM</a:t>
            </a:r>
          </a:p>
          <a:p>
            <a:endParaRPr lang="en-US" sz="1200" dirty="0"/>
          </a:p>
          <a:p>
            <a:r>
              <a:rPr lang="en-US" sz="1200" dirty="0"/>
              <a:t>AND</a:t>
            </a:r>
          </a:p>
          <a:p>
            <a:r>
              <a:rPr lang="en-US" sz="1200" dirty="0"/>
              <a:t>	 The </a:t>
            </a:r>
            <a:r>
              <a:rPr lang="en-US" sz="1200" dirty="0" err="1"/>
              <a:t>nav_type</a:t>
            </a:r>
            <a:r>
              <a:rPr lang="en-US" sz="1200" dirty="0"/>
              <a:t> (equip)-&gt; </a:t>
            </a:r>
            <a:r>
              <a:rPr lang="en-US" sz="1200" dirty="0" err="1"/>
              <a:t>nave_name</a:t>
            </a:r>
            <a:r>
              <a:rPr lang="en-US" sz="1200" dirty="0"/>
              <a:t> in SFM matches (50%) with Position Name in IFM HUB          OR</a:t>
            </a:r>
          </a:p>
          <a:p>
            <a:r>
              <a:rPr lang="en-US" sz="1200" dirty="0"/>
              <a:t>	 The </a:t>
            </a:r>
            <a:r>
              <a:rPr lang="en-US" sz="1200" dirty="0" err="1"/>
              <a:t>nav_type</a:t>
            </a:r>
            <a:r>
              <a:rPr lang="en-US" sz="1200" dirty="0"/>
              <a:t> (equip)-&gt; </a:t>
            </a:r>
            <a:r>
              <a:rPr lang="en-US" sz="1200" dirty="0" err="1"/>
              <a:t>nave_name</a:t>
            </a:r>
            <a:r>
              <a:rPr lang="en-US" sz="1200" dirty="0"/>
              <a:t> in SFM matches (50%) with Asset Name in IFM HUB</a:t>
            </a:r>
          </a:p>
          <a:p>
            <a:r>
              <a:rPr lang="en-US" sz="1200" dirty="0"/>
              <a:t>	</a:t>
            </a:r>
          </a:p>
          <a:p>
            <a:r>
              <a:rPr lang="en-US" sz="1200" dirty="0"/>
              <a:t>AND</a:t>
            </a:r>
          </a:p>
          <a:p>
            <a:r>
              <a:rPr lang="en-US" sz="1200" dirty="0"/>
              <a:t>	The combination of Country, State, City in SFM matches (90%) with Region Name in IFM</a:t>
            </a:r>
          </a:p>
          <a:p>
            <a:endParaRPr lang="en-US" sz="1200" dirty="0"/>
          </a:p>
          <a:p>
            <a:r>
              <a:rPr lang="en-US" sz="1200" dirty="0"/>
              <a:t>AND</a:t>
            </a:r>
          </a:p>
          <a:p>
            <a:r>
              <a:rPr lang="en-US" sz="1200" dirty="0"/>
              <a:t>	The Site name in SFM matches (50%) with Building Name in IFM Hub</a:t>
            </a:r>
          </a:p>
        </p:txBody>
      </p:sp>
    </p:spTree>
    <p:extLst>
      <p:ext uri="{BB962C8B-B14F-4D97-AF65-F5344CB8AC3E}">
        <p14:creationId xmlns:p14="http://schemas.microsoft.com/office/powerpoint/2010/main" val="306565473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62E8E8-5E62-B6F1-9C2F-8343E3AECB5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CDC5AD2-F322-D868-E641-CA88DCF69093}"/>
              </a:ext>
            </a:extLst>
          </p:cNvPr>
          <p:cNvSpPr txBox="1"/>
          <p:nvPr/>
        </p:nvSpPr>
        <p:spPr>
          <a:xfrm>
            <a:off x="514735" y="720657"/>
            <a:ext cx="6361209" cy="369332"/>
          </a:xfrm>
          <a:prstGeom prst="rect">
            <a:avLst/>
          </a:prstGeom>
          <a:noFill/>
        </p:spPr>
        <p:txBody>
          <a:bodyPr wrap="square" rtlCol="0">
            <a:spAutoFit/>
          </a:bodyPr>
          <a:lstStyle/>
          <a:p>
            <a:r>
              <a:rPr lang="en-US" b="1" dirty="0">
                <a:solidFill>
                  <a:schemeClr val="accent6">
                    <a:lumMod val="50000"/>
                  </a:schemeClr>
                </a:solidFill>
                <a:latin typeface="Calibre Medium" panose="020B0603030202060203" pitchFamily="34" charset="0"/>
              </a:rPr>
              <a:t>Sample Matches on Partial Match</a:t>
            </a:r>
          </a:p>
        </p:txBody>
      </p:sp>
      <p:graphicFrame>
        <p:nvGraphicFramePr>
          <p:cNvPr id="8" name="Table 7">
            <a:extLst>
              <a:ext uri="{FF2B5EF4-FFF2-40B4-BE49-F238E27FC236}">
                <a16:creationId xmlns:a16="http://schemas.microsoft.com/office/drawing/2014/main" id="{907DACB8-502B-00FF-B5A2-AD27172F61CE}"/>
              </a:ext>
            </a:extLst>
          </p:cNvPr>
          <p:cNvGraphicFramePr>
            <a:graphicFrameLocks noGrp="1"/>
          </p:cNvGraphicFramePr>
          <p:nvPr>
            <p:extLst>
              <p:ext uri="{D42A27DB-BD31-4B8C-83A1-F6EECF244321}">
                <p14:modId xmlns:p14="http://schemas.microsoft.com/office/powerpoint/2010/main" val="1702090577"/>
              </p:ext>
            </p:extLst>
          </p:nvPr>
        </p:nvGraphicFramePr>
        <p:xfrm>
          <a:off x="595851" y="1301734"/>
          <a:ext cx="8212869" cy="1724072"/>
        </p:xfrm>
        <a:graphic>
          <a:graphicData uri="http://schemas.openxmlformats.org/drawingml/2006/table">
            <a:tbl>
              <a:tblPr firstRow="1" bandRow="1">
                <a:tableStyleId>{5C22544A-7EE6-4342-B048-85BDC9FD1C3A}</a:tableStyleId>
              </a:tblPr>
              <a:tblGrid>
                <a:gridCol w="4129017">
                  <a:extLst>
                    <a:ext uri="{9D8B030D-6E8A-4147-A177-3AD203B41FA5}">
                      <a16:colId xmlns:a16="http://schemas.microsoft.com/office/drawing/2014/main" val="1713291588"/>
                    </a:ext>
                  </a:extLst>
                </a:gridCol>
                <a:gridCol w="4083852">
                  <a:extLst>
                    <a:ext uri="{9D8B030D-6E8A-4147-A177-3AD203B41FA5}">
                      <a16:colId xmlns:a16="http://schemas.microsoft.com/office/drawing/2014/main" val="3548403619"/>
                    </a:ext>
                  </a:extLst>
                </a:gridCol>
              </a:tblGrid>
              <a:tr h="259939">
                <a:tc>
                  <a:txBody>
                    <a:bodyPr/>
                    <a:lstStyle/>
                    <a:p>
                      <a:r>
                        <a:rPr lang="en-US" sz="1200" dirty="0"/>
                        <a:t>SFM Asset</a:t>
                      </a:r>
                    </a:p>
                  </a:txBody>
                  <a:tcPr/>
                </a:tc>
                <a:tc>
                  <a:txBody>
                    <a:bodyPr/>
                    <a:lstStyle/>
                    <a:p>
                      <a:r>
                        <a:rPr lang="en-US" sz="1200" dirty="0"/>
                        <a:t>IFM Asset</a:t>
                      </a:r>
                    </a:p>
                  </a:txBody>
                  <a:tcPr/>
                </a:tc>
                <a:extLst>
                  <a:ext uri="{0D108BD9-81ED-4DB2-BD59-A6C34878D82A}">
                    <a16:rowId xmlns:a16="http://schemas.microsoft.com/office/drawing/2014/main" val="2599310792"/>
                  </a:ext>
                </a:extLst>
              </a:tr>
              <a:tr h="422400">
                <a:tc>
                  <a:txBody>
                    <a:bodyPr/>
                    <a:lstStyle/>
                    <a:p>
                      <a:r>
                        <a:rPr lang="en-US" sz="1200" b="1" dirty="0">
                          <a:solidFill>
                            <a:schemeClr val="tx1"/>
                          </a:solidFill>
                        </a:rPr>
                        <a:t>Equip Type –  </a:t>
                      </a:r>
                      <a:r>
                        <a:rPr lang="en-US" sz="1200" b="0" dirty="0">
                          <a:solidFill>
                            <a:schemeClr val="tx1"/>
                          </a:solidFill>
                        </a:rPr>
                        <a:t>ahu</a:t>
                      </a:r>
                    </a:p>
                  </a:txBody>
                  <a:tcPr/>
                </a:tc>
                <a:tc>
                  <a:txBody>
                    <a:bodyPr/>
                    <a:lstStyle/>
                    <a:p>
                      <a:r>
                        <a:rPr lang="en-US" sz="1200" b="1" dirty="0">
                          <a:solidFill>
                            <a:schemeClr val="tx1"/>
                          </a:solidFill>
                        </a:rPr>
                        <a:t>Position Type – </a:t>
                      </a:r>
                      <a:r>
                        <a:rPr lang="en-US" sz="1200" b="0" dirty="0">
                          <a:solidFill>
                            <a:schemeClr val="tx1"/>
                          </a:solidFill>
                        </a:rPr>
                        <a:t>Air Handling Unit</a:t>
                      </a:r>
                    </a:p>
                  </a:txBody>
                  <a:tcPr/>
                </a:tc>
                <a:extLst>
                  <a:ext uri="{0D108BD9-81ED-4DB2-BD59-A6C34878D82A}">
                    <a16:rowId xmlns:a16="http://schemas.microsoft.com/office/drawing/2014/main" val="3024384071"/>
                  </a:ext>
                </a:extLst>
              </a:tr>
              <a:tr h="47871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solidFill>
                            <a:schemeClr val="tx1"/>
                          </a:solidFill>
                        </a:rPr>
                        <a:t>Nav Type (Equip) -&gt; Nav Name – </a:t>
                      </a:r>
                      <a:r>
                        <a:rPr lang="en-US" sz="1200" b="0" dirty="0">
                          <a:solidFill>
                            <a:schemeClr val="tx1"/>
                          </a:solidFill>
                        </a:rPr>
                        <a:t>AHU 01</a:t>
                      </a:r>
                    </a:p>
                  </a:txBody>
                  <a:tcPr/>
                </a:tc>
                <a:tc>
                  <a:txBody>
                    <a:bodyPr/>
                    <a:lstStyle/>
                    <a:p>
                      <a:r>
                        <a:rPr lang="en-US" sz="1200" b="1" dirty="0">
                          <a:solidFill>
                            <a:schemeClr val="tx1"/>
                          </a:solidFill>
                        </a:rPr>
                        <a:t>Position name –  </a:t>
                      </a:r>
                      <a:r>
                        <a:rPr lang="en-US" sz="1200" b="0" dirty="0">
                          <a:solidFill>
                            <a:schemeClr val="tx1"/>
                          </a:solidFill>
                        </a:rPr>
                        <a:t>AHU-1-F1 or AHU-1-F2</a:t>
                      </a:r>
                    </a:p>
                  </a:txBody>
                  <a:tcPr/>
                </a:tc>
                <a:extLst>
                  <a:ext uri="{0D108BD9-81ED-4DB2-BD59-A6C34878D82A}">
                    <a16:rowId xmlns:a16="http://schemas.microsoft.com/office/drawing/2014/main" val="633798941"/>
                  </a:ext>
                </a:extLst>
              </a:tr>
              <a:tr h="259939">
                <a:tc>
                  <a:txBody>
                    <a:bodyPr/>
                    <a:lstStyle/>
                    <a:p>
                      <a:r>
                        <a:rPr lang="en-US" sz="1200" b="1" dirty="0">
                          <a:solidFill>
                            <a:schemeClr val="tx1"/>
                          </a:solidFill>
                        </a:rPr>
                        <a:t>Country, State, City --- </a:t>
                      </a:r>
                      <a:r>
                        <a:rPr lang="en-US" sz="1200" b="0" dirty="0">
                          <a:solidFill>
                            <a:schemeClr val="tx1"/>
                          </a:solidFill>
                        </a:rPr>
                        <a:t>US, WA, </a:t>
                      </a:r>
                      <a:r>
                        <a:rPr lang="en-US" sz="1200" b="0" dirty="0" err="1">
                          <a:solidFill>
                            <a:schemeClr val="tx1"/>
                          </a:solidFill>
                        </a:rPr>
                        <a:t>Seatac</a:t>
                      </a:r>
                      <a:endParaRPr lang="en-US" sz="1200" b="0" dirty="0">
                        <a:solidFill>
                          <a:schemeClr val="tx1"/>
                        </a:solidFill>
                      </a:endParaRPr>
                    </a:p>
                  </a:txBody>
                  <a:tcPr/>
                </a:tc>
                <a:tc>
                  <a:txBody>
                    <a:bodyPr/>
                    <a:lstStyle/>
                    <a:p>
                      <a:r>
                        <a:rPr lang="en-US" sz="1200" b="1" dirty="0">
                          <a:solidFill>
                            <a:schemeClr val="tx1"/>
                          </a:solidFill>
                        </a:rPr>
                        <a:t>Region ---  </a:t>
                      </a:r>
                      <a:r>
                        <a:rPr lang="en-US" sz="1200" b="0" dirty="0">
                          <a:solidFill>
                            <a:schemeClr val="tx1"/>
                          </a:solidFill>
                        </a:rPr>
                        <a:t>US, WA, SEA</a:t>
                      </a:r>
                    </a:p>
                  </a:txBody>
                  <a:tcPr/>
                </a:tc>
                <a:extLst>
                  <a:ext uri="{0D108BD9-81ED-4DB2-BD59-A6C34878D82A}">
                    <a16:rowId xmlns:a16="http://schemas.microsoft.com/office/drawing/2014/main" val="4121694875"/>
                  </a:ext>
                </a:extLst>
              </a:tr>
              <a:tr h="188359">
                <a:tc>
                  <a:txBody>
                    <a:bodyPr/>
                    <a:lstStyle/>
                    <a:p>
                      <a:r>
                        <a:rPr lang="en-US" sz="1200" b="1" dirty="0">
                          <a:solidFill>
                            <a:schemeClr val="tx1"/>
                          </a:solidFill>
                        </a:rPr>
                        <a:t>Site -  </a:t>
                      </a:r>
                      <a:r>
                        <a:rPr lang="en-US" sz="1200" b="0" dirty="0">
                          <a:solidFill>
                            <a:schemeClr val="tx1"/>
                          </a:solidFill>
                        </a:rPr>
                        <a:t>Alaska Airlines Corporate HQ</a:t>
                      </a:r>
                    </a:p>
                  </a:txBody>
                  <a:tcPr/>
                </a:tc>
                <a:tc>
                  <a:txBody>
                    <a:bodyPr/>
                    <a:lstStyle/>
                    <a:p>
                      <a:r>
                        <a:rPr lang="en-US" sz="1200" b="1" dirty="0">
                          <a:solidFill>
                            <a:schemeClr val="tx1"/>
                          </a:solidFill>
                        </a:rPr>
                        <a:t>Building –  </a:t>
                      </a:r>
                      <a:r>
                        <a:rPr lang="en-US" sz="1200" b="0" dirty="0">
                          <a:solidFill>
                            <a:schemeClr val="tx1"/>
                          </a:solidFill>
                        </a:rPr>
                        <a:t>CHQ</a:t>
                      </a:r>
                    </a:p>
                  </a:txBody>
                  <a:tcPr/>
                </a:tc>
                <a:extLst>
                  <a:ext uri="{0D108BD9-81ED-4DB2-BD59-A6C34878D82A}">
                    <a16:rowId xmlns:a16="http://schemas.microsoft.com/office/drawing/2014/main" val="250341676"/>
                  </a:ext>
                </a:extLst>
              </a:tr>
            </a:tbl>
          </a:graphicData>
        </a:graphic>
      </p:graphicFrame>
      <p:graphicFrame>
        <p:nvGraphicFramePr>
          <p:cNvPr id="3" name="Table 2">
            <a:extLst>
              <a:ext uri="{FF2B5EF4-FFF2-40B4-BE49-F238E27FC236}">
                <a16:creationId xmlns:a16="http://schemas.microsoft.com/office/drawing/2014/main" id="{FB135694-8C5C-6904-377F-75E706281CF6}"/>
              </a:ext>
            </a:extLst>
          </p:cNvPr>
          <p:cNvGraphicFramePr>
            <a:graphicFrameLocks noGrp="1"/>
          </p:cNvGraphicFramePr>
          <p:nvPr>
            <p:extLst>
              <p:ext uri="{D42A27DB-BD31-4B8C-83A1-F6EECF244321}">
                <p14:modId xmlns:p14="http://schemas.microsoft.com/office/powerpoint/2010/main" val="3319317501"/>
              </p:ext>
            </p:extLst>
          </p:nvPr>
        </p:nvGraphicFramePr>
        <p:xfrm>
          <a:off x="595851" y="3711169"/>
          <a:ext cx="8212869" cy="1724072"/>
        </p:xfrm>
        <a:graphic>
          <a:graphicData uri="http://schemas.openxmlformats.org/drawingml/2006/table">
            <a:tbl>
              <a:tblPr firstRow="1" bandRow="1">
                <a:tableStyleId>{5C22544A-7EE6-4342-B048-85BDC9FD1C3A}</a:tableStyleId>
              </a:tblPr>
              <a:tblGrid>
                <a:gridCol w="4129017">
                  <a:extLst>
                    <a:ext uri="{9D8B030D-6E8A-4147-A177-3AD203B41FA5}">
                      <a16:colId xmlns:a16="http://schemas.microsoft.com/office/drawing/2014/main" val="1713291588"/>
                    </a:ext>
                  </a:extLst>
                </a:gridCol>
                <a:gridCol w="4083852">
                  <a:extLst>
                    <a:ext uri="{9D8B030D-6E8A-4147-A177-3AD203B41FA5}">
                      <a16:colId xmlns:a16="http://schemas.microsoft.com/office/drawing/2014/main" val="3548403619"/>
                    </a:ext>
                  </a:extLst>
                </a:gridCol>
              </a:tblGrid>
              <a:tr h="0">
                <a:tc>
                  <a:txBody>
                    <a:bodyPr/>
                    <a:lstStyle/>
                    <a:p>
                      <a:r>
                        <a:rPr lang="en-US" sz="1200" dirty="0"/>
                        <a:t>SFM Asset</a:t>
                      </a:r>
                    </a:p>
                  </a:txBody>
                  <a:tcPr/>
                </a:tc>
                <a:tc>
                  <a:txBody>
                    <a:bodyPr/>
                    <a:lstStyle/>
                    <a:p>
                      <a:r>
                        <a:rPr lang="en-US" sz="1200" dirty="0"/>
                        <a:t>IFM Asset</a:t>
                      </a:r>
                    </a:p>
                  </a:txBody>
                  <a:tcPr/>
                </a:tc>
                <a:extLst>
                  <a:ext uri="{0D108BD9-81ED-4DB2-BD59-A6C34878D82A}">
                    <a16:rowId xmlns:a16="http://schemas.microsoft.com/office/drawing/2014/main" val="2599310792"/>
                  </a:ext>
                </a:extLst>
              </a:tr>
              <a:tr h="422400">
                <a:tc>
                  <a:txBody>
                    <a:bodyPr/>
                    <a:lstStyle/>
                    <a:p>
                      <a:r>
                        <a:rPr lang="en-US" sz="1200" b="1" dirty="0">
                          <a:solidFill>
                            <a:schemeClr val="tx1"/>
                          </a:solidFill>
                        </a:rPr>
                        <a:t>Equip Type –  </a:t>
                      </a:r>
                      <a:r>
                        <a:rPr lang="en-US" sz="1200" b="0" dirty="0">
                          <a:solidFill>
                            <a:schemeClr val="tx1"/>
                          </a:solidFill>
                        </a:rPr>
                        <a:t>vav</a:t>
                      </a:r>
                    </a:p>
                  </a:txBody>
                  <a:tcPr/>
                </a:tc>
                <a:tc>
                  <a:txBody>
                    <a:bodyPr/>
                    <a:lstStyle/>
                    <a:p>
                      <a:r>
                        <a:rPr lang="en-US" sz="1200" b="1" dirty="0">
                          <a:solidFill>
                            <a:schemeClr val="tx1"/>
                          </a:solidFill>
                        </a:rPr>
                        <a:t>Position Type - </a:t>
                      </a:r>
                      <a:r>
                        <a:rPr lang="en-US" sz="1200" b="0" dirty="0">
                          <a:solidFill>
                            <a:schemeClr val="tx1"/>
                          </a:solidFill>
                        </a:rPr>
                        <a:t> Terminal Unit, VAV</a:t>
                      </a:r>
                    </a:p>
                  </a:txBody>
                  <a:tcPr/>
                </a:tc>
                <a:extLst>
                  <a:ext uri="{0D108BD9-81ED-4DB2-BD59-A6C34878D82A}">
                    <a16:rowId xmlns:a16="http://schemas.microsoft.com/office/drawing/2014/main" val="3024384071"/>
                  </a:ext>
                </a:extLst>
              </a:tr>
              <a:tr h="47871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solidFill>
                            <a:schemeClr val="tx1"/>
                          </a:solidFill>
                        </a:rPr>
                        <a:t>Nav Type (Equip) -&gt; </a:t>
                      </a:r>
                      <a:r>
                        <a:rPr lang="en-US" sz="1200" b="0" dirty="0">
                          <a:solidFill>
                            <a:schemeClr val="tx1"/>
                          </a:solidFill>
                        </a:rPr>
                        <a:t>Nav Name – VAV 0001</a:t>
                      </a:r>
                    </a:p>
                  </a:txBody>
                  <a:tcPr/>
                </a:tc>
                <a:tc>
                  <a:txBody>
                    <a:bodyPr/>
                    <a:lstStyle/>
                    <a:p>
                      <a:r>
                        <a:rPr lang="en-US" sz="1200" b="1" dirty="0">
                          <a:solidFill>
                            <a:schemeClr val="tx1"/>
                          </a:solidFill>
                        </a:rPr>
                        <a:t>Position name –   </a:t>
                      </a:r>
                      <a:r>
                        <a:rPr lang="en-US" sz="1200" b="0" dirty="0">
                          <a:solidFill>
                            <a:schemeClr val="tx1"/>
                          </a:solidFill>
                        </a:rPr>
                        <a:t>VAV-01-01 or VAV-01-02</a:t>
                      </a:r>
                    </a:p>
                    <a:p>
                      <a:endParaRPr lang="en-US" sz="1200" b="0" dirty="0">
                        <a:solidFill>
                          <a:schemeClr val="tx1"/>
                        </a:solidFill>
                      </a:endParaRPr>
                    </a:p>
                  </a:txBody>
                  <a:tcPr/>
                </a:tc>
                <a:extLst>
                  <a:ext uri="{0D108BD9-81ED-4DB2-BD59-A6C34878D82A}">
                    <a16:rowId xmlns:a16="http://schemas.microsoft.com/office/drawing/2014/main" val="633798941"/>
                  </a:ext>
                </a:extLst>
              </a:tr>
              <a:tr h="259939">
                <a:tc>
                  <a:txBody>
                    <a:bodyPr/>
                    <a:lstStyle/>
                    <a:p>
                      <a:r>
                        <a:rPr lang="en-US" sz="1200" b="1" dirty="0">
                          <a:solidFill>
                            <a:schemeClr val="tx1"/>
                          </a:solidFill>
                        </a:rPr>
                        <a:t>Country, State, City --- </a:t>
                      </a:r>
                      <a:r>
                        <a:rPr lang="en-US" sz="1200" b="0" dirty="0">
                          <a:solidFill>
                            <a:schemeClr val="tx1"/>
                          </a:solidFill>
                        </a:rPr>
                        <a:t>US, WA, </a:t>
                      </a:r>
                      <a:r>
                        <a:rPr lang="en-US" sz="1200" b="0" dirty="0" err="1">
                          <a:solidFill>
                            <a:schemeClr val="tx1"/>
                          </a:solidFill>
                        </a:rPr>
                        <a:t>Seatac</a:t>
                      </a:r>
                      <a:r>
                        <a:rPr lang="en-US" sz="1200" b="0" dirty="0">
                          <a:solidFill>
                            <a:schemeClr val="tx1"/>
                          </a:solidFill>
                        </a:rPr>
                        <a:t>​</a:t>
                      </a:r>
                    </a:p>
                  </a:txBody>
                  <a:tcPr/>
                </a:tc>
                <a:tc>
                  <a:txBody>
                    <a:bodyPr/>
                    <a:lstStyle/>
                    <a:p>
                      <a:r>
                        <a:rPr lang="en-US" sz="1200" b="1" dirty="0">
                          <a:solidFill>
                            <a:schemeClr val="tx1"/>
                          </a:solidFill>
                        </a:rPr>
                        <a:t>Region --- </a:t>
                      </a:r>
                      <a:r>
                        <a:rPr lang="en-US" sz="1200" b="0" dirty="0">
                          <a:solidFill>
                            <a:schemeClr val="tx1"/>
                          </a:solidFill>
                        </a:rPr>
                        <a:t>US, WA, SEA</a:t>
                      </a:r>
                    </a:p>
                  </a:txBody>
                  <a:tcPr/>
                </a:tc>
                <a:extLst>
                  <a:ext uri="{0D108BD9-81ED-4DB2-BD59-A6C34878D82A}">
                    <a16:rowId xmlns:a16="http://schemas.microsoft.com/office/drawing/2014/main" val="4121694875"/>
                  </a:ext>
                </a:extLst>
              </a:tr>
              <a:tr h="259939">
                <a:tc>
                  <a:txBody>
                    <a:bodyPr/>
                    <a:lstStyle/>
                    <a:p>
                      <a:r>
                        <a:rPr lang="en-US" sz="1200" b="1" dirty="0">
                          <a:solidFill>
                            <a:schemeClr val="tx1"/>
                          </a:solidFill>
                        </a:rPr>
                        <a:t>Site - </a:t>
                      </a:r>
                      <a:r>
                        <a:rPr lang="en-US" sz="1200" b="0" dirty="0">
                          <a:solidFill>
                            <a:schemeClr val="tx1"/>
                          </a:solidFill>
                        </a:rPr>
                        <a:t>GO</a:t>
                      </a:r>
                    </a:p>
                  </a:txBody>
                  <a:tcPr/>
                </a:tc>
                <a:tc>
                  <a:txBody>
                    <a:bodyPr/>
                    <a:lstStyle/>
                    <a:p>
                      <a:r>
                        <a:rPr lang="en-US" sz="1200" b="1" dirty="0">
                          <a:solidFill>
                            <a:schemeClr val="tx1"/>
                          </a:solidFill>
                        </a:rPr>
                        <a:t>Building –  </a:t>
                      </a:r>
                      <a:r>
                        <a:rPr lang="en-US" sz="1200" b="0" dirty="0">
                          <a:solidFill>
                            <a:schemeClr val="tx1"/>
                          </a:solidFill>
                        </a:rPr>
                        <a:t>GO</a:t>
                      </a:r>
                    </a:p>
                  </a:txBody>
                  <a:tcPr/>
                </a:tc>
                <a:extLst>
                  <a:ext uri="{0D108BD9-81ED-4DB2-BD59-A6C34878D82A}">
                    <a16:rowId xmlns:a16="http://schemas.microsoft.com/office/drawing/2014/main" val="250341676"/>
                  </a:ext>
                </a:extLst>
              </a:tr>
            </a:tbl>
          </a:graphicData>
        </a:graphic>
      </p:graphicFrame>
    </p:spTree>
    <p:extLst>
      <p:ext uri="{BB962C8B-B14F-4D97-AF65-F5344CB8AC3E}">
        <p14:creationId xmlns:p14="http://schemas.microsoft.com/office/powerpoint/2010/main" val="83489514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E03837-84B2-3FFA-6C68-DDA83B74677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7F59768-6AAC-D293-5074-5C7101B04E40}"/>
              </a:ext>
            </a:extLst>
          </p:cNvPr>
          <p:cNvSpPr txBox="1"/>
          <p:nvPr/>
        </p:nvSpPr>
        <p:spPr>
          <a:xfrm>
            <a:off x="367251" y="693420"/>
            <a:ext cx="6361209" cy="646331"/>
          </a:xfrm>
          <a:prstGeom prst="rect">
            <a:avLst/>
          </a:prstGeom>
          <a:noFill/>
        </p:spPr>
        <p:txBody>
          <a:bodyPr wrap="square" rtlCol="0">
            <a:spAutoFit/>
          </a:bodyPr>
          <a:lstStyle/>
          <a:p>
            <a:r>
              <a:rPr lang="en-US" b="1" dirty="0">
                <a:solidFill>
                  <a:schemeClr val="accent6">
                    <a:lumMod val="50000"/>
                  </a:schemeClr>
                </a:solidFill>
                <a:latin typeface="Calibre Medium" panose="020B0603030202060203" pitchFamily="34" charset="0"/>
              </a:rPr>
              <a:t>Percentage match on Alaska Airlines – Prod Data</a:t>
            </a:r>
          </a:p>
          <a:p>
            <a:endParaRPr lang="en-US" b="1" dirty="0">
              <a:solidFill>
                <a:schemeClr val="accent6">
                  <a:lumMod val="50000"/>
                </a:schemeClr>
              </a:solidFill>
              <a:latin typeface="Calibre Medium" panose="020B0603030202060203" pitchFamily="34" charset="0"/>
            </a:endParaRPr>
          </a:p>
        </p:txBody>
      </p:sp>
      <p:graphicFrame>
        <p:nvGraphicFramePr>
          <p:cNvPr id="3" name="Table 2">
            <a:extLst>
              <a:ext uri="{FF2B5EF4-FFF2-40B4-BE49-F238E27FC236}">
                <a16:creationId xmlns:a16="http://schemas.microsoft.com/office/drawing/2014/main" id="{4FA15985-829E-74D8-F8D9-8334DB509AA4}"/>
              </a:ext>
            </a:extLst>
          </p:cNvPr>
          <p:cNvGraphicFramePr>
            <a:graphicFrameLocks noGrp="1"/>
          </p:cNvGraphicFramePr>
          <p:nvPr>
            <p:extLst>
              <p:ext uri="{D42A27DB-BD31-4B8C-83A1-F6EECF244321}">
                <p14:modId xmlns:p14="http://schemas.microsoft.com/office/powerpoint/2010/main" val="3996934763"/>
              </p:ext>
            </p:extLst>
          </p:nvPr>
        </p:nvGraphicFramePr>
        <p:xfrm>
          <a:off x="465573" y="1525092"/>
          <a:ext cx="4686529" cy="1966404"/>
        </p:xfrm>
        <a:graphic>
          <a:graphicData uri="http://schemas.openxmlformats.org/drawingml/2006/table">
            <a:tbl>
              <a:tblPr>
                <a:tableStyleId>{5C22544A-7EE6-4342-B048-85BDC9FD1C3A}</a:tableStyleId>
              </a:tblPr>
              <a:tblGrid>
                <a:gridCol w="3485772">
                  <a:extLst>
                    <a:ext uri="{9D8B030D-6E8A-4147-A177-3AD203B41FA5}">
                      <a16:colId xmlns:a16="http://schemas.microsoft.com/office/drawing/2014/main" val="2611614430"/>
                    </a:ext>
                  </a:extLst>
                </a:gridCol>
                <a:gridCol w="1200757">
                  <a:extLst>
                    <a:ext uri="{9D8B030D-6E8A-4147-A177-3AD203B41FA5}">
                      <a16:colId xmlns:a16="http://schemas.microsoft.com/office/drawing/2014/main" val="2787446590"/>
                    </a:ext>
                  </a:extLst>
                </a:gridCol>
              </a:tblGrid>
              <a:tr h="352869">
                <a:tc>
                  <a:txBody>
                    <a:bodyPr/>
                    <a:lstStyle/>
                    <a:p>
                      <a:pPr algn="ctr" fontAlgn="ctr"/>
                      <a:r>
                        <a:rPr lang="en-US" sz="1200" u="none" strike="noStrike" dirty="0">
                          <a:effectLst/>
                        </a:rPr>
                        <a:t> </a:t>
                      </a:r>
                      <a:r>
                        <a:rPr lang="en-US" sz="1200" b="1" u="none" strike="noStrike" dirty="0">
                          <a:effectLst/>
                        </a:rPr>
                        <a:t>Match Approach</a:t>
                      </a:r>
                      <a:endParaRPr lang="en-US" sz="1200" b="1" i="0" u="none" strike="noStrike" dirty="0">
                        <a:solidFill>
                          <a:srgbClr val="000000"/>
                        </a:solidFill>
                        <a:effectLst/>
                        <a:latin typeface="Aptos Narrow" panose="020B0004020202020204" pitchFamily="34" charset="0"/>
                      </a:endParaRPr>
                    </a:p>
                  </a:txBody>
                  <a:tcPr marL="7620" marR="7620" marT="7620" marB="0" anchor="ctr">
                    <a:solidFill>
                      <a:schemeClr val="accent1">
                        <a:lumMod val="40000"/>
                        <a:lumOff val="60000"/>
                      </a:schemeClr>
                    </a:solidFill>
                  </a:tcPr>
                </a:tc>
                <a:tc>
                  <a:txBody>
                    <a:bodyPr/>
                    <a:lstStyle/>
                    <a:p>
                      <a:pPr algn="ctr" fontAlgn="ctr"/>
                      <a:r>
                        <a:rPr lang="en-US" sz="1200" b="1" u="none" strike="noStrike" dirty="0">
                          <a:effectLst/>
                        </a:rPr>
                        <a:t>Percentage</a:t>
                      </a:r>
                      <a:endParaRPr lang="en-US" sz="1200" b="1" i="0" u="none" strike="noStrike" dirty="0">
                        <a:solidFill>
                          <a:srgbClr val="000000"/>
                        </a:solidFill>
                        <a:effectLst/>
                        <a:latin typeface="Aptos Narrow" panose="020B0004020202020204" pitchFamily="34" charset="0"/>
                      </a:endParaRPr>
                    </a:p>
                  </a:txBody>
                  <a:tcPr marL="7620" marR="7620" marT="7620" marB="0" anchor="ctr">
                    <a:solidFill>
                      <a:schemeClr val="accent1">
                        <a:lumMod val="40000"/>
                        <a:lumOff val="60000"/>
                      </a:schemeClr>
                    </a:solidFill>
                  </a:tcPr>
                </a:tc>
                <a:extLst>
                  <a:ext uri="{0D108BD9-81ED-4DB2-BD59-A6C34878D82A}">
                    <a16:rowId xmlns:a16="http://schemas.microsoft.com/office/drawing/2014/main" val="1887033841"/>
                  </a:ext>
                </a:extLst>
              </a:tr>
              <a:tr h="851535">
                <a:tc>
                  <a:txBody>
                    <a:bodyPr/>
                    <a:lstStyle/>
                    <a:p>
                      <a:pPr algn="ctr" fontAlgn="ctr"/>
                      <a:r>
                        <a:rPr lang="en-US" sz="1200" b="1" u="none" strike="noStrike" dirty="0">
                          <a:effectLst/>
                        </a:rPr>
                        <a:t>Perfect Match Approach</a:t>
                      </a:r>
                      <a:endParaRPr lang="en-US" sz="1200" b="1"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US" sz="1200" u="none" strike="noStrike" dirty="0">
                          <a:effectLst/>
                        </a:rPr>
                        <a:t>31.69%</a:t>
                      </a:r>
                      <a:endParaRPr lang="en-US" sz="1200" b="0" i="0" u="none" strike="noStrike" dirty="0">
                        <a:solidFill>
                          <a:srgbClr val="000000"/>
                        </a:solidFill>
                        <a:effectLst/>
                        <a:latin typeface="Aptos Narrow" panose="020B0004020202020204" pitchFamily="34" charset="0"/>
                      </a:endParaRPr>
                    </a:p>
                  </a:txBody>
                  <a:tcPr marL="7620" marR="7620" marT="7620" marB="0" anchor="ctr"/>
                </a:tc>
                <a:extLst>
                  <a:ext uri="{0D108BD9-81ED-4DB2-BD59-A6C34878D82A}">
                    <a16:rowId xmlns:a16="http://schemas.microsoft.com/office/drawing/2014/main" val="1353389535"/>
                  </a:ext>
                </a:extLst>
              </a:tr>
              <a:tr h="762000">
                <a:tc>
                  <a:txBody>
                    <a:bodyPr/>
                    <a:lstStyle/>
                    <a:p>
                      <a:pPr algn="ctr" fontAlgn="ctr"/>
                      <a:r>
                        <a:rPr lang="en-US" sz="1200" b="1" i="0" u="none" strike="noStrike" dirty="0">
                          <a:solidFill>
                            <a:srgbClr val="000000"/>
                          </a:solidFill>
                          <a:effectLst/>
                          <a:latin typeface="Aptos Narrow" panose="020B0004020202020204" pitchFamily="34" charset="0"/>
                        </a:rPr>
                        <a:t>Partial Match Approach</a:t>
                      </a:r>
                    </a:p>
                  </a:txBody>
                  <a:tcPr marL="7620" marR="7620" marT="7620" marB="0" anchor="ctr"/>
                </a:tc>
                <a:tc>
                  <a:txBody>
                    <a:bodyPr/>
                    <a:lstStyle/>
                    <a:p>
                      <a:pPr algn="ctr" fontAlgn="ctr"/>
                      <a:r>
                        <a:rPr lang="en-US" sz="1200" u="none" strike="noStrike" dirty="0">
                          <a:effectLst/>
                        </a:rPr>
                        <a:t>41.26%</a:t>
                      </a:r>
                      <a:endParaRPr lang="en-US" sz="1200" b="0" i="0" u="none" strike="noStrike" dirty="0">
                        <a:solidFill>
                          <a:srgbClr val="000000"/>
                        </a:solidFill>
                        <a:effectLst/>
                        <a:latin typeface="Aptos Narrow" panose="020B0004020202020204" pitchFamily="34" charset="0"/>
                      </a:endParaRPr>
                    </a:p>
                  </a:txBody>
                  <a:tcPr marL="7620" marR="7620" marT="7620" marB="0" anchor="ctr"/>
                </a:tc>
                <a:extLst>
                  <a:ext uri="{0D108BD9-81ED-4DB2-BD59-A6C34878D82A}">
                    <a16:rowId xmlns:a16="http://schemas.microsoft.com/office/drawing/2014/main" val="1796135616"/>
                  </a:ext>
                </a:extLst>
              </a:tr>
            </a:tbl>
          </a:graphicData>
        </a:graphic>
      </p:graphicFrame>
    </p:spTree>
    <p:extLst>
      <p:ext uri="{BB962C8B-B14F-4D97-AF65-F5344CB8AC3E}">
        <p14:creationId xmlns:p14="http://schemas.microsoft.com/office/powerpoint/2010/main" val="399235708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FF0C1E-DA58-3814-7D73-852994108D34}"/>
            </a:ext>
          </a:extLst>
        </p:cNvPr>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EE2B60DF-3745-500E-EC31-65797D72DDCF}"/>
              </a:ext>
            </a:extLst>
          </p:cNvPr>
          <p:cNvGraphicFramePr>
            <a:graphicFrameLocks noGrp="1"/>
          </p:cNvGraphicFramePr>
          <p:nvPr>
            <p:extLst>
              <p:ext uri="{D42A27DB-BD31-4B8C-83A1-F6EECF244321}">
                <p14:modId xmlns:p14="http://schemas.microsoft.com/office/powerpoint/2010/main" val="4202220180"/>
              </p:ext>
            </p:extLst>
          </p:nvPr>
        </p:nvGraphicFramePr>
        <p:xfrm>
          <a:off x="281112" y="1555264"/>
          <a:ext cx="11457498" cy="4501080"/>
        </p:xfrm>
        <a:graphic>
          <a:graphicData uri="http://schemas.openxmlformats.org/drawingml/2006/table">
            <a:tbl>
              <a:tblPr firstRow="1" bandRow="1">
                <a:tableStyleId>{5C22544A-7EE6-4342-B048-85BDC9FD1C3A}</a:tableStyleId>
              </a:tblPr>
              <a:tblGrid>
                <a:gridCol w="2877394">
                  <a:extLst>
                    <a:ext uri="{9D8B030D-6E8A-4147-A177-3AD203B41FA5}">
                      <a16:colId xmlns:a16="http://schemas.microsoft.com/office/drawing/2014/main" val="495060394"/>
                    </a:ext>
                  </a:extLst>
                </a:gridCol>
                <a:gridCol w="2851355">
                  <a:extLst>
                    <a:ext uri="{9D8B030D-6E8A-4147-A177-3AD203B41FA5}">
                      <a16:colId xmlns:a16="http://schemas.microsoft.com/office/drawing/2014/main" val="1483387117"/>
                    </a:ext>
                  </a:extLst>
                </a:gridCol>
                <a:gridCol w="1838632">
                  <a:extLst>
                    <a:ext uri="{9D8B030D-6E8A-4147-A177-3AD203B41FA5}">
                      <a16:colId xmlns:a16="http://schemas.microsoft.com/office/drawing/2014/main" val="2668243797"/>
                    </a:ext>
                  </a:extLst>
                </a:gridCol>
                <a:gridCol w="3890117">
                  <a:extLst>
                    <a:ext uri="{9D8B030D-6E8A-4147-A177-3AD203B41FA5}">
                      <a16:colId xmlns:a16="http://schemas.microsoft.com/office/drawing/2014/main" val="1921115015"/>
                    </a:ext>
                  </a:extLst>
                </a:gridCol>
              </a:tblGrid>
              <a:tr h="340783">
                <a:tc>
                  <a:txBody>
                    <a:bodyPr/>
                    <a:lstStyle/>
                    <a:p>
                      <a:pPr algn="l" fontAlgn="b"/>
                      <a:r>
                        <a:rPr lang="en-US" sz="1200" b="1" u="none" strike="noStrike" dirty="0">
                          <a:effectLst/>
                        </a:rPr>
                        <a:t>SFM Field</a:t>
                      </a:r>
                      <a:endParaRPr lang="en-US" sz="1200" b="1" i="0" u="none" strike="noStrike" dirty="0">
                        <a:solidFill>
                          <a:srgbClr val="000000"/>
                        </a:solidFill>
                        <a:effectLst/>
                        <a:latin typeface="Calibri" panose="020F0502020204030204" pitchFamily="34" charset="0"/>
                      </a:endParaRPr>
                    </a:p>
                  </a:txBody>
                  <a:tcPr marL="3095" marR="3095" marT="3095" marB="0" anchor="b"/>
                </a:tc>
                <a:tc>
                  <a:txBody>
                    <a:bodyPr/>
                    <a:lstStyle/>
                    <a:p>
                      <a:pPr algn="l" fontAlgn="b"/>
                      <a:r>
                        <a:rPr lang="en-US" sz="1200" b="1" u="none" strike="noStrike" dirty="0">
                          <a:effectLst/>
                        </a:rPr>
                        <a:t>Sample Data</a:t>
                      </a:r>
                      <a:endParaRPr lang="en-US" sz="1200" b="1" i="0" u="none" strike="noStrike" dirty="0">
                        <a:solidFill>
                          <a:srgbClr val="000000"/>
                        </a:solidFill>
                        <a:effectLst/>
                        <a:latin typeface="Calibri" panose="020F0502020204030204" pitchFamily="34" charset="0"/>
                      </a:endParaRPr>
                    </a:p>
                  </a:txBody>
                  <a:tcPr marL="3095" marR="3095" marT="3095" marB="0" anchor="b"/>
                </a:tc>
                <a:tc>
                  <a:txBody>
                    <a:bodyPr/>
                    <a:lstStyle/>
                    <a:p>
                      <a:pPr algn="l" fontAlgn="b"/>
                      <a:r>
                        <a:rPr lang="en-US" sz="1200" b="1" u="none" strike="noStrike" dirty="0">
                          <a:effectLst/>
                        </a:rPr>
                        <a:t>IFM Field</a:t>
                      </a:r>
                      <a:endParaRPr lang="en-US" sz="1200" b="1" i="0" u="none" strike="noStrike" dirty="0">
                        <a:solidFill>
                          <a:srgbClr val="000000"/>
                        </a:solidFill>
                        <a:effectLst/>
                        <a:latin typeface="Calibri" panose="020F0502020204030204" pitchFamily="34" charset="0"/>
                      </a:endParaRPr>
                    </a:p>
                  </a:txBody>
                  <a:tcPr marL="3095" marR="3095" marT="3095" marB="0" anchor="b"/>
                </a:tc>
                <a:tc>
                  <a:txBody>
                    <a:bodyPr/>
                    <a:lstStyle/>
                    <a:p>
                      <a:pPr algn="l" fontAlgn="b"/>
                      <a:r>
                        <a:rPr lang="en-US" sz="1200" b="1" u="none" strike="noStrike" dirty="0">
                          <a:effectLst/>
                        </a:rPr>
                        <a:t>Sample Data</a:t>
                      </a:r>
                      <a:endParaRPr lang="en-US" sz="1200" b="1" i="0" u="none" strike="noStrike" dirty="0">
                        <a:solidFill>
                          <a:srgbClr val="000000"/>
                        </a:solidFill>
                        <a:effectLst/>
                        <a:latin typeface="Calibri" panose="020F0502020204030204" pitchFamily="34" charset="0"/>
                      </a:endParaRPr>
                    </a:p>
                  </a:txBody>
                  <a:tcPr marL="3095" marR="3095" marT="3095" marB="0" anchor="b"/>
                </a:tc>
                <a:extLst>
                  <a:ext uri="{0D108BD9-81ED-4DB2-BD59-A6C34878D82A}">
                    <a16:rowId xmlns:a16="http://schemas.microsoft.com/office/drawing/2014/main" val="3127947375"/>
                  </a:ext>
                </a:extLst>
              </a:tr>
              <a:tr h="340783">
                <a:tc>
                  <a:txBody>
                    <a:bodyPr/>
                    <a:lstStyle/>
                    <a:p>
                      <a:pPr marL="0" algn="l" defTabSz="914400" rtl="0" eaLnBrk="1" fontAlgn="b" latinLnBrk="0" hangingPunct="1"/>
                      <a:r>
                        <a:rPr lang="en-US" sz="1100" b="0" i="0" u="none" strike="noStrike" kern="1200" dirty="0" err="1">
                          <a:solidFill>
                            <a:srgbClr val="000000"/>
                          </a:solidFill>
                          <a:effectLst/>
                          <a:latin typeface="Calibri" panose="020F0502020204030204" pitchFamily="34" charset="0"/>
                          <a:ea typeface="+mn-ea"/>
                          <a:cs typeface="+mn-cs"/>
                        </a:rPr>
                        <a:t>Nav_type</a:t>
                      </a:r>
                      <a:r>
                        <a:rPr lang="en-US" sz="1100" b="0" i="0" u="none" strike="noStrike" kern="1200" dirty="0">
                          <a:solidFill>
                            <a:srgbClr val="000000"/>
                          </a:solidFill>
                          <a:effectLst/>
                          <a:latin typeface="Calibri" panose="020F0502020204030204" pitchFamily="34" charset="0"/>
                          <a:ea typeface="+mn-ea"/>
                          <a:cs typeface="+mn-cs"/>
                        </a:rPr>
                        <a:t> (project) -&gt; </a:t>
                      </a:r>
                      <a:r>
                        <a:rPr lang="en-US" sz="1100" b="0" i="0" u="none" strike="noStrike" kern="1200" dirty="0" err="1">
                          <a:solidFill>
                            <a:srgbClr val="000000"/>
                          </a:solidFill>
                          <a:effectLst/>
                          <a:latin typeface="Calibri" panose="020F0502020204030204" pitchFamily="34" charset="0"/>
                          <a:ea typeface="+mn-ea"/>
                          <a:cs typeface="+mn-cs"/>
                        </a:rPr>
                        <a:t>nav_name</a:t>
                      </a:r>
                      <a:endParaRPr lang="en-US" sz="1100" b="0" i="0" u="none" strike="noStrike" kern="1200" dirty="0">
                        <a:solidFill>
                          <a:srgbClr val="000000"/>
                        </a:solidFill>
                        <a:effectLst/>
                        <a:latin typeface="Calibri" panose="020F0502020204030204" pitchFamily="34" charset="0"/>
                        <a:ea typeface="+mn-ea"/>
                        <a:cs typeface="+mn-cs"/>
                      </a:endParaRPr>
                    </a:p>
                  </a:txBody>
                  <a:tcPr marL="3095" marR="3095" marT="3095" marB="0" anchor="b"/>
                </a:tc>
                <a:tc>
                  <a:txBody>
                    <a:bodyPr/>
                    <a:lstStyle/>
                    <a:p>
                      <a:pPr marL="0" algn="l" defTabSz="914400" rtl="0" eaLnBrk="1" fontAlgn="b" latinLnBrk="0" hangingPunct="1"/>
                      <a:r>
                        <a:rPr lang="en-US" sz="1100" b="0" i="0" u="none" strike="noStrike" kern="1200" dirty="0">
                          <a:solidFill>
                            <a:srgbClr val="000000"/>
                          </a:solidFill>
                          <a:effectLst/>
                          <a:latin typeface="Calibri" panose="020F0502020204030204" pitchFamily="34" charset="0"/>
                          <a:ea typeface="+mn-ea"/>
                          <a:cs typeface="+mn-cs"/>
                        </a:rPr>
                        <a:t>Alaska Airlines</a:t>
                      </a:r>
                    </a:p>
                  </a:txBody>
                  <a:tcPr marL="7620" marR="7620" marT="7620" marB="0" anchor="b"/>
                </a:tc>
                <a:tc>
                  <a:txBody>
                    <a:bodyPr/>
                    <a:lstStyle/>
                    <a:p>
                      <a:pPr marL="0" algn="l" defTabSz="914400" rtl="0" eaLnBrk="1" fontAlgn="b" latinLnBrk="0" hangingPunct="1"/>
                      <a:r>
                        <a:rPr lang="en-US" sz="1100" b="0" i="0" u="none" strike="noStrike" kern="1200" dirty="0" err="1">
                          <a:solidFill>
                            <a:srgbClr val="000000"/>
                          </a:solidFill>
                          <a:effectLst/>
                          <a:latin typeface="Calibri" panose="020F0502020204030204" pitchFamily="34" charset="0"/>
                          <a:ea typeface="+mn-ea"/>
                          <a:cs typeface="+mn-cs"/>
                        </a:rPr>
                        <a:t>Customer_name</a:t>
                      </a:r>
                      <a:r>
                        <a:rPr lang="en-US" sz="1100" b="0" i="0" u="none" strike="noStrike" kern="1200" dirty="0">
                          <a:solidFill>
                            <a:srgbClr val="000000"/>
                          </a:solidFill>
                          <a:effectLst/>
                          <a:latin typeface="Calibri" panose="020F0502020204030204" pitchFamily="34" charset="0"/>
                          <a:ea typeface="+mn-ea"/>
                          <a:cs typeface="+mn-cs"/>
                        </a:rPr>
                        <a:t> </a:t>
                      </a:r>
                    </a:p>
                  </a:txBody>
                  <a:tcPr marL="3095" marR="3095" marT="3095" marB="0" anchor="b"/>
                </a:tc>
                <a:tc>
                  <a:txBody>
                    <a:bodyPr/>
                    <a:lstStyle/>
                    <a:p>
                      <a:pPr marL="0" algn="l" defTabSz="914400" rtl="0" eaLnBrk="1" fontAlgn="b" latinLnBrk="0" hangingPunct="1"/>
                      <a:r>
                        <a:rPr lang="en-US" sz="1100" b="0" i="0" u="none" strike="noStrike" kern="1200" dirty="0">
                          <a:solidFill>
                            <a:srgbClr val="000000"/>
                          </a:solidFill>
                          <a:effectLst/>
                          <a:latin typeface="Calibri" panose="020F0502020204030204" pitchFamily="34" charset="0"/>
                          <a:ea typeface="+mn-ea"/>
                          <a:cs typeface="+mn-cs"/>
                        </a:rPr>
                        <a:t>Alaska Airlines</a:t>
                      </a:r>
                    </a:p>
                  </a:txBody>
                  <a:tcPr marL="7620" marR="7620" marT="7620" marB="0" anchor="b"/>
                </a:tc>
                <a:extLst>
                  <a:ext uri="{0D108BD9-81ED-4DB2-BD59-A6C34878D82A}">
                    <a16:rowId xmlns:a16="http://schemas.microsoft.com/office/drawing/2014/main" val="2789863768"/>
                  </a:ext>
                </a:extLst>
              </a:tr>
              <a:tr h="340783">
                <a:tc>
                  <a:txBody>
                    <a:bodyPr/>
                    <a:lstStyle/>
                    <a:p>
                      <a:pPr marL="0" algn="l" defTabSz="914400" rtl="0" eaLnBrk="1" fontAlgn="b" latinLnBrk="0" hangingPunct="1"/>
                      <a:r>
                        <a:rPr lang="en-US" sz="1100" b="0" i="0" u="none" strike="noStrike" kern="1200" dirty="0" err="1">
                          <a:solidFill>
                            <a:srgbClr val="000000"/>
                          </a:solidFill>
                          <a:effectLst/>
                          <a:latin typeface="Calibri" panose="020F0502020204030204" pitchFamily="34" charset="0"/>
                          <a:ea typeface="+mn-ea"/>
                          <a:cs typeface="+mn-cs"/>
                        </a:rPr>
                        <a:t>Nav_type</a:t>
                      </a:r>
                      <a:r>
                        <a:rPr lang="en-US" sz="1100" b="0" i="0" u="none" strike="noStrike" kern="1200" dirty="0">
                          <a:solidFill>
                            <a:srgbClr val="000000"/>
                          </a:solidFill>
                          <a:effectLst/>
                          <a:latin typeface="Calibri" panose="020F0502020204030204" pitchFamily="34" charset="0"/>
                          <a:ea typeface="+mn-ea"/>
                          <a:cs typeface="+mn-cs"/>
                        </a:rPr>
                        <a:t> (country) -&gt; </a:t>
                      </a:r>
                      <a:r>
                        <a:rPr lang="en-US" sz="1100" b="0" i="0" u="none" strike="noStrike" kern="1200" dirty="0" err="1">
                          <a:solidFill>
                            <a:srgbClr val="000000"/>
                          </a:solidFill>
                          <a:effectLst/>
                          <a:latin typeface="Calibri" panose="020F0502020204030204" pitchFamily="34" charset="0"/>
                          <a:ea typeface="+mn-ea"/>
                          <a:cs typeface="+mn-cs"/>
                        </a:rPr>
                        <a:t>nav_name</a:t>
                      </a:r>
                      <a:endParaRPr lang="en-US" sz="1100" b="0" i="0" u="none" strike="noStrike" kern="1200" dirty="0">
                        <a:solidFill>
                          <a:srgbClr val="000000"/>
                        </a:solidFill>
                        <a:effectLst/>
                        <a:latin typeface="Calibri" panose="020F0502020204030204" pitchFamily="34" charset="0"/>
                        <a:ea typeface="+mn-ea"/>
                        <a:cs typeface="+mn-cs"/>
                      </a:endParaRPr>
                    </a:p>
                  </a:txBody>
                  <a:tcPr marL="3095" marR="3095" marT="3095" marB="0" anchor="b"/>
                </a:tc>
                <a:tc>
                  <a:txBody>
                    <a:bodyPr/>
                    <a:lstStyle/>
                    <a:p>
                      <a:pPr marL="0" algn="l" defTabSz="914400" rtl="0" eaLnBrk="1" fontAlgn="b" latinLnBrk="0" hangingPunct="1"/>
                      <a:r>
                        <a:rPr lang="en-US" sz="1100" b="0" i="0" u="none" strike="noStrike" kern="1200" dirty="0">
                          <a:solidFill>
                            <a:schemeClr val="tx1"/>
                          </a:solidFill>
                          <a:effectLst/>
                          <a:latin typeface="Calibri" panose="020F0502020204030204" pitchFamily="34" charset="0"/>
                          <a:ea typeface="+mn-ea"/>
                          <a:cs typeface="+mn-cs"/>
                        </a:rPr>
                        <a:t>United States</a:t>
                      </a:r>
                    </a:p>
                  </a:txBody>
                  <a:tcPr marL="7620" marR="7620" marT="7620" marB="0" anchor="b"/>
                </a:tc>
                <a:tc rowSpan="3">
                  <a:txBody>
                    <a:bodyPr/>
                    <a:lstStyle/>
                    <a:p>
                      <a:pPr marL="0" algn="l" defTabSz="914400" rtl="0" eaLnBrk="1" fontAlgn="b" latinLnBrk="0" hangingPunct="1"/>
                      <a:r>
                        <a:rPr lang="en-US" sz="1100" b="0" i="0" u="none" strike="noStrike" kern="1200" dirty="0" err="1">
                          <a:solidFill>
                            <a:schemeClr val="tx1"/>
                          </a:solidFill>
                          <a:effectLst/>
                          <a:latin typeface="Calibri" panose="020F0502020204030204" pitchFamily="34" charset="0"/>
                          <a:ea typeface="+mn-ea"/>
                          <a:cs typeface="+mn-cs"/>
                        </a:rPr>
                        <a:t>Country_name</a:t>
                      </a:r>
                      <a:br>
                        <a:rPr lang="en-US" sz="1100" b="0" i="0" u="none" strike="noStrike" kern="1200" dirty="0">
                          <a:solidFill>
                            <a:schemeClr val="tx1"/>
                          </a:solidFill>
                          <a:effectLst/>
                          <a:latin typeface="Calibri" panose="020F0502020204030204" pitchFamily="34" charset="0"/>
                          <a:ea typeface="+mn-ea"/>
                          <a:cs typeface="+mn-cs"/>
                        </a:rPr>
                      </a:br>
                      <a:br>
                        <a:rPr lang="en-US" sz="1100" b="0" i="0" u="none" strike="noStrike" kern="1200" dirty="0">
                          <a:solidFill>
                            <a:schemeClr val="tx1"/>
                          </a:solidFill>
                          <a:effectLst/>
                          <a:latin typeface="Calibri" panose="020F0502020204030204" pitchFamily="34" charset="0"/>
                          <a:ea typeface="+mn-ea"/>
                          <a:cs typeface="+mn-cs"/>
                        </a:rPr>
                      </a:br>
                      <a:br>
                        <a:rPr lang="en-US" sz="1100" b="0" i="0" u="none" strike="noStrike" kern="1200" dirty="0">
                          <a:solidFill>
                            <a:schemeClr val="tx1"/>
                          </a:solidFill>
                          <a:effectLst/>
                          <a:latin typeface="Calibri" panose="020F0502020204030204" pitchFamily="34" charset="0"/>
                          <a:ea typeface="+mn-ea"/>
                          <a:cs typeface="+mn-cs"/>
                        </a:rPr>
                      </a:br>
                      <a:br>
                        <a:rPr lang="en-US" sz="1100" b="0" i="0" u="none" strike="noStrike" kern="1200" dirty="0">
                          <a:solidFill>
                            <a:schemeClr val="tx1"/>
                          </a:solidFill>
                          <a:effectLst/>
                          <a:latin typeface="Calibri" panose="020F0502020204030204" pitchFamily="34" charset="0"/>
                          <a:ea typeface="+mn-ea"/>
                          <a:cs typeface="+mn-cs"/>
                        </a:rPr>
                      </a:br>
                      <a:r>
                        <a:rPr lang="en-US" sz="1100" b="0" i="0" u="none" strike="noStrike" kern="1200" dirty="0" err="1">
                          <a:solidFill>
                            <a:schemeClr val="tx1"/>
                          </a:solidFill>
                          <a:effectLst/>
                          <a:latin typeface="Calibri" panose="020F0502020204030204" pitchFamily="34" charset="0"/>
                          <a:ea typeface="+mn-ea"/>
                          <a:cs typeface="+mn-cs"/>
                        </a:rPr>
                        <a:t>Region_Name</a:t>
                      </a:r>
                      <a:endParaRPr lang="en-US" sz="1100" b="0" i="0" u="none" strike="noStrike" kern="1200" dirty="0">
                        <a:solidFill>
                          <a:schemeClr val="tx1"/>
                        </a:solidFill>
                        <a:effectLst/>
                        <a:latin typeface="Calibri" panose="020F0502020204030204" pitchFamily="34" charset="0"/>
                        <a:ea typeface="+mn-ea"/>
                        <a:cs typeface="+mn-cs"/>
                      </a:endParaRPr>
                    </a:p>
                  </a:txBody>
                  <a:tcPr marL="3095" marR="3095" marT="3095" marB="0" anchor="b"/>
                </a:tc>
                <a:tc rowSpan="3">
                  <a:txBody>
                    <a:bodyPr/>
                    <a:lstStyle/>
                    <a:p>
                      <a:pPr marL="0" algn="l" defTabSz="914400" rtl="0" eaLnBrk="1" fontAlgn="b" latinLnBrk="0" hangingPunct="1"/>
                      <a:r>
                        <a:rPr lang="en-US" sz="1100" b="0" i="0" u="none" strike="noStrike" kern="1200" dirty="0">
                          <a:solidFill>
                            <a:schemeClr val="tx1"/>
                          </a:solidFill>
                          <a:effectLst/>
                          <a:latin typeface="Calibri" panose="020F0502020204030204" pitchFamily="34" charset="0"/>
                          <a:ea typeface="+mn-ea"/>
                          <a:cs typeface="+mn-cs"/>
                        </a:rPr>
                        <a:t>United States</a:t>
                      </a:r>
                      <a:br>
                        <a:rPr lang="en-US" sz="1100" b="0" i="0" u="none" strike="noStrike" kern="1200" dirty="0">
                          <a:solidFill>
                            <a:schemeClr val="tx1"/>
                          </a:solidFill>
                          <a:effectLst/>
                          <a:latin typeface="Calibri" panose="020F0502020204030204" pitchFamily="34" charset="0"/>
                          <a:ea typeface="+mn-ea"/>
                          <a:cs typeface="+mn-cs"/>
                        </a:rPr>
                      </a:br>
                      <a:br>
                        <a:rPr lang="en-US" sz="1100" b="0" i="0" u="none" strike="noStrike" kern="1200" dirty="0">
                          <a:solidFill>
                            <a:schemeClr val="tx1"/>
                          </a:solidFill>
                          <a:effectLst/>
                          <a:latin typeface="Calibri" panose="020F0502020204030204" pitchFamily="34" charset="0"/>
                          <a:ea typeface="+mn-ea"/>
                          <a:cs typeface="+mn-cs"/>
                        </a:rPr>
                      </a:br>
                      <a:br>
                        <a:rPr lang="en-US" sz="1100" b="0" i="0" u="none" strike="noStrike" kern="1200" dirty="0">
                          <a:solidFill>
                            <a:schemeClr val="tx1"/>
                          </a:solidFill>
                          <a:effectLst/>
                          <a:latin typeface="Calibri" panose="020F0502020204030204" pitchFamily="34" charset="0"/>
                          <a:ea typeface="+mn-ea"/>
                          <a:cs typeface="+mn-cs"/>
                        </a:rPr>
                      </a:br>
                      <a:br>
                        <a:rPr lang="en-US" sz="1100" b="0" i="0" u="none" strike="noStrike" kern="1200" dirty="0">
                          <a:solidFill>
                            <a:schemeClr val="tx1"/>
                          </a:solidFill>
                          <a:effectLst/>
                          <a:latin typeface="Calibri" panose="020F0502020204030204" pitchFamily="34" charset="0"/>
                          <a:ea typeface="+mn-ea"/>
                          <a:cs typeface="+mn-cs"/>
                        </a:rPr>
                      </a:br>
                      <a:r>
                        <a:rPr lang="en-US" sz="1100" b="0" i="0" u="none" strike="noStrike" kern="1200" dirty="0">
                          <a:solidFill>
                            <a:schemeClr val="tx1"/>
                          </a:solidFill>
                          <a:effectLst/>
                          <a:latin typeface="Calibri" panose="020F0502020204030204" pitchFamily="34" charset="0"/>
                          <a:ea typeface="+mn-ea"/>
                          <a:cs typeface="+mn-cs"/>
                        </a:rPr>
                        <a:t>US. TX, Dallas (</a:t>
                      </a:r>
                      <a:r>
                        <a:rPr lang="en-US" sz="1100" b="0" i="0" u="none" strike="noStrike" kern="1200" dirty="0" err="1">
                          <a:solidFill>
                            <a:schemeClr val="tx1"/>
                          </a:solidFill>
                          <a:effectLst/>
                          <a:latin typeface="Calibri" panose="020F0502020204030204" pitchFamily="34" charset="0"/>
                          <a:ea typeface="+mn-ea"/>
                          <a:cs typeface="+mn-cs"/>
                        </a:rPr>
                        <a:t>combinaltion</a:t>
                      </a:r>
                      <a:r>
                        <a:rPr lang="en-US" sz="1100" b="0" i="0" u="none" strike="noStrike" kern="1200" dirty="0">
                          <a:solidFill>
                            <a:schemeClr val="tx1"/>
                          </a:solidFill>
                          <a:effectLst/>
                          <a:latin typeface="Calibri" panose="020F0502020204030204" pitchFamily="34" charset="0"/>
                          <a:ea typeface="+mn-ea"/>
                          <a:cs typeface="+mn-cs"/>
                        </a:rPr>
                        <a:t> of Country </a:t>
                      </a:r>
                      <a:r>
                        <a:rPr lang="en-US" sz="1100" b="0" i="0" u="none" strike="noStrike" kern="1200" dirty="0" err="1">
                          <a:solidFill>
                            <a:schemeClr val="tx1"/>
                          </a:solidFill>
                          <a:effectLst/>
                          <a:latin typeface="Calibri" panose="020F0502020204030204" pitchFamily="34" charset="0"/>
                          <a:ea typeface="+mn-ea"/>
                          <a:cs typeface="+mn-cs"/>
                        </a:rPr>
                        <a:t>Abbr</a:t>
                      </a:r>
                      <a:r>
                        <a:rPr lang="en-US" sz="1100" b="0" i="0" u="none" strike="noStrike" kern="1200" dirty="0">
                          <a:solidFill>
                            <a:schemeClr val="tx1"/>
                          </a:solidFill>
                          <a:effectLst/>
                          <a:latin typeface="Calibri" panose="020F0502020204030204" pitchFamily="34" charset="0"/>
                          <a:ea typeface="+mn-ea"/>
                          <a:cs typeface="+mn-cs"/>
                        </a:rPr>
                        <a:t>, State </a:t>
                      </a:r>
                      <a:r>
                        <a:rPr lang="en-US" sz="1100" b="0" i="0" u="none" strike="noStrike" kern="1200" dirty="0" err="1">
                          <a:solidFill>
                            <a:schemeClr val="tx1"/>
                          </a:solidFill>
                          <a:effectLst/>
                          <a:latin typeface="Calibri" panose="020F0502020204030204" pitchFamily="34" charset="0"/>
                          <a:ea typeface="+mn-ea"/>
                          <a:cs typeface="+mn-cs"/>
                        </a:rPr>
                        <a:t>Abbr</a:t>
                      </a:r>
                      <a:r>
                        <a:rPr lang="en-US" sz="1100" b="0" i="0" u="none" strike="noStrike" kern="1200" dirty="0">
                          <a:solidFill>
                            <a:schemeClr val="tx1"/>
                          </a:solidFill>
                          <a:effectLst/>
                          <a:latin typeface="Calibri" panose="020F0502020204030204" pitchFamily="34" charset="0"/>
                          <a:ea typeface="+mn-ea"/>
                          <a:cs typeface="+mn-cs"/>
                        </a:rPr>
                        <a:t> and City)</a:t>
                      </a:r>
                    </a:p>
                  </a:txBody>
                  <a:tcPr marL="7620" marR="7620" marT="7620" marB="0" anchor="b"/>
                </a:tc>
                <a:extLst>
                  <a:ext uri="{0D108BD9-81ED-4DB2-BD59-A6C34878D82A}">
                    <a16:rowId xmlns:a16="http://schemas.microsoft.com/office/drawing/2014/main" val="3878091450"/>
                  </a:ext>
                </a:extLst>
              </a:tr>
              <a:tr h="340783">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100" b="0" i="0" u="none" strike="noStrike" kern="1200" dirty="0" err="1">
                          <a:solidFill>
                            <a:srgbClr val="000000"/>
                          </a:solidFill>
                          <a:effectLst/>
                          <a:latin typeface="Calibri" panose="020F0502020204030204" pitchFamily="34" charset="0"/>
                          <a:ea typeface="+mn-ea"/>
                          <a:cs typeface="+mn-cs"/>
                        </a:rPr>
                        <a:t>Nav_type</a:t>
                      </a:r>
                      <a:r>
                        <a:rPr lang="en-US" sz="1100" b="0" i="0" u="none" strike="noStrike" kern="1200" dirty="0">
                          <a:solidFill>
                            <a:srgbClr val="000000"/>
                          </a:solidFill>
                          <a:effectLst/>
                          <a:latin typeface="Calibri" panose="020F0502020204030204" pitchFamily="34" charset="0"/>
                          <a:ea typeface="+mn-ea"/>
                          <a:cs typeface="+mn-cs"/>
                        </a:rPr>
                        <a:t> (State) -&gt; </a:t>
                      </a:r>
                      <a:r>
                        <a:rPr lang="en-US" sz="1100" b="0" i="0" u="none" strike="noStrike" kern="1200" dirty="0" err="1">
                          <a:solidFill>
                            <a:srgbClr val="000000"/>
                          </a:solidFill>
                          <a:effectLst/>
                          <a:latin typeface="Calibri" panose="020F0502020204030204" pitchFamily="34" charset="0"/>
                          <a:ea typeface="+mn-ea"/>
                          <a:cs typeface="+mn-cs"/>
                        </a:rPr>
                        <a:t>nav_name</a:t>
                      </a:r>
                      <a:endParaRPr lang="en-US" sz="1100" b="0" i="0" u="none" strike="noStrike" kern="1200" dirty="0">
                        <a:solidFill>
                          <a:srgbClr val="000000"/>
                        </a:solidFill>
                        <a:effectLst/>
                        <a:latin typeface="Calibri" panose="020F0502020204030204" pitchFamily="34" charset="0"/>
                        <a:ea typeface="+mn-ea"/>
                        <a:cs typeface="+mn-cs"/>
                      </a:endParaRPr>
                    </a:p>
                  </a:txBody>
                  <a:tcPr marL="3095" marR="3095" marT="3095" marB="0" anchor="b"/>
                </a:tc>
                <a:tc>
                  <a:txBody>
                    <a:bodyPr/>
                    <a:lstStyle/>
                    <a:p>
                      <a:pPr marL="0" algn="l" defTabSz="914400" rtl="0" eaLnBrk="1" fontAlgn="b" latinLnBrk="0" hangingPunct="1"/>
                      <a:r>
                        <a:rPr lang="en-US" sz="1100" b="0" i="0" u="none" strike="noStrike" kern="1200" dirty="0">
                          <a:solidFill>
                            <a:schemeClr val="tx1"/>
                          </a:solidFill>
                          <a:effectLst/>
                          <a:latin typeface="Calibri" panose="020F0502020204030204" pitchFamily="34" charset="0"/>
                          <a:ea typeface="+mn-ea"/>
                          <a:cs typeface="+mn-cs"/>
                        </a:rPr>
                        <a:t>WA</a:t>
                      </a:r>
                    </a:p>
                  </a:txBody>
                  <a:tcPr marL="7620" marR="7620" marT="7620" marB="0" anchor="b"/>
                </a:tc>
                <a:tc vMerge="1">
                  <a:txBody>
                    <a:bodyPr/>
                    <a:lstStyle/>
                    <a:p>
                      <a:pPr marL="0" algn="l" defTabSz="914400" rtl="0" eaLnBrk="1" fontAlgn="b" latinLnBrk="0" hangingPunct="1"/>
                      <a:endParaRPr lang="en-US" sz="1100" b="0" i="0" u="none" strike="noStrike" kern="1200" dirty="0">
                        <a:solidFill>
                          <a:srgbClr val="000000"/>
                        </a:solidFill>
                        <a:effectLst/>
                        <a:latin typeface="Calibri" panose="020F0502020204030204" pitchFamily="34" charset="0"/>
                        <a:ea typeface="+mn-ea"/>
                        <a:cs typeface="+mn-cs"/>
                      </a:endParaRPr>
                    </a:p>
                  </a:txBody>
                  <a:tcPr marL="3095" marR="3095" marT="3095" marB="0" anchor="b"/>
                </a:tc>
                <a:tc vMerge="1">
                  <a:txBody>
                    <a:bodyPr/>
                    <a:lstStyle/>
                    <a:p>
                      <a:pPr marL="0" algn="l" defTabSz="914400" rtl="0" eaLnBrk="1" fontAlgn="b" latinLnBrk="0" hangingPunct="1"/>
                      <a:endParaRPr lang="en-US" sz="1100" b="0" i="0" u="none" strike="noStrike" kern="1200" dirty="0">
                        <a:solidFill>
                          <a:srgbClr val="000000"/>
                        </a:solidFill>
                        <a:effectLst/>
                        <a:latin typeface="Calibri" panose="020F0502020204030204" pitchFamily="34" charset="0"/>
                        <a:ea typeface="+mn-ea"/>
                        <a:cs typeface="+mn-cs"/>
                      </a:endParaRPr>
                    </a:p>
                  </a:txBody>
                  <a:tcPr marL="7620" marR="7620" marT="7620" marB="0" anchor="b"/>
                </a:tc>
                <a:extLst>
                  <a:ext uri="{0D108BD9-81ED-4DB2-BD59-A6C34878D82A}">
                    <a16:rowId xmlns:a16="http://schemas.microsoft.com/office/drawing/2014/main" val="1120608643"/>
                  </a:ext>
                </a:extLst>
              </a:tr>
              <a:tr h="340783">
                <a:tc>
                  <a:txBody>
                    <a:bodyPr/>
                    <a:lstStyle/>
                    <a:p>
                      <a:pPr algn="l" fontAlgn="b"/>
                      <a:r>
                        <a:rPr lang="en-US" sz="1100" b="0" i="0" u="none" strike="noStrike" dirty="0" err="1">
                          <a:solidFill>
                            <a:srgbClr val="000000"/>
                          </a:solidFill>
                          <a:effectLst/>
                          <a:latin typeface="Calibri" panose="020F0502020204030204" pitchFamily="34" charset="0"/>
                        </a:rPr>
                        <a:t>Nav_type</a:t>
                      </a:r>
                      <a:r>
                        <a:rPr lang="en-US" sz="1100" b="0" i="0" u="none" strike="noStrike" dirty="0">
                          <a:solidFill>
                            <a:srgbClr val="000000"/>
                          </a:solidFill>
                          <a:effectLst/>
                          <a:latin typeface="Calibri" panose="020F0502020204030204" pitchFamily="34" charset="0"/>
                        </a:rPr>
                        <a:t> (City) -&gt; </a:t>
                      </a:r>
                      <a:r>
                        <a:rPr lang="en-US" sz="1100" b="0" i="0" u="none" strike="noStrike" dirty="0" err="1">
                          <a:solidFill>
                            <a:srgbClr val="000000"/>
                          </a:solidFill>
                          <a:effectLst/>
                          <a:latin typeface="Calibri" panose="020F0502020204030204" pitchFamily="34" charset="0"/>
                        </a:rPr>
                        <a:t>nav_name</a:t>
                      </a:r>
                      <a:endParaRPr lang="en-US" sz="1100" b="0" i="0" u="none" strike="noStrike" dirty="0">
                        <a:solidFill>
                          <a:srgbClr val="000000"/>
                        </a:solidFill>
                        <a:effectLst/>
                        <a:latin typeface="Calibri" panose="020F0502020204030204" pitchFamily="34" charset="0"/>
                      </a:endParaRPr>
                    </a:p>
                  </a:txBody>
                  <a:tcPr marL="3095" marR="3095" marT="3095" marB="0" anchor="b"/>
                </a:tc>
                <a:tc>
                  <a:txBody>
                    <a:bodyPr/>
                    <a:lstStyle/>
                    <a:p>
                      <a:pPr algn="l" fontAlgn="b"/>
                      <a:r>
                        <a:rPr lang="en-US" sz="1100" b="0" i="0" u="none" strike="noStrike" dirty="0" err="1">
                          <a:solidFill>
                            <a:schemeClr val="tx1"/>
                          </a:solidFill>
                          <a:effectLst/>
                          <a:latin typeface="Calibri" panose="020F0502020204030204" pitchFamily="34" charset="0"/>
                        </a:rPr>
                        <a:t>Seatac</a:t>
                      </a:r>
                      <a:endParaRPr lang="en-US" sz="1100" b="0" i="0" u="none" strike="noStrike" dirty="0">
                        <a:solidFill>
                          <a:schemeClr val="tx1"/>
                        </a:solidFill>
                        <a:effectLst/>
                        <a:latin typeface="Calibri" panose="020F0502020204030204" pitchFamily="34" charset="0"/>
                      </a:endParaRPr>
                    </a:p>
                  </a:txBody>
                  <a:tcPr marL="3095" marR="3095" marT="3095" marB="0" anchor="b"/>
                </a:tc>
                <a:tc vMerge="1">
                  <a:txBody>
                    <a:bodyPr/>
                    <a:lstStyle/>
                    <a:p>
                      <a:pPr marL="0" algn="l" defTabSz="914400" rtl="0" eaLnBrk="1" fontAlgn="b" latinLnBrk="0" hangingPunct="1"/>
                      <a:endParaRPr lang="en-US" sz="1100" b="0" i="0" u="none" strike="noStrike" kern="1200" dirty="0">
                        <a:solidFill>
                          <a:srgbClr val="FF0000"/>
                        </a:solidFill>
                        <a:effectLst/>
                        <a:latin typeface="Calibri" panose="020F0502020204030204" pitchFamily="34" charset="0"/>
                        <a:ea typeface="+mn-ea"/>
                        <a:cs typeface="+mn-cs"/>
                      </a:endParaRPr>
                    </a:p>
                  </a:txBody>
                  <a:tcPr marL="3095" marR="3095" marT="3095" marB="0" anchor="b"/>
                </a:tc>
                <a:tc vMerge="1">
                  <a:txBody>
                    <a:bodyPr/>
                    <a:lstStyle/>
                    <a:p>
                      <a:pPr algn="l" fontAlgn="b"/>
                      <a:endParaRPr lang="en-US" sz="1100" b="0" i="0" u="none" strike="noStrike" dirty="0">
                        <a:solidFill>
                          <a:srgbClr val="FF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4050046539"/>
                  </a:ext>
                </a:extLst>
              </a:tr>
              <a:tr h="356741">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100" b="0" i="0" u="none" strike="noStrike" dirty="0" err="1">
                          <a:solidFill>
                            <a:srgbClr val="000000"/>
                          </a:solidFill>
                          <a:effectLst/>
                          <a:latin typeface="Calibri" panose="020F0502020204030204" pitchFamily="34" charset="0"/>
                        </a:rPr>
                        <a:t>Nav_type</a:t>
                      </a:r>
                      <a:r>
                        <a:rPr lang="en-US" sz="1100" b="0" i="0" u="none" strike="noStrike" dirty="0">
                          <a:solidFill>
                            <a:srgbClr val="000000"/>
                          </a:solidFill>
                          <a:effectLst/>
                          <a:latin typeface="Calibri" panose="020F0502020204030204" pitchFamily="34" charset="0"/>
                        </a:rPr>
                        <a:t> (Site) -&gt; </a:t>
                      </a:r>
                      <a:r>
                        <a:rPr lang="en-US" sz="1100" b="0" i="0" u="none" strike="noStrike" dirty="0" err="1">
                          <a:solidFill>
                            <a:srgbClr val="000000"/>
                          </a:solidFill>
                          <a:effectLst/>
                          <a:latin typeface="Calibri" panose="020F0502020204030204" pitchFamily="34" charset="0"/>
                        </a:rPr>
                        <a:t>nav_name</a:t>
                      </a:r>
                      <a:endParaRPr lang="en-US" sz="1100" b="0" i="0" u="none" strike="noStrike" dirty="0">
                        <a:solidFill>
                          <a:srgbClr val="000000"/>
                        </a:solidFill>
                        <a:effectLst/>
                        <a:latin typeface="Calibri" panose="020F0502020204030204" pitchFamily="34" charset="0"/>
                      </a:endParaRPr>
                    </a:p>
                  </a:txBody>
                  <a:tcPr marL="3095" marR="3095" marT="3095" marB="0" anchor="b"/>
                </a:tc>
                <a:tc>
                  <a:txBody>
                    <a:bodyPr/>
                    <a:lstStyle/>
                    <a:p>
                      <a:pPr algn="l" fontAlgn="b"/>
                      <a:r>
                        <a:rPr lang="en-US" sz="1100" b="0" i="0" u="none" strike="noStrike" dirty="0">
                          <a:solidFill>
                            <a:schemeClr val="tx1"/>
                          </a:solidFill>
                          <a:effectLst/>
                          <a:latin typeface="Calibri" panose="020F0502020204030204" pitchFamily="34" charset="0"/>
                        </a:rPr>
                        <a:t>Alaska Airlines Corporate HQ</a:t>
                      </a:r>
                    </a:p>
                    <a:p>
                      <a:pPr algn="l" fontAlgn="b"/>
                      <a:r>
                        <a:rPr lang="en-US" sz="1100" b="0" i="0" u="none" strike="noStrike" dirty="0">
                          <a:solidFill>
                            <a:schemeClr val="tx1"/>
                          </a:solidFill>
                          <a:effectLst/>
                          <a:latin typeface="Calibri" panose="020F0502020204030204" pitchFamily="34" charset="0"/>
                        </a:rPr>
                        <a:t>Alaska Airlines GO</a:t>
                      </a:r>
                    </a:p>
                  </a:txBody>
                  <a:tcPr marL="3095" marR="3095" marT="3095" marB="0" anchor="b"/>
                </a:tc>
                <a:tc>
                  <a:txBody>
                    <a:bodyPr/>
                    <a:lstStyle/>
                    <a:p>
                      <a:pPr marL="0" algn="l" defTabSz="914400" rtl="0" eaLnBrk="1" fontAlgn="b" latinLnBrk="0" hangingPunct="1"/>
                      <a:r>
                        <a:rPr lang="en-US" sz="1100" b="0" i="0" u="none" strike="noStrike" kern="1200" dirty="0" err="1">
                          <a:solidFill>
                            <a:schemeClr val="tx1"/>
                          </a:solidFill>
                          <a:effectLst/>
                          <a:latin typeface="Calibri" panose="020F0502020204030204" pitchFamily="34" charset="0"/>
                          <a:ea typeface="+mn-ea"/>
                          <a:cs typeface="+mn-cs"/>
                        </a:rPr>
                        <a:t>Building_Name</a:t>
                      </a:r>
                      <a:endParaRPr lang="en-US" sz="1100" b="0" i="0" u="none" strike="noStrike" kern="1200" dirty="0">
                        <a:solidFill>
                          <a:schemeClr val="tx1"/>
                        </a:solidFill>
                        <a:effectLst/>
                        <a:latin typeface="Calibri" panose="020F0502020204030204" pitchFamily="34" charset="0"/>
                        <a:ea typeface="+mn-ea"/>
                        <a:cs typeface="+mn-cs"/>
                      </a:endParaRPr>
                    </a:p>
                  </a:txBody>
                  <a:tcPr marL="3095" marR="3095" marT="3095" marB="0" anchor="b"/>
                </a:tc>
                <a:tc>
                  <a:txBody>
                    <a:bodyPr/>
                    <a:lstStyle/>
                    <a:p>
                      <a:pPr algn="l" fontAlgn="b"/>
                      <a:r>
                        <a:rPr lang="en-US" sz="1100" b="0" i="0" u="none" strike="noStrike" dirty="0">
                          <a:solidFill>
                            <a:schemeClr val="tx1"/>
                          </a:solidFill>
                          <a:effectLst/>
                          <a:latin typeface="Calibri" panose="020F0502020204030204" pitchFamily="34" charset="0"/>
                        </a:rPr>
                        <a:t>Bell Road East,</a:t>
                      </a:r>
                      <a:br>
                        <a:rPr lang="en-US" sz="1100" b="0" i="0" u="none" strike="noStrike" dirty="0">
                          <a:solidFill>
                            <a:schemeClr val="tx1"/>
                          </a:solidFill>
                          <a:effectLst/>
                          <a:latin typeface="Calibri" panose="020F0502020204030204" pitchFamily="34" charset="0"/>
                        </a:rPr>
                      </a:br>
                      <a:r>
                        <a:rPr lang="en-US" sz="1100" b="0" i="0" u="none" strike="noStrike" dirty="0">
                          <a:solidFill>
                            <a:schemeClr val="tx1"/>
                          </a:solidFill>
                          <a:effectLst/>
                          <a:latin typeface="Calibri" panose="020F0502020204030204" pitchFamily="34" charset="0"/>
                        </a:rPr>
                        <a:t>Winter Haven OC</a:t>
                      </a:r>
                    </a:p>
                  </a:txBody>
                  <a:tcPr marL="7620" marR="7620" marT="7620" marB="0" anchor="b"/>
                </a:tc>
                <a:extLst>
                  <a:ext uri="{0D108BD9-81ED-4DB2-BD59-A6C34878D82A}">
                    <a16:rowId xmlns:a16="http://schemas.microsoft.com/office/drawing/2014/main" val="1843820787"/>
                  </a:ext>
                </a:extLst>
              </a:tr>
              <a:tr h="356741">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100" b="0" i="0" u="none" strike="noStrike" dirty="0" err="1">
                          <a:solidFill>
                            <a:srgbClr val="000000"/>
                          </a:solidFill>
                          <a:effectLst/>
                          <a:latin typeface="Calibri" panose="020F0502020204030204" pitchFamily="34" charset="0"/>
                        </a:rPr>
                        <a:t>Nav_type</a:t>
                      </a:r>
                      <a:r>
                        <a:rPr lang="en-US" sz="1100" b="0" i="0" u="none" strike="noStrike" dirty="0">
                          <a:solidFill>
                            <a:srgbClr val="000000"/>
                          </a:solidFill>
                          <a:effectLst/>
                          <a:latin typeface="Calibri" panose="020F0502020204030204" pitchFamily="34" charset="0"/>
                        </a:rPr>
                        <a:t> (floor) -&gt; </a:t>
                      </a:r>
                      <a:r>
                        <a:rPr lang="en-US" sz="1100" b="0" i="0" u="none" strike="noStrike" dirty="0" err="1">
                          <a:solidFill>
                            <a:srgbClr val="000000"/>
                          </a:solidFill>
                          <a:effectLst/>
                          <a:latin typeface="Calibri" panose="020F0502020204030204" pitchFamily="34" charset="0"/>
                        </a:rPr>
                        <a:t>nav_name</a:t>
                      </a:r>
                      <a:endParaRPr lang="en-US" sz="1100" b="0" i="0" u="none" strike="noStrike" dirty="0">
                        <a:solidFill>
                          <a:srgbClr val="000000"/>
                        </a:solidFill>
                        <a:effectLst/>
                        <a:latin typeface="Calibri" panose="020F0502020204030204" pitchFamily="34" charset="0"/>
                      </a:endParaRPr>
                    </a:p>
                  </a:txBody>
                  <a:tcPr marL="3095" marR="3095" marT="3095" marB="0" anchor="b"/>
                </a:tc>
                <a:tc>
                  <a:txBody>
                    <a:bodyPr/>
                    <a:lstStyle/>
                    <a:p>
                      <a:pPr algn="l" fontAlgn="b"/>
                      <a:r>
                        <a:rPr lang="en-US" sz="1100" b="0" i="0" u="none" strike="noStrike" dirty="0">
                          <a:solidFill>
                            <a:schemeClr val="tx1"/>
                          </a:solidFill>
                          <a:effectLst/>
                          <a:latin typeface="Calibri" panose="020F0502020204030204" pitchFamily="34" charset="0"/>
                        </a:rPr>
                        <a:t>All </a:t>
                      </a:r>
                    </a:p>
                  </a:txBody>
                  <a:tcPr marL="3095" marR="3095" marT="3095" marB="0" anchor="b"/>
                </a:tc>
                <a:tc>
                  <a:txBody>
                    <a:bodyPr/>
                    <a:lstStyle/>
                    <a:p>
                      <a:pPr marL="0" algn="l" defTabSz="914400" rtl="0" eaLnBrk="1" fontAlgn="b" latinLnBrk="0" hangingPunct="1"/>
                      <a:r>
                        <a:rPr lang="en-US" sz="1100" b="0" i="0" u="none" strike="noStrike" kern="1200" dirty="0" err="1">
                          <a:solidFill>
                            <a:schemeClr val="tx1"/>
                          </a:solidFill>
                          <a:effectLst/>
                          <a:latin typeface="Calibri" panose="020F0502020204030204" pitchFamily="34" charset="0"/>
                          <a:ea typeface="+mn-ea"/>
                          <a:cs typeface="+mn-cs"/>
                        </a:rPr>
                        <a:t>Floor_Name</a:t>
                      </a:r>
                      <a:endParaRPr lang="en-US" sz="1100" b="0" i="0" u="none" strike="noStrike" kern="1200" dirty="0">
                        <a:solidFill>
                          <a:schemeClr val="tx1"/>
                        </a:solidFill>
                        <a:effectLst/>
                        <a:latin typeface="Calibri" panose="020F0502020204030204" pitchFamily="34" charset="0"/>
                        <a:ea typeface="+mn-ea"/>
                        <a:cs typeface="+mn-cs"/>
                      </a:endParaRPr>
                    </a:p>
                  </a:txBody>
                  <a:tcPr marL="3095" marR="3095" marT="3095" marB="0" anchor="b"/>
                </a:tc>
                <a:tc>
                  <a:txBody>
                    <a:bodyPr/>
                    <a:lstStyle/>
                    <a:p>
                      <a:pPr algn="l" fontAlgn="b"/>
                      <a:r>
                        <a:rPr lang="en-US" sz="1100" b="0" i="0" u="none" strike="noStrike" dirty="0">
                          <a:solidFill>
                            <a:schemeClr val="tx1"/>
                          </a:solidFill>
                          <a:effectLst/>
                          <a:latin typeface="Calibri" panose="020F0502020204030204" pitchFamily="34" charset="0"/>
                        </a:rPr>
                        <a:t>Tunnel,</a:t>
                      </a:r>
                      <a:br>
                        <a:rPr lang="en-US" sz="1100" b="0" i="0" u="none" strike="noStrike" dirty="0">
                          <a:solidFill>
                            <a:schemeClr val="tx1"/>
                          </a:solidFill>
                          <a:effectLst/>
                          <a:latin typeface="Calibri" panose="020F0502020204030204" pitchFamily="34" charset="0"/>
                        </a:rPr>
                      </a:br>
                      <a:r>
                        <a:rPr lang="en-US" sz="1100" b="0" i="0" u="none" strike="noStrike" dirty="0">
                          <a:solidFill>
                            <a:schemeClr val="tx1"/>
                          </a:solidFill>
                          <a:effectLst/>
                          <a:latin typeface="Calibri" panose="020F0502020204030204" pitchFamily="34" charset="0"/>
                        </a:rPr>
                        <a:t>Exterior</a:t>
                      </a:r>
                    </a:p>
                  </a:txBody>
                  <a:tcPr marL="7620" marR="7620" marT="7620" marB="0" anchor="b"/>
                </a:tc>
                <a:extLst>
                  <a:ext uri="{0D108BD9-81ED-4DB2-BD59-A6C34878D82A}">
                    <a16:rowId xmlns:a16="http://schemas.microsoft.com/office/drawing/2014/main" val="3426345855"/>
                  </a:ext>
                </a:extLst>
              </a:tr>
              <a:tr h="356741">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100" b="0" i="0" u="none" strike="noStrike" dirty="0" err="1">
                          <a:solidFill>
                            <a:srgbClr val="000000"/>
                          </a:solidFill>
                          <a:effectLst/>
                          <a:latin typeface="Calibri" panose="020F0502020204030204" pitchFamily="34" charset="0"/>
                        </a:rPr>
                        <a:t>Nav_type</a:t>
                      </a:r>
                      <a:r>
                        <a:rPr lang="en-US" sz="1100" b="0" i="0" u="none" strike="noStrike" dirty="0">
                          <a:solidFill>
                            <a:srgbClr val="000000"/>
                          </a:solidFill>
                          <a:effectLst/>
                          <a:latin typeface="Calibri" panose="020F0502020204030204" pitchFamily="34" charset="0"/>
                        </a:rPr>
                        <a:t> (Area) -&gt; </a:t>
                      </a:r>
                      <a:r>
                        <a:rPr lang="en-US" sz="1100" b="0" i="0" u="none" strike="noStrike" dirty="0" err="1">
                          <a:solidFill>
                            <a:srgbClr val="000000"/>
                          </a:solidFill>
                          <a:effectLst/>
                          <a:latin typeface="Calibri" panose="020F0502020204030204" pitchFamily="34" charset="0"/>
                        </a:rPr>
                        <a:t>nav_name</a:t>
                      </a:r>
                      <a:endParaRPr lang="en-US" sz="1100" b="0" i="0" u="none" strike="noStrike" dirty="0">
                        <a:solidFill>
                          <a:srgbClr val="000000"/>
                        </a:solidFill>
                        <a:effectLst/>
                        <a:latin typeface="Calibri" panose="020F0502020204030204" pitchFamily="34" charset="0"/>
                      </a:endParaRPr>
                    </a:p>
                  </a:txBody>
                  <a:tcPr marL="3095" marR="3095" marT="3095" marB="0" anchor="b"/>
                </a:tc>
                <a:tc>
                  <a:txBody>
                    <a:bodyPr/>
                    <a:lstStyle/>
                    <a:p>
                      <a:pPr algn="l" fontAlgn="b"/>
                      <a:r>
                        <a:rPr lang="en-US" sz="1100" b="0" i="0" u="none" strike="noStrike" dirty="0">
                          <a:solidFill>
                            <a:schemeClr val="tx1"/>
                          </a:solidFill>
                          <a:effectLst/>
                          <a:latin typeface="Calibri" panose="020F0502020204030204" pitchFamily="34" charset="0"/>
                        </a:rPr>
                        <a:t>All</a:t>
                      </a:r>
                    </a:p>
                  </a:txBody>
                  <a:tcPr marL="3095" marR="3095" marT="3095" marB="0" anchor="b"/>
                </a:tc>
                <a:tc>
                  <a:txBody>
                    <a:bodyPr/>
                    <a:lstStyle/>
                    <a:p>
                      <a:pPr marL="0" algn="l" defTabSz="914400" rtl="0" eaLnBrk="1" fontAlgn="b" latinLnBrk="0" hangingPunct="1"/>
                      <a:r>
                        <a:rPr lang="en-US" sz="1100" b="0" i="0" u="none" strike="noStrike" kern="1200" dirty="0" err="1">
                          <a:solidFill>
                            <a:schemeClr val="tx1"/>
                          </a:solidFill>
                          <a:effectLst/>
                          <a:latin typeface="Calibri" panose="020F0502020204030204" pitchFamily="34" charset="0"/>
                          <a:ea typeface="+mn-ea"/>
                          <a:cs typeface="+mn-cs"/>
                        </a:rPr>
                        <a:t>Room_Name</a:t>
                      </a:r>
                      <a:endParaRPr lang="en-US" sz="1100" b="0" i="0" u="none" strike="noStrike" kern="1200" dirty="0">
                        <a:solidFill>
                          <a:schemeClr val="tx1"/>
                        </a:solidFill>
                        <a:effectLst/>
                        <a:latin typeface="Calibri" panose="020F0502020204030204" pitchFamily="34" charset="0"/>
                        <a:ea typeface="+mn-ea"/>
                        <a:cs typeface="+mn-cs"/>
                      </a:endParaRPr>
                    </a:p>
                  </a:txBody>
                  <a:tcPr marL="3095" marR="3095" marT="3095" marB="0" anchor="b"/>
                </a:tc>
                <a:tc>
                  <a:txBody>
                    <a:bodyPr/>
                    <a:lstStyle/>
                    <a:p>
                      <a:pPr algn="l" fontAlgn="b"/>
                      <a:r>
                        <a:rPr lang="en-US" sz="1100" b="0" i="0" u="none" strike="noStrike" dirty="0">
                          <a:solidFill>
                            <a:schemeClr val="tx1"/>
                          </a:solidFill>
                          <a:effectLst/>
                          <a:latin typeface="Calibri" panose="020F0502020204030204" pitchFamily="34" charset="0"/>
                        </a:rPr>
                        <a:t>Conference Room,</a:t>
                      </a:r>
                      <a:br>
                        <a:rPr lang="en-US" sz="1100" b="0" i="0" u="none" strike="noStrike" dirty="0">
                          <a:solidFill>
                            <a:schemeClr val="tx1"/>
                          </a:solidFill>
                          <a:effectLst/>
                          <a:latin typeface="Calibri" panose="020F0502020204030204" pitchFamily="34" charset="0"/>
                        </a:rPr>
                      </a:br>
                      <a:r>
                        <a:rPr lang="en-US" sz="1100" b="0" i="0" u="none" strike="noStrike" dirty="0">
                          <a:solidFill>
                            <a:schemeClr val="tx1"/>
                          </a:solidFill>
                          <a:effectLst/>
                          <a:latin typeface="Calibri" panose="020F0502020204030204" pitchFamily="34" charset="0"/>
                        </a:rPr>
                        <a:t>Meeting Room</a:t>
                      </a:r>
                    </a:p>
                  </a:txBody>
                  <a:tcPr marL="7620" marR="7620" marT="7620" marB="0" anchor="b"/>
                </a:tc>
                <a:extLst>
                  <a:ext uri="{0D108BD9-81ED-4DB2-BD59-A6C34878D82A}">
                    <a16:rowId xmlns:a16="http://schemas.microsoft.com/office/drawing/2014/main" val="3118002907"/>
                  </a:ext>
                </a:extLst>
              </a:tr>
              <a:tr h="356741">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100" b="0" i="0" u="none" strike="noStrike" dirty="0" err="1">
                          <a:solidFill>
                            <a:srgbClr val="000000"/>
                          </a:solidFill>
                          <a:effectLst/>
                          <a:latin typeface="Calibri" panose="020F0502020204030204" pitchFamily="34" charset="0"/>
                        </a:rPr>
                        <a:t>Nav_type</a:t>
                      </a:r>
                      <a:r>
                        <a:rPr lang="en-US" sz="1100" b="0" i="0" u="none" strike="noStrike" dirty="0">
                          <a:solidFill>
                            <a:srgbClr val="000000"/>
                          </a:solidFill>
                          <a:effectLst/>
                          <a:latin typeface="Calibri" panose="020F0502020204030204" pitchFamily="34" charset="0"/>
                        </a:rPr>
                        <a:t> (Equip)-&gt; </a:t>
                      </a:r>
                      <a:r>
                        <a:rPr lang="en-US" sz="1100" b="0" i="0" u="none" strike="noStrike" dirty="0" err="1">
                          <a:solidFill>
                            <a:srgbClr val="000000"/>
                          </a:solidFill>
                          <a:effectLst/>
                          <a:latin typeface="Calibri" panose="020F0502020204030204" pitchFamily="34" charset="0"/>
                        </a:rPr>
                        <a:t>nav_name</a:t>
                      </a:r>
                      <a:endParaRPr lang="en-US" sz="1100" b="0" i="0" u="none" strike="noStrike" dirty="0">
                        <a:solidFill>
                          <a:srgbClr val="000000"/>
                        </a:solidFill>
                        <a:effectLst/>
                        <a:latin typeface="Calibri" panose="020F0502020204030204" pitchFamily="34" charset="0"/>
                      </a:endParaRPr>
                    </a:p>
                  </a:txBody>
                  <a:tcPr marL="3095" marR="3095" marT="3095" marB="0" anchor="b"/>
                </a:tc>
                <a:tc>
                  <a:txBody>
                    <a:bodyPr/>
                    <a:lstStyle/>
                    <a:p>
                      <a:pPr algn="l" fontAlgn="b"/>
                      <a:r>
                        <a:rPr lang="en-US" sz="1100" b="0" i="0" u="none" strike="noStrike" dirty="0">
                          <a:solidFill>
                            <a:schemeClr val="tx1"/>
                          </a:solidFill>
                          <a:effectLst/>
                          <a:latin typeface="Calibri" panose="020F0502020204030204" pitchFamily="34" charset="0"/>
                        </a:rPr>
                        <a:t>FCU 0102 Discharge Fan</a:t>
                      </a:r>
                      <a:br>
                        <a:rPr lang="en-US" sz="1100" b="0" i="0" u="none" strike="noStrike" dirty="0">
                          <a:solidFill>
                            <a:schemeClr val="tx1"/>
                          </a:solidFill>
                          <a:effectLst/>
                          <a:latin typeface="Calibri" panose="020F0502020204030204" pitchFamily="34" charset="0"/>
                        </a:rPr>
                      </a:br>
                      <a:r>
                        <a:rPr lang="en-US" sz="1100" b="0" i="0" u="none" strike="noStrike" dirty="0">
                          <a:solidFill>
                            <a:schemeClr val="tx1"/>
                          </a:solidFill>
                          <a:effectLst/>
                          <a:latin typeface="Calibri" panose="020F0502020204030204" pitchFamily="34" charset="0"/>
                        </a:rPr>
                        <a:t>VAV F20236</a:t>
                      </a:r>
                    </a:p>
                  </a:txBody>
                  <a:tcPr marL="3095" marR="3095" marT="3095" marB="0" anchor="b"/>
                </a:tc>
                <a:tc>
                  <a:txBody>
                    <a:bodyPr/>
                    <a:lstStyle/>
                    <a:p>
                      <a:pPr marL="0" algn="l" defTabSz="914400" rtl="0" eaLnBrk="1" fontAlgn="b" latinLnBrk="0" hangingPunct="1"/>
                      <a:r>
                        <a:rPr lang="en-US" sz="1100" b="0" i="0" u="none" strike="noStrike" kern="1200" dirty="0">
                          <a:solidFill>
                            <a:schemeClr val="tx1"/>
                          </a:solidFill>
                          <a:effectLst/>
                          <a:latin typeface="Calibri" panose="020F0502020204030204" pitchFamily="34" charset="0"/>
                          <a:ea typeface="+mn-ea"/>
                          <a:cs typeface="+mn-cs"/>
                        </a:rPr>
                        <a:t>Position Name </a:t>
                      </a:r>
                    </a:p>
                  </a:txBody>
                  <a:tcPr marL="3095" marR="3095" marT="3095" marB="0" anchor="b"/>
                </a:tc>
                <a:tc>
                  <a:txBody>
                    <a:bodyPr/>
                    <a:lstStyle/>
                    <a:p>
                      <a:pPr algn="l" fontAlgn="b"/>
                      <a:r>
                        <a:rPr lang="en-US" sz="1100" b="0" i="0" u="none" strike="noStrike" dirty="0">
                          <a:solidFill>
                            <a:schemeClr val="tx1"/>
                          </a:solidFill>
                          <a:effectLst/>
                          <a:latin typeface="Calibri" panose="020F0502020204030204" pitchFamily="34" charset="0"/>
                        </a:rPr>
                        <a:t>Discharge Fan</a:t>
                      </a:r>
                      <a:br>
                        <a:rPr lang="en-US" sz="1100" b="0" i="0" u="none" strike="noStrike" dirty="0">
                          <a:solidFill>
                            <a:schemeClr val="tx1"/>
                          </a:solidFill>
                          <a:effectLst/>
                          <a:latin typeface="Calibri" panose="020F0502020204030204" pitchFamily="34" charset="0"/>
                        </a:rPr>
                      </a:br>
                      <a:r>
                        <a:rPr lang="en-US" sz="1100" b="0" i="0" u="none" strike="noStrike" dirty="0">
                          <a:solidFill>
                            <a:schemeClr val="tx1"/>
                          </a:solidFill>
                          <a:effectLst/>
                          <a:latin typeface="Calibri" panose="020F0502020204030204" pitchFamily="34" charset="0"/>
                        </a:rPr>
                        <a:t>Packaged Terminal Air Conditioner(RTU-04)</a:t>
                      </a:r>
                    </a:p>
                  </a:txBody>
                  <a:tcPr marL="7620" marR="7620" marT="7620" marB="0" anchor="b"/>
                </a:tc>
                <a:extLst>
                  <a:ext uri="{0D108BD9-81ED-4DB2-BD59-A6C34878D82A}">
                    <a16:rowId xmlns:a16="http://schemas.microsoft.com/office/drawing/2014/main" val="75227333"/>
                  </a:ext>
                </a:extLst>
              </a:tr>
              <a:tr h="356741">
                <a:tc rowSpan="2">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100" b="0" i="0" u="none" strike="noStrike" dirty="0" err="1">
                          <a:solidFill>
                            <a:srgbClr val="000000"/>
                          </a:solidFill>
                          <a:effectLst/>
                          <a:latin typeface="Calibri" panose="020F0502020204030204" pitchFamily="34" charset="0"/>
                        </a:rPr>
                        <a:t>Equip_Type</a:t>
                      </a:r>
                      <a:endParaRPr lang="en-US" sz="1100" b="0" i="0" u="none" strike="noStrike" dirty="0">
                        <a:solidFill>
                          <a:srgbClr val="000000"/>
                        </a:solidFill>
                        <a:effectLst/>
                        <a:latin typeface="Calibri" panose="020F0502020204030204" pitchFamily="34" charset="0"/>
                      </a:endParaRPr>
                    </a:p>
                  </a:txBody>
                  <a:tcPr marL="3095" marR="3095" marT="3095" marB="0" anchor="b"/>
                </a:tc>
                <a:tc rowSpan="2">
                  <a:txBody>
                    <a:bodyPr/>
                    <a:lstStyle/>
                    <a:p>
                      <a:pPr algn="l" fontAlgn="b"/>
                      <a:r>
                        <a:rPr lang="en-US" sz="1100" b="0" i="0" u="none" strike="noStrike" dirty="0">
                          <a:solidFill>
                            <a:schemeClr val="tx1"/>
                          </a:solidFill>
                          <a:effectLst/>
                          <a:latin typeface="Calibri" panose="020F0502020204030204" pitchFamily="34" charset="0"/>
                        </a:rPr>
                        <a:t>Ahu,</a:t>
                      </a:r>
                      <a:br>
                        <a:rPr lang="en-US" sz="1100" b="0" i="0" u="none" strike="noStrike" dirty="0">
                          <a:solidFill>
                            <a:schemeClr val="tx1"/>
                          </a:solidFill>
                          <a:effectLst/>
                          <a:latin typeface="Calibri" panose="020F0502020204030204" pitchFamily="34" charset="0"/>
                        </a:rPr>
                      </a:br>
                      <a:r>
                        <a:rPr lang="en-US" sz="1100" b="0" i="0" u="none" strike="noStrike" dirty="0" err="1">
                          <a:solidFill>
                            <a:schemeClr val="tx1"/>
                          </a:solidFill>
                          <a:effectLst/>
                          <a:latin typeface="Calibri" panose="020F0502020204030204" pitchFamily="34" charset="0"/>
                        </a:rPr>
                        <a:t>fcu</a:t>
                      </a:r>
                      <a:endParaRPr lang="en-US" sz="1100" b="0" i="0" u="none" strike="noStrike" dirty="0">
                        <a:solidFill>
                          <a:schemeClr val="tx1"/>
                        </a:solidFill>
                        <a:effectLst/>
                        <a:latin typeface="Calibri" panose="020F0502020204030204" pitchFamily="34" charset="0"/>
                      </a:endParaRPr>
                    </a:p>
                  </a:txBody>
                  <a:tcPr marL="3095" marR="3095" marT="3095" marB="0" anchor="b"/>
                </a:tc>
                <a:tc>
                  <a:txBody>
                    <a:bodyPr/>
                    <a:lstStyle/>
                    <a:p>
                      <a:pPr marL="0" algn="l" defTabSz="914400" rtl="0" eaLnBrk="1" fontAlgn="b" latinLnBrk="0" hangingPunct="1"/>
                      <a:r>
                        <a:rPr lang="en-US" sz="1100" b="0" i="0" u="none" strike="noStrike" kern="1200" dirty="0" err="1">
                          <a:solidFill>
                            <a:schemeClr val="tx1"/>
                          </a:solidFill>
                          <a:effectLst/>
                          <a:latin typeface="Calibri" panose="020F0502020204030204" pitchFamily="34" charset="0"/>
                          <a:ea typeface="+mn-ea"/>
                          <a:cs typeface="+mn-cs"/>
                        </a:rPr>
                        <a:t>Position_uniformat_code</a:t>
                      </a:r>
                      <a:endParaRPr lang="en-US" sz="1100" b="0" i="0" u="none" strike="noStrike" kern="1200" dirty="0">
                        <a:solidFill>
                          <a:schemeClr val="tx1"/>
                        </a:solidFill>
                        <a:effectLst/>
                        <a:latin typeface="Calibri" panose="020F0502020204030204" pitchFamily="34" charset="0"/>
                        <a:ea typeface="+mn-ea"/>
                        <a:cs typeface="+mn-cs"/>
                      </a:endParaRPr>
                    </a:p>
                  </a:txBody>
                  <a:tcPr marL="3095" marR="3095" marT="3095" marB="0" anchor="b"/>
                </a:tc>
                <a:tc>
                  <a:txBody>
                    <a:bodyPr/>
                    <a:lstStyle/>
                    <a:p>
                      <a:pPr algn="l" fontAlgn="b"/>
                      <a:r>
                        <a:rPr lang="en-US" sz="1100" b="0" i="0" u="none" strike="noStrike" dirty="0">
                          <a:solidFill>
                            <a:schemeClr val="tx1"/>
                          </a:solidFill>
                          <a:effectLst/>
                          <a:latin typeface="Calibri" panose="020F0502020204030204" pitchFamily="34" charset="0"/>
                        </a:rPr>
                        <a:t>D3040.02.06</a:t>
                      </a:r>
                      <a:br>
                        <a:rPr lang="en-US" sz="1100" b="0" i="0" u="none" strike="noStrike" dirty="0">
                          <a:solidFill>
                            <a:schemeClr val="tx1"/>
                          </a:solidFill>
                          <a:effectLst/>
                          <a:latin typeface="Calibri" panose="020F0502020204030204" pitchFamily="34" charset="0"/>
                        </a:rPr>
                      </a:br>
                      <a:r>
                        <a:rPr lang="en-US" sz="1100" b="0" i="0" u="none" strike="noStrike" dirty="0">
                          <a:solidFill>
                            <a:schemeClr val="tx1"/>
                          </a:solidFill>
                          <a:effectLst/>
                          <a:latin typeface="Calibri" panose="020F0502020204030204" pitchFamily="34" charset="0"/>
                        </a:rPr>
                        <a:t>D3040.03.07</a:t>
                      </a:r>
                    </a:p>
                  </a:txBody>
                  <a:tcPr marL="7620" marR="7620" marT="7620" marB="0" anchor="b"/>
                </a:tc>
                <a:extLst>
                  <a:ext uri="{0D108BD9-81ED-4DB2-BD59-A6C34878D82A}">
                    <a16:rowId xmlns:a16="http://schemas.microsoft.com/office/drawing/2014/main" val="704823643"/>
                  </a:ext>
                </a:extLst>
              </a:tr>
              <a:tr h="356741">
                <a:tc vMerge="1">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lang="en-US" sz="1100" b="0" i="0" u="none" strike="noStrike" dirty="0">
                        <a:solidFill>
                          <a:srgbClr val="000000"/>
                        </a:solidFill>
                        <a:effectLst/>
                        <a:latin typeface="Calibri" panose="020F0502020204030204" pitchFamily="34" charset="0"/>
                      </a:endParaRPr>
                    </a:p>
                  </a:txBody>
                  <a:tcPr marL="3095" marR="3095" marT="3095" marB="0" anchor="b"/>
                </a:tc>
                <a:tc vMerge="1">
                  <a:txBody>
                    <a:bodyPr/>
                    <a:lstStyle/>
                    <a:p>
                      <a:pPr algn="l" fontAlgn="b"/>
                      <a:endParaRPr lang="en-US" sz="1100" b="0" i="0" u="none" strike="noStrike" dirty="0">
                        <a:solidFill>
                          <a:schemeClr val="tx1"/>
                        </a:solidFill>
                        <a:effectLst/>
                        <a:latin typeface="Calibri" panose="020F0502020204030204" pitchFamily="34" charset="0"/>
                      </a:endParaRPr>
                    </a:p>
                  </a:txBody>
                  <a:tcPr marL="3095" marR="3095" marT="3095" marB="0" anchor="b"/>
                </a:tc>
                <a:tc>
                  <a:txBody>
                    <a:bodyPr/>
                    <a:lstStyle/>
                    <a:p>
                      <a:pPr marL="0" algn="l" defTabSz="914400" rtl="0" eaLnBrk="1" fontAlgn="b" latinLnBrk="0" hangingPunct="1"/>
                      <a:r>
                        <a:rPr lang="en-US" sz="1100" b="0" i="0" u="none" strike="noStrike" kern="1200" dirty="0" err="1">
                          <a:solidFill>
                            <a:schemeClr val="tx1"/>
                          </a:solidFill>
                          <a:effectLst/>
                          <a:latin typeface="Calibri" panose="020F0502020204030204" pitchFamily="34" charset="0"/>
                          <a:ea typeface="+mn-ea"/>
                          <a:cs typeface="+mn-cs"/>
                        </a:rPr>
                        <a:t>Position_type_description</a:t>
                      </a:r>
                      <a:endParaRPr lang="en-US" sz="1100" b="0" i="0" u="none" strike="noStrike" kern="1200" dirty="0">
                        <a:solidFill>
                          <a:schemeClr val="tx1"/>
                        </a:solidFill>
                        <a:effectLst/>
                        <a:latin typeface="Calibri" panose="020F0502020204030204" pitchFamily="34" charset="0"/>
                        <a:ea typeface="+mn-ea"/>
                        <a:cs typeface="+mn-cs"/>
                      </a:endParaRPr>
                    </a:p>
                  </a:txBody>
                  <a:tcPr marL="3095" marR="3095" marT="3095" marB="0" anchor="b"/>
                </a:tc>
                <a:tc>
                  <a:txBody>
                    <a:bodyPr/>
                    <a:lstStyle/>
                    <a:p>
                      <a:pPr algn="l" fontAlgn="b"/>
                      <a:r>
                        <a:rPr lang="en-US" sz="1100" b="0" i="0" u="none" strike="noStrike" dirty="0">
                          <a:solidFill>
                            <a:schemeClr val="tx1"/>
                          </a:solidFill>
                          <a:effectLst/>
                          <a:latin typeface="Calibri" panose="020F0502020204030204" pitchFamily="34" charset="0"/>
                        </a:rPr>
                        <a:t>Services D / HVAC D30 / Distribution Systems D3040 / Air Handling Unit D3040.02 / Air Handling Unit, Chilled Water, No Heat D3040.02.06</a:t>
                      </a:r>
                      <a:br>
                        <a:rPr lang="en-US" sz="1100" b="0" i="0" u="none" strike="noStrike" dirty="0">
                          <a:solidFill>
                            <a:schemeClr val="tx1"/>
                          </a:solidFill>
                          <a:effectLst/>
                          <a:latin typeface="Calibri" panose="020F0502020204030204" pitchFamily="34" charset="0"/>
                        </a:rPr>
                      </a:br>
                      <a:br>
                        <a:rPr lang="en-US" sz="1100" b="0" i="0" u="none" strike="noStrike" dirty="0">
                          <a:solidFill>
                            <a:schemeClr val="tx1"/>
                          </a:solidFill>
                          <a:effectLst/>
                          <a:latin typeface="Calibri" panose="020F0502020204030204" pitchFamily="34" charset="0"/>
                        </a:rPr>
                      </a:br>
                      <a:r>
                        <a:rPr lang="en-US" sz="1100" b="0" i="0" u="none" strike="noStrike" dirty="0">
                          <a:solidFill>
                            <a:schemeClr val="tx1"/>
                          </a:solidFill>
                          <a:effectLst/>
                          <a:latin typeface="Calibri" panose="020F0502020204030204" pitchFamily="34" charset="0"/>
                        </a:rPr>
                        <a:t>Services D / HVAC D30 / Distribution Systems D3040 / Fan D3040.07 / Fan, Exhaust, Small (Single-Phase Motor) D3040.07.10</a:t>
                      </a:r>
                    </a:p>
                  </a:txBody>
                  <a:tcPr marL="7620" marR="7620" marT="7620" marB="0" anchor="b"/>
                </a:tc>
                <a:extLst>
                  <a:ext uri="{0D108BD9-81ED-4DB2-BD59-A6C34878D82A}">
                    <a16:rowId xmlns:a16="http://schemas.microsoft.com/office/drawing/2014/main" val="1739044918"/>
                  </a:ext>
                </a:extLst>
              </a:tr>
            </a:tbl>
          </a:graphicData>
        </a:graphic>
      </p:graphicFrame>
      <p:sp>
        <p:nvSpPr>
          <p:cNvPr id="3" name="TextBox 2">
            <a:extLst>
              <a:ext uri="{FF2B5EF4-FFF2-40B4-BE49-F238E27FC236}">
                <a16:creationId xmlns:a16="http://schemas.microsoft.com/office/drawing/2014/main" id="{DC63FBC6-7585-B6AE-649F-6A52A1A6AC46}"/>
              </a:ext>
            </a:extLst>
          </p:cNvPr>
          <p:cNvSpPr txBox="1"/>
          <p:nvPr/>
        </p:nvSpPr>
        <p:spPr>
          <a:xfrm>
            <a:off x="194972" y="551124"/>
            <a:ext cx="7714865" cy="1107996"/>
          </a:xfrm>
          <a:prstGeom prst="rect">
            <a:avLst/>
          </a:prstGeom>
          <a:noFill/>
        </p:spPr>
        <p:txBody>
          <a:bodyPr wrap="square" rtlCol="0">
            <a:spAutoFit/>
          </a:bodyPr>
          <a:lstStyle/>
          <a:p>
            <a:r>
              <a:rPr lang="en-US" b="1" dirty="0">
                <a:solidFill>
                  <a:schemeClr val="accent6">
                    <a:lumMod val="50000"/>
                  </a:schemeClr>
                </a:solidFill>
                <a:latin typeface="Calibre Medium" panose="020B0603030202060203" pitchFamily="34" charset="0"/>
              </a:rPr>
              <a:t>Appendix</a:t>
            </a:r>
          </a:p>
          <a:p>
            <a:endParaRPr lang="en-US" b="1" dirty="0">
              <a:solidFill>
                <a:schemeClr val="accent6">
                  <a:lumMod val="50000"/>
                </a:schemeClr>
              </a:solidFill>
              <a:latin typeface="Calibre Medium" panose="020B0603030202060203" pitchFamily="34" charset="0"/>
            </a:endParaRPr>
          </a:p>
          <a:p>
            <a:r>
              <a:rPr lang="en-US" sz="1200" b="1" dirty="0">
                <a:solidFill>
                  <a:schemeClr val="accent6">
                    <a:lumMod val="50000"/>
                  </a:schemeClr>
                </a:solidFill>
                <a:latin typeface="Calibre Medium" panose="020B0603030202060203" pitchFamily="34" charset="0"/>
              </a:rPr>
              <a:t>Field Mapping of SFM and IFM – Alaska Airlines (Prod Data)</a:t>
            </a:r>
          </a:p>
          <a:p>
            <a:endParaRPr lang="en-US" b="1" dirty="0">
              <a:solidFill>
                <a:schemeClr val="accent6">
                  <a:lumMod val="50000"/>
                </a:schemeClr>
              </a:solidFill>
              <a:latin typeface="Calibre Medium" panose="020B0603030202060203" pitchFamily="34" charset="0"/>
            </a:endParaRPr>
          </a:p>
        </p:txBody>
      </p:sp>
    </p:spTree>
    <p:extLst>
      <p:ext uri="{BB962C8B-B14F-4D97-AF65-F5344CB8AC3E}">
        <p14:creationId xmlns:p14="http://schemas.microsoft.com/office/powerpoint/2010/main" val="93198596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Flow_SignoffStatus xmlns="b46b4da0-458b-4bae-8e69-fef36cbd6001" xsi:nil="true"/>
    <TaxCatchAll xmlns="afebe98a-ad4d-4bfc-ac9d-294564d51e1d" xsi:nil="true"/>
    <Comments xmlns="b46b4da0-458b-4bae-8e69-fef36cbd6001" xsi:nil="true"/>
    <lcf76f155ced4ddcb4097134ff3c332f xmlns="b46b4da0-458b-4bae-8e69-fef36cbd6001">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A508CFF6891A394D95387DC211DA097C" ma:contentTypeVersion="22" ma:contentTypeDescription="Create a new document." ma:contentTypeScope="" ma:versionID="f2ad5c76e0d969c872177b8b2f65eb56">
  <xsd:schema xmlns:xsd="http://www.w3.org/2001/XMLSchema" xmlns:xs="http://www.w3.org/2001/XMLSchema" xmlns:p="http://schemas.microsoft.com/office/2006/metadata/properties" xmlns:ns2="b46b4da0-458b-4bae-8e69-fef36cbd6001" xmlns:ns3="d2d2af19-aee7-4a88-962c-fe0862fbf59c" xmlns:ns4="afebe98a-ad4d-4bfc-ac9d-294564d51e1d" targetNamespace="http://schemas.microsoft.com/office/2006/metadata/properties" ma:root="true" ma:fieldsID="779aae2f7c35a4190a559dd1c07372a6" ns2:_="" ns3:_="" ns4:_="">
    <xsd:import namespace="b46b4da0-458b-4bae-8e69-fef36cbd6001"/>
    <xsd:import namespace="d2d2af19-aee7-4a88-962c-fe0862fbf59c"/>
    <xsd:import namespace="afebe98a-ad4d-4bfc-ac9d-294564d51e1d"/>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_Flow_SignoffStatus" minOccurs="0"/>
                <xsd:element ref="ns2:MediaLengthInSeconds" minOccurs="0"/>
                <xsd:element ref="ns2:lcf76f155ced4ddcb4097134ff3c332f" minOccurs="0"/>
                <xsd:element ref="ns4:TaxCatchAll" minOccurs="0"/>
                <xsd:element ref="ns2:MediaServiceObjectDetectorVersions" minOccurs="0"/>
                <xsd:element ref="ns2:MediaServiceSearchProperties" minOccurs="0"/>
                <xsd:element ref="ns2:MediaServiceLocation" minOccurs="0"/>
                <xsd:element ref="ns2:Comment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46b4da0-458b-4bae-8e69-fef36cbd600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Tags" ma:index="15" nillable="true" ma:displayName="Tags" ma:internalName="MediaServiceAutoTags"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_Flow_SignoffStatus" ma:index="19" nillable="true" ma:displayName="Sign-off status" ma:internalName="Sign_x002d_off_x0020_status">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f9d3f478-4f1e-489e-aec6-b8552e7cfc20"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Location" ma:index="26" nillable="true" ma:displayName="Location" ma:indexed="true" ma:internalName="MediaServiceLocation" ma:readOnly="true">
      <xsd:simpleType>
        <xsd:restriction base="dms:Text"/>
      </xsd:simpleType>
    </xsd:element>
    <xsd:element name="Comments" ma:index="27" nillable="true" ma:displayName="Comments" ma:format="Dropdown" ma:internalName="Comments">
      <xsd:simpleType>
        <xsd:restriction base="dms:Note">
          <xsd:maxLength value="255"/>
        </xsd:restriction>
      </xsd:simpleType>
    </xsd:element>
    <xsd:element name="MediaServiceBillingMetadata" ma:index="28"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d2d2af19-aee7-4a88-962c-fe0862fbf59c"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afebe98a-ad4d-4bfc-ac9d-294564d51e1d"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d006508d-ca61-4e57-8f98-741a16f104bf}" ma:internalName="TaxCatchAll" ma:showField="CatchAllData" ma:web="d2d2af19-aee7-4a88-962c-fe0862fbf59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78E8876-69F1-4E19-9E0F-B49E588FF8FE}">
  <ds:schemaRefs>
    <ds:schemaRef ds:uri="http://schemas.microsoft.com/office/2006/metadata/properties"/>
    <ds:schemaRef ds:uri="http://schemas.microsoft.com/office/infopath/2007/PartnerControls"/>
    <ds:schemaRef ds:uri="b46b4da0-458b-4bae-8e69-fef36cbd6001"/>
    <ds:schemaRef ds:uri="afebe98a-ad4d-4bfc-ac9d-294564d51e1d"/>
  </ds:schemaRefs>
</ds:datastoreItem>
</file>

<file path=customXml/itemProps2.xml><?xml version="1.0" encoding="utf-8"?>
<ds:datastoreItem xmlns:ds="http://schemas.openxmlformats.org/officeDocument/2006/customXml" ds:itemID="{B0AC1013-37C8-46DD-9672-B6806807BD08}">
  <ds:schemaRefs>
    <ds:schemaRef ds:uri="http://schemas.microsoft.com/sharepoint/v3/contenttype/forms"/>
  </ds:schemaRefs>
</ds:datastoreItem>
</file>

<file path=customXml/itemProps3.xml><?xml version="1.0" encoding="utf-8"?>
<ds:datastoreItem xmlns:ds="http://schemas.openxmlformats.org/officeDocument/2006/customXml" ds:itemID="{9B3A64E4-7E54-46B1-8C40-8E636888BBC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46b4da0-458b-4bae-8e69-fef36cbd6001"/>
    <ds:schemaRef ds:uri="d2d2af19-aee7-4a88-962c-fe0862fbf59c"/>
    <ds:schemaRef ds:uri="afebe98a-ad4d-4bfc-ac9d-294564d51e1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a4033ad9-086f-4644-8250-c4b04e194685}" enabled="1" method="Privileged" siteId="{0159e9d0-09a0-4edf-96ba-a3deea363c28}" contentBits="0" removed="0"/>
</clbl:labelList>
</file>

<file path=docProps/app.xml><?xml version="1.0" encoding="utf-8"?>
<Properties xmlns="http://schemas.openxmlformats.org/officeDocument/2006/extended-properties" xmlns:vt="http://schemas.openxmlformats.org/officeDocument/2006/docPropsVTypes">
  <Template/>
  <TotalTime>28741</TotalTime>
  <Words>4141</Words>
  <Application>Microsoft Office PowerPoint</Application>
  <PresentationFormat>Widescreen</PresentationFormat>
  <Paragraphs>701</Paragraphs>
  <Slides>27</Slides>
  <Notes>27</Notes>
  <HiddenSlides>0</HiddenSlides>
  <MMClips>0</MMClips>
  <ScaleCrop>false</ScaleCrop>
  <HeadingPairs>
    <vt:vector size="4" baseType="variant">
      <vt:variant>
        <vt:lpstr>Theme</vt:lpstr>
      </vt:variant>
      <vt:variant>
        <vt:i4>1</vt:i4>
      </vt:variant>
      <vt:variant>
        <vt:lpstr>Slide Titles</vt:lpstr>
      </vt:variant>
      <vt:variant>
        <vt:i4>27</vt:i4>
      </vt:variant>
    </vt:vector>
  </HeadingPairs>
  <TitlesOfParts>
    <vt:vector size="28" baseType="lpstr">
      <vt:lpstr>Office Theme</vt:lpstr>
      <vt:lpstr>IFM Hub and Smart FM –  Asset Integration</vt:lpstr>
      <vt:lpstr>Agenda    </vt:lpstr>
      <vt:lpstr>Mapping Approaches for Clients – State Farm, Hartford, Fifth Third Bank (UAT)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Mapping Approaches for Client – Alaska  Airlines (Prod)    </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Chellappan, Shyam @ Global D&amp;T Contractor</dc:creator>
  <cp:lastModifiedBy>Chellappan, Shyam @ Global D&amp;T Contractor</cp:lastModifiedBy>
  <cp:revision>85</cp:revision>
  <dcterms:created xsi:type="dcterms:W3CDTF">2025-01-17T06:17:31Z</dcterms:created>
  <dcterms:modified xsi:type="dcterms:W3CDTF">2025-12-16T12:49:35Z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0x010100A508CFF6891A394D95387DC211DA097C</vt:lpwstr>
  </property>
  <property fmtid="{D5CDD505-2E9C-101B-9397-08002B2CF9AE}" pid="3" name="MediaServiceImageTags">
    <vt:lpwstr/>
  </property>
</Properties>
</file>